
<file path=[Content_Types].xml><?xml version="1.0" encoding="utf-8"?>
<Types xmlns="http://schemas.openxmlformats.org/package/2006/content-types">
  <Default Extension="fntdata" ContentType="application/x-fontdata"/>
  <Default Extension="jfif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  <p:sldMasterId id="2147483660" r:id="rId2"/>
  </p:sldMasterIdLst>
  <p:notesMasterIdLst>
    <p:notesMasterId r:id="rId61"/>
  </p:notesMasterIdLst>
  <p:sldIdLst>
    <p:sldId id="457" r:id="rId3"/>
    <p:sldId id="459" r:id="rId4"/>
    <p:sldId id="261" r:id="rId5"/>
    <p:sldId id="264" r:id="rId6"/>
    <p:sldId id="455" r:id="rId7"/>
    <p:sldId id="456" r:id="rId8"/>
    <p:sldId id="462" r:id="rId9"/>
    <p:sldId id="463" r:id="rId10"/>
    <p:sldId id="464" r:id="rId11"/>
    <p:sldId id="465" r:id="rId12"/>
    <p:sldId id="466" r:id="rId13"/>
    <p:sldId id="467" r:id="rId14"/>
    <p:sldId id="468" r:id="rId15"/>
    <p:sldId id="469" r:id="rId16"/>
    <p:sldId id="470" r:id="rId17"/>
    <p:sldId id="471" r:id="rId18"/>
    <p:sldId id="472" r:id="rId19"/>
    <p:sldId id="439" r:id="rId20"/>
    <p:sldId id="460" r:id="rId21"/>
    <p:sldId id="461" r:id="rId22"/>
    <p:sldId id="499" r:id="rId23"/>
    <p:sldId id="473" r:id="rId24"/>
    <p:sldId id="443" r:id="rId25"/>
    <p:sldId id="441" r:id="rId26"/>
    <p:sldId id="500" r:id="rId27"/>
    <p:sldId id="442" r:id="rId28"/>
    <p:sldId id="447" r:id="rId29"/>
    <p:sldId id="448" r:id="rId30"/>
    <p:sldId id="449" r:id="rId31"/>
    <p:sldId id="450" r:id="rId32"/>
    <p:sldId id="501" r:id="rId33"/>
    <p:sldId id="430" r:id="rId34"/>
    <p:sldId id="480" r:id="rId35"/>
    <p:sldId id="482" r:id="rId36"/>
    <p:sldId id="483" r:id="rId37"/>
    <p:sldId id="484" r:id="rId38"/>
    <p:sldId id="485" r:id="rId39"/>
    <p:sldId id="486" r:id="rId40"/>
    <p:sldId id="487" r:id="rId41"/>
    <p:sldId id="488" r:id="rId42"/>
    <p:sldId id="489" r:id="rId43"/>
    <p:sldId id="490" r:id="rId44"/>
    <p:sldId id="491" r:id="rId45"/>
    <p:sldId id="492" r:id="rId46"/>
    <p:sldId id="493" r:id="rId47"/>
    <p:sldId id="496" r:id="rId48"/>
    <p:sldId id="497" r:id="rId49"/>
    <p:sldId id="495" r:id="rId50"/>
    <p:sldId id="502" r:id="rId51"/>
    <p:sldId id="503" r:id="rId52"/>
    <p:sldId id="431" r:id="rId53"/>
    <p:sldId id="435" r:id="rId54"/>
    <p:sldId id="432" r:id="rId55"/>
    <p:sldId id="436" r:id="rId56"/>
    <p:sldId id="433" r:id="rId57"/>
    <p:sldId id="437" r:id="rId58"/>
    <p:sldId id="427" r:id="rId59"/>
    <p:sldId id="347" r:id="rId60"/>
  </p:sldIdLst>
  <p:sldSz cx="12192000" cy="6858000"/>
  <p:notesSz cx="6858000" cy="9144000"/>
  <p:embeddedFontLst>
    <p:embeddedFont>
      <p:font typeface="B Titr" panose="00000700000000000000" pitchFamily="2" charset="-78"/>
      <p:bold r:id="rId62"/>
    </p:embeddedFont>
    <p:embeddedFont>
      <p:font typeface="Cambria Math" panose="02040503050406030204" pitchFamily="18" charset="0"/>
      <p:regular r:id="rId63"/>
    </p:embeddedFont>
    <p:embeddedFont>
      <p:font typeface="Estedad Black" panose="020B0604020202020204" charset="-78"/>
      <p:bold r:id="rId64"/>
    </p:embeddedFont>
    <p:embeddedFont>
      <p:font typeface="S Besmellah 1" panose="020B0604020202020204" charset="0"/>
      <p:regular r:id="rId65"/>
    </p:embeddedFont>
    <p:embeddedFont>
      <p:font typeface="Samim FD" panose="020B0603030804020204" charset="0"/>
      <p:regular r:id="rId66"/>
      <p:bold r:id="rId67"/>
    </p:embeddedFont>
    <p:embeddedFont>
      <p:font typeface="Shabnam" panose="020B0604020202020204" charset="-78"/>
      <p:regular r:id="rId68"/>
      <p:bold r:id="rId69"/>
    </p:embeddedFont>
    <p:embeddedFont>
      <p:font typeface="Vazir FD" pitchFamily="2" charset="-78"/>
      <p:regular r:id="rId70"/>
      <p:bold r:id="rId71"/>
    </p:embeddedFont>
    <p:embeddedFont>
      <p:font typeface="Vazir Light FD" pitchFamily="2" charset="-78"/>
      <p:regular r:id="rId72"/>
    </p:embeddedFont>
  </p:embeddedFontLst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lus" initials="P" lastIdx="1" clrIdx="0">
    <p:extLst>
      <p:ext uri="{19B8F6BF-5375-455C-9EA6-DF929625EA0E}">
        <p15:presenceInfo xmlns:p15="http://schemas.microsoft.com/office/powerpoint/2012/main" userId="Plus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60A500"/>
    <a:srgbClr val="FFD966"/>
    <a:srgbClr val="807AF2"/>
    <a:srgbClr val="388600"/>
    <a:srgbClr val="262344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4660"/>
  </p:normalViewPr>
  <p:slideViewPr>
    <p:cSldViewPr snapToGrid="0">
      <p:cViewPr varScale="1">
        <p:scale>
          <a:sx n="69" d="100"/>
          <a:sy n="69" d="100"/>
        </p:scale>
        <p:origin x="93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2.fntdata"/><Relationship Id="rId68" Type="http://schemas.openxmlformats.org/officeDocument/2006/relationships/font" Target="fonts/font7.fntdata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font" Target="fonts/font5.fntdata"/><Relationship Id="rId74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3.fntdata"/><Relationship Id="rId69" Type="http://schemas.openxmlformats.org/officeDocument/2006/relationships/font" Target="fonts/font8.fntdata"/><Relationship Id="rId77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font" Target="fonts/font11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font" Target="fonts/font6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1.fntdata"/><Relationship Id="rId70" Type="http://schemas.openxmlformats.org/officeDocument/2006/relationships/font" Target="fonts/font9.fntdata"/><Relationship Id="rId75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font" Target="fonts/font4.fntdata"/><Relationship Id="rId73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theme" Target="theme/theme1.xml"/><Relationship Id="rId7" Type="http://schemas.openxmlformats.org/officeDocument/2006/relationships/slide" Target="slides/slide5.xml"/><Relationship Id="rId71" Type="http://schemas.openxmlformats.org/officeDocument/2006/relationships/font" Target="fonts/font10.fntdata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491A606E-C30F-41E2-A6FE-2CBDA183F18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24C98080-FADA-4EED-8236-4142F46010A9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642625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782062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5199A7-4D7F-48FC-B9CB-D78A4D4F32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168BE1-FDAA-4A2C-B64A-91538170FB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B826DD-AB57-42A7-80F4-00A9E72D8D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739906-FCA0-4361-836A-FCAA57C1B7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CF5C0A-C251-49BB-90AC-62A38F352C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0189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5B9BD-7E96-4FA4-8EE4-E963611288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00133-91FC-4F5C-8FE5-F904BFDC3A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2D5044-41B5-4690-A94C-F1A3BBBB6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B23B3-9258-496D-A8CC-0E64C74AD0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330858-70BF-4859-870B-699D3867F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12713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A2BC-E1D5-40C0-BE08-06088BD75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6EFBC4-8998-4D04-8008-66934A50D5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F809E0-0C06-4E66-8735-6738152388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C8590B-57D3-4969-B932-2751A10966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23E59F-AE73-4EBC-AB02-0B40AD409F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4096267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3736B-5D3C-4F9F-9801-562E1C58C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265525-EF91-401B-A114-A1B512E9F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D15F1-369A-4866-A710-256D923A92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A1D201-8E0F-4181-AC20-EA4E87552E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0AF6EA-75BF-4855-9689-883D484A7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A67942E-3DE9-4FEC-9DEF-79B42CA743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707053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27C2B-7067-4ACB-8C1B-E2FC7F493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F654A0-C004-4E92-8107-0D26940935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79522B5-D356-4BAD-8EF2-8C580B65B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7F680A6-86CB-46D9-9ED5-38A9908982E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0A975D-99B0-4E9E-8382-705EE9DB272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0908A8-7A81-4CD0-9FA3-267F481969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136155-98AC-44DD-8672-3667D2CBB4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9D19F12-6834-45F4-A98A-BD7383F5E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682747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F70B1-87CD-4FA7-B162-32FC47167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12D66C-C5AE-455D-AE60-0BEBE14B4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2E0E86E-7F7D-4342-9C3F-DB8FB2ACA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CCEA41-2F25-43B4-9E36-581564173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8496654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C6C159-70F4-47A6-AD2E-429940B06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F85042-09BF-48FF-A15B-56FD7E86D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7902A0-3A6B-4511-9D9B-165F63275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26081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88526B-968D-45DD-B170-9388ADAA6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BD6463-BC8F-4F5E-84D1-9898C4AEE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6D5448-5688-44FC-91B4-68FDC9847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B6CCB0-4512-4416-9143-963C62DAB9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2B1292-9426-4848-B38D-2F6CF26BB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DAC500-F225-4ED6-807D-589A3B39C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864072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56CFB1-963D-4534-B189-2022479CB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47FB949-A1A3-4D1F-96C2-B5094650C48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EDE676-A637-4D00-B576-CFE2D366D9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CD3186-342D-4E34-BB34-774DE602F2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828BB6-FD34-41A3-BC30-93B824CAB1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51DF70-A674-45C4-BF1D-E4D59BEF58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1615594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86A65E-94E1-4F87-ABD6-B8BF51E57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48DF7F-D0E8-47C4-A4EC-EE443B0BE17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2C7293-9600-4868-A087-911DF2BE90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55D2F5-AE12-4337-8792-60EB051EE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028D1-08E9-4AE8-9D2A-D81B3B9A4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226083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C12BB4-6CB8-45B7-92B4-E81494690B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AE9093-558F-4F40-A699-B8844AD1BF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271B48-8C67-4665-BC28-2B52C9DCE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0232C-51A3-486D-9FBF-30739B5590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BDC378-AEAB-4DE9-BFA5-E694F38A4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128396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5C883DD3-C08B-4D98-ACCC-231C74BA361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597318" y="0"/>
            <a:ext cx="4586510" cy="6858000"/>
          </a:xfrm>
          <a:custGeom>
            <a:avLst/>
            <a:gdLst>
              <a:gd name="connsiteX0" fmla="*/ 0 w 4586510"/>
              <a:gd name="connsiteY0" fmla="*/ 0 h 6858000"/>
              <a:gd name="connsiteX1" fmla="*/ 4586510 w 4586510"/>
              <a:gd name="connsiteY1" fmla="*/ 0 h 6858000"/>
              <a:gd name="connsiteX2" fmla="*/ 4586510 w 4586510"/>
              <a:gd name="connsiteY2" fmla="*/ 6858000 h 6858000"/>
              <a:gd name="connsiteX3" fmla="*/ 0 w 458651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86510" h="6858000">
                <a:moveTo>
                  <a:pt x="0" y="0"/>
                </a:moveTo>
                <a:lnTo>
                  <a:pt x="4586510" y="0"/>
                </a:lnTo>
                <a:lnTo>
                  <a:pt x="4586510" y="6858000"/>
                </a:lnTo>
                <a:lnTo>
                  <a:pt x="0" y="6858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196105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s1">
            <a:extLst>
              <a:ext uri="{FF2B5EF4-FFF2-40B4-BE49-F238E27FC236}">
                <a16:creationId xmlns:a16="http://schemas.microsoft.com/office/drawing/2014/main" id="{3B76CE52-52C9-4CFF-B234-F2FC8ADC6A2F}"/>
              </a:ext>
            </a:extLst>
          </p:cNvPr>
          <p:cNvSpPr/>
          <p:nvPr userDrawn="1"/>
        </p:nvSpPr>
        <p:spPr>
          <a:xfrm flipH="1">
            <a:off x="492000" y="1178174"/>
            <a:ext cx="11184185" cy="5099534"/>
          </a:xfrm>
          <a:prstGeom prst="round1Rect">
            <a:avLst>
              <a:gd name="adj" fmla="val 3126"/>
            </a:avLst>
          </a:prstGeom>
          <a:solidFill>
            <a:srgbClr val="2D324F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D402CAEF-FDDA-4C1E-A4D9-30A248FA355F}"/>
              </a:ext>
            </a:extLst>
          </p:cNvPr>
          <p:cNvCxnSpPr>
            <a:cxnSpLocks/>
          </p:cNvCxnSpPr>
          <p:nvPr userDrawn="1"/>
        </p:nvCxnSpPr>
        <p:spPr>
          <a:xfrm>
            <a:off x="2982499" y="3727944"/>
            <a:ext cx="5941460" cy="0"/>
          </a:xfrm>
          <a:prstGeom prst="line">
            <a:avLst/>
          </a:prstGeom>
          <a:ln>
            <a:solidFill>
              <a:srgbClr val="F8B07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01">
            <a:extLst>
              <a:ext uri="{FF2B5EF4-FFF2-40B4-BE49-F238E27FC236}">
                <a16:creationId xmlns:a16="http://schemas.microsoft.com/office/drawing/2014/main" id="{253CF301-7605-497E-B714-457084ECE266}"/>
              </a:ext>
            </a:extLst>
          </p:cNvPr>
          <p:cNvGrpSpPr/>
          <p:nvPr userDrawn="1"/>
        </p:nvGrpSpPr>
        <p:grpSpPr>
          <a:xfrm flipH="1">
            <a:off x="4206077" y="532345"/>
            <a:ext cx="3740955" cy="856920"/>
            <a:chOff x="3144711" y="1981768"/>
            <a:chExt cx="1189164" cy="340748"/>
          </a:xfrm>
        </p:grpSpPr>
        <p:sp>
          <p:nvSpPr>
            <p:cNvPr id="9" name="b1">
              <a:extLst>
                <a:ext uri="{FF2B5EF4-FFF2-40B4-BE49-F238E27FC236}">
                  <a16:creationId xmlns:a16="http://schemas.microsoft.com/office/drawing/2014/main" id="{C08A2687-0676-42A3-A2C2-6BC1F9237FE3}"/>
                </a:ext>
              </a:extLst>
            </p:cNvPr>
            <p:cNvSpPr/>
            <p:nvPr/>
          </p:nvSpPr>
          <p:spPr>
            <a:xfrm flipV="1">
              <a:off x="3198686" y="2129401"/>
              <a:ext cx="1135189" cy="193115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chemeClr val="bg2">
                <a:lumMod val="1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  <p:sp>
          <p:nvSpPr>
            <p:cNvPr id="10" name="a1">
              <a:extLst>
                <a:ext uri="{FF2B5EF4-FFF2-40B4-BE49-F238E27FC236}">
                  <a16:creationId xmlns:a16="http://schemas.microsoft.com/office/drawing/2014/main" id="{CA970073-2E58-46DE-BE7C-6B75810131C2}"/>
                </a:ext>
              </a:extLst>
            </p:cNvPr>
            <p:cNvSpPr/>
            <p:nvPr/>
          </p:nvSpPr>
          <p:spPr>
            <a:xfrm>
              <a:off x="3144711" y="1981768"/>
              <a:ext cx="1135189" cy="295267"/>
            </a:xfrm>
            <a:custGeom>
              <a:avLst/>
              <a:gdLst>
                <a:gd name="connsiteX0" fmla="*/ 0 w 1713039"/>
                <a:gd name="connsiteY0" fmla="*/ 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0 w 1713039"/>
                <a:gd name="connsiteY4" fmla="*/ 0 h 434407"/>
                <a:gd name="connsiteX0" fmla="*/ 127000 w 1713039"/>
                <a:gd name="connsiteY0" fmla="*/ 57150 h 434407"/>
                <a:gd name="connsiteX1" fmla="*/ 1713039 w 1713039"/>
                <a:gd name="connsiteY1" fmla="*/ 0 h 434407"/>
                <a:gd name="connsiteX2" fmla="*/ 1713039 w 1713039"/>
                <a:gd name="connsiteY2" fmla="*/ 434407 h 434407"/>
                <a:gd name="connsiteX3" fmla="*/ 0 w 1713039"/>
                <a:gd name="connsiteY3" fmla="*/ 434407 h 434407"/>
                <a:gd name="connsiteX4" fmla="*/ 127000 w 1713039"/>
                <a:gd name="connsiteY4" fmla="*/ 57150 h 434407"/>
                <a:gd name="connsiteX0" fmla="*/ 127000 w 1865439"/>
                <a:gd name="connsiteY0" fmla="*/ 57150 h 485207"/>
                <a:gd name="connsiteX1" fmla="*/ 1713039 w 1865439"/>
                <a:gd name="connsiteY1" fmla="*/ 0 h 485207"/>
                <a:gd name="connsiteX2" fmla="*/ 1865439 w 1865439"/>
                <a:gd name="connsiteY2" fmla="*/ 485207 h 485207"/>
                <a:gd name="connsiteX3" fmla="*/ 0 w 1865439"/>
                <a:gd name="connsiteY3" fmla="*/ 434407 h 485207"/>
                <a:gd name="connsiteX4" fmla="*/ 127000 w 1865439"/>
                <a:gd name="connsiteY4" fmla="*/ 57150 h 4852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65439" h="485207">
                  <a:moveTo>
                    <a:pt x="127000" y="57150"/>
                  </a:moveTo>
                  <a:lnTo>
                    <a:pt x="1713039" y="0"/>
                  </a:lnTo>
                  <a:lnTo>
                    <a:pt x="1865439" y="485207"/>
                  </a:lnTo>
                  <a:lnTo>
                    <a:pt x="0" y="434407"/>
                  </a:lnTo>
                  <a:lnTo>
                    <a:pt x="127000" y="57150"/>
                  </a:lnTo>
                  <a:close/>
                </a:path>
              </a:pathLst>
            </a:custGeom>
            <a:solidFill>
              <a:srgbClr val="F8B07E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en-US" altLang="ko-KR" sz="3200" b="1" dirty="0">
                <a:solidFill>
                  <a:srgbClr val="2D324F"/>
                </a:solidFill>
                <a:latin typeface="Shabnam" panose="020B0603030804020204" pitchFamily="34" charset="-78"/>
                <a:cs typeface="Shabnam" panose="020B0603030804020204" pitchFamily="34" charset="-7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66461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73EC0069-F6A9-4221-9D69-0ECA24CCEA46}"/>
              </a:ext>
            </a:extLst>
          </p:cNvPr>
          <p:cNvSpPr/>
          <p:nvPr userDrawn="1"/>
        </p:nvSpPr>
        <p:spPr>
          <a:xfrm flipH="1">
            <a:off x="1354014" y="1266091"/>
            <a:ext cx="10837983" cy="5591907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1">
            <a:extLst>
              <a:ext uri="{FF2B5EF4-FFF2-40B4-BE49-F238E27FC236}">
                <a16:creationId xmlns:a16="http://schemas.microsoft.com/office/drawing/2014/main" id="{D2E68052-E0F8-478D-9713-BBF9F246F8EA}"/>
              </a:ext>
            </a:extLst>
          </p:cNvPr>
          <p:cNvCxnSpPr>
            <a:cxnSpLocks/>
          </p:cNvCxnSpPr>
          <p:nvPr userDrawn="1"/>
        </p:nvCxnSpPr>
        <p:spPr>
          <a:xfrm>
            <a:off x="2198077" y="650637"/>
            <a:ext cx="999392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line2">
            <a:extLst>
              <a:ext uri="{FF2B5EF4-FFF2-40B4-BE49-F238E27FC236}">
                <a16:creationId xmlns:a16="http://schemas.microsoft.com/office/drawing/2014/main" id="{0A868491-916A-4816-92E0-84102E89A491}"/>
              </a:ext>
            </a:extLst>
          </p:cNvPr>
          <p:cNvCxnSpPr>
            <a:cxnSpLocks/>
          </p:cNvCxnSpPr>
          <p:nvPr userDrawn="1"/>
        </p:nvCxnSpPr>
        <p:spPr>
          <a:xfrm flipV="1">
            <a:off x="633046" y="1969477"/>
            <a:ext cx="0" cy="4888521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2663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749316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8CEAC3E-47C4-452A-8FE0-E63EBACE985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96881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76D58A9E-DE60-4E58-A2AA-44446362071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585" y="1975355"/>
            <a:ext cx="3247711" cy="2304488"/>
          </a:xfrm>
          <a:custGeom>
            <a:avLst/>
            <a:gdLst>
              <a:gd name="connsiteX0" fmla="*/ 0 w 3247711"/>
              <a:gd name="connsiteY0" fmla="*/ 0 h 2304488"/>
              <a:gd name="connsiteX1" fmla="*/ 3247711 w 3247711"/>
              <a:gd name="connsiteY1" fmla="*/ 0 h 2304488"/>
              <a:gd name="connsiteX2" fmla="*/ 3247711 w 3247711"/>
              <a:gd name="connsiteY2" fmla="*/ 2304488 h 2304488"/>
              <a:gd name="connsiteX3" fmla="*/ 0 w 3247711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7711" h="2304488">
                <a:moveTo>
                  <a:pt x="0" y="0"/>
                </a:moveTo>
                <a:lnTo>
                  <a:pt x="3247711" y="0"/>
                </a:lnTo>
                <a:lnTo>
                  <a:pt x="3247711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DE113E2F-D1CD-43E4-A862-81072F42330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434809" y="1975355"/>
            <a:ext cx="3249450" cy="2304488"/>
          </a:xfrm>
          <a:custGeom>
            <a:avLst/>
            <a:gdLst>
              <a:gd name="connsiteX0" fmla="*/ 0 w 3249450"/>
              <a:gd name="connsiteY0" fmla="*/ 0 h 2304488"/>
              <a:gd name="connsiteX1" fmla="*/ 3249450 w 3249450"/>
              <a:gd name="connsiteY1" fmla="*/ 0 h 2304488"/>
              <a:gd name="connsiteX2" fmla="*/ 3249450 w 3249450"/>
              <a:gd name="connsiteY2" fmla="*/ 2304488 h 2304488"/>
              <a:gd name="connsiteX3" fmla="*/ 0 w 3249450"/>
              <a:gd name="connsiteY3" fmla="*/ 2304488 h 23044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49450" h="2304488">
                <a:moveTo>
                  <a:pt x="0" y="0"/>
                </a:moveTo>
                <a:lnTo>
                  <a:pt x="3249450" y="0"/>
                </a:lnTo>
                <a:lnTo>
                  <a:pt x="3249450" y="2304488"/>
                </a:lnTo>
                <a:lnTo>
                  <a:pt x="0" y="2304488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49880127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CF92FB8-2B69-4049-967A-788B3BBDF6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0230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C2487B2-50EE-4CE0-900C-D742E7536A8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518621" y="1474613"/>
            <a:ext cx="5203370" cy="3387325"/>
          </a:xfrm>
          <a:custGeom>
            <a:avLst/>
            <a:gdLst>
              <a:gd name="connsiteX0" fmla="*/ 0 w 5203370"/>
              <a:gd name="connsiteY0" fmla="*/ 0 h 3387325"/>
              <a:gd name="connsiteX1" fmla="*/ 5203370 w 5203370"/>
              <a:gd name="connsiteY1" fmla="*/ 0 h 3387325"/>
              <a:gd name="connsiteX2" fmla="*/ 5203370 w 5203370"/>
              <a:gd name="connsiteY2" fmla="*/ 3387325 h 3387325"/>
              <a:gd name="connsiteX3" fmla="*/ 0 w 5203370"/>
              <a:gd name="connsiteY3" fmla="*/ 3387325 h 3387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03370" h="3387325">
                <a:moveTo>
                  <a:pt x="0" y="0"/>
                </a:moveTo>
                <a:lnTo>
                  <a:pt x="5203370" y="0"/>
                </a:lnTo>
                <a:lnTo>
                  <a:pt x="5203370" y="3387325"/>
                </a:lnTo>
                <a:lnTo>
                  <a:pt x="0" y="3387325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254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24924819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2F4306F4-1404-465C-BEFA-F85B4C68887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7713" y="1356852"/>
            <a:ext cx="10719267" cy="4994037"/>
          </a:xfrm>
          <a:custGeom>
            <a:avLst/>
            <a:gdLst>
              <a:gd name="connsiteX0" fmla="*/ 0 w 10719267"/>
              <a:gd name="connsiteY0" fmla="*/ 0 h 4994037"/>
              <a:gd name="connsiteX1" fmla="*/ 10719267 w 10719267"/>
              <a:gd name="connsiteY1" fmla="*/ 0 h 4994037"/>
              <a:gd name="connsiteX2" fmla="*/ 10719267 w 10719267"/>
              <a:gd name="connsiteY2" fmla="*/ 4994037 h 4994037"/>
              <a:gd name="connsiteX3" fmla="*/ 0 w 10719267"/>
              <a:gd name="connsiteY3" fmla="*/ 4994037 h 49940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719267" h="4994037">
                <a:moveTo>
                  <a:pt x="0" y="0"/>
                </a:moveTo>
                <a:lnTo>
                  <a:pt x="10719267" y="0"/>
                </a:lnTo>
                <a:lnTo>
                  <a:pt x="10719267" y="4994037"/>
                </a:lnTo>
                <a:lnTo>
                  <a:pt x="0" y="4994037"/>
                </a:lnTo>
                <a:close/>
              </a:path>
            </a:pathLst>
          </a:custGeom>
          <a:solidFill>
            <a:srgbClr val="161F30"/>
          </a:solidFill>
          <a:ln>
            <a:noFill/>
          </a:ln>
          <a:effectLst>
            <a:outerShdw dist="63500" dir="21540000" algn="r" rotWithShape="0">
              <a:srgbClr val="F8B07E"/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3858336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1FE2F5B-1074-4CF4-8627-2FD54588CE0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123871" y="1913230"/>
            <a:ext cx="4633469" cy="3031541"/>
          </a:xfrm>
          <a:custGeom>
            <a:avLst/>
            <a:gdLst>
              <a:gd name="connsiteX0" fmla="*/ 306398 w 4633469"/>
              <a:gd name="connsiteY0" fmla="*/ 0 h 3031541"/>
              <a:gd name="connsiteX1" fmla="*/ 4327071 w 4633469"/>
              <a:gd name="connsiteY1" fmla="*/ 0 h 3031541"/>
              <a:gd name="connsiteX2" fmla="*/ 4633469 w 4633469"/>
              <a:gd name="connsiteY2" fmla="*/ 306398 h 3031541"/>
              <a:gd name="connsiteX3" fmla="*/ 4633469 w 4633469"/>
              <a:gd name="connsiteY3" fmla="*/ 2725143 h 3031541"/>
              <a:gd name="connsiteX4" fmla="*/ 4327071 w 4633469"/>
              <a:gd name="connsiteY4" fmla="*/ 3031541 h 3031541"/>
              <a:gd name="connsiteX5" fmla="*/ 306398 w 4633469"/>
              <a:gd name="connsiteY5" fmla="*/ 3031541 h 3031541"/>
              <a:gd name="connsiteX6" fmla="*/ 0 w 4633469"/>
              <a:gd name="connsiteY6" fmla="*/ 2725143 h 3031541"/>
              <a:gd name="connsiteX7" fmla="*/ 0 w 4633469"/>
              <a:gd name="connsiteY7" fmla="*/ 306398 h 3031541"/>
              <a:gd name="connsiteX8" fmla="*/ 306398 w 4633469"/>
              <a:gd name="connsiteY8" fmla="*/ 0 h 3031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33469" h="3031541">
                <a:moveTo>
                  <a:pt x="306398" y="0"/>
                </a:moveTo>
                <a:lnTo>
                  <a:pt x="4327071" y="0"/>
                </a:lnTo>
                <a:cubicBezTo>
                  <a:pt x="4496290" y="0"/>
                  <a:pt x="4633469" y="137179"/>
                  <a:pt x="4633469" y="306398"/>
                </a:cubicBezTo>
                <a:lnTo>
                  <a:pt x="4633469" y="2725143"/>
                </a:lnTo>
                <a:cubicBezTo>
                  <a:pt x="4633469" y="2894362"/>
                  <a:pt x="4496290" y="3031541"/>
                  <a:pt x="4327071" y="3031541"/>
                </a:cubicBezTo>
                <a:lnTo>
                  <a:pt x="306398" y="3031541"/>
                </a:lnTo>
                <a:cubicBezTo>
                  <a:pt x="137179" y="3031541"/>
                  <a:pt x="0" y="2894362"/>
                  <a:pt x="0" y="2725143"/>
                </a:cubicBezTo>
                <a:lnTo>
                  <a:pt x="0" y="306398"/>
                </a:lnTo>
                <a:cubicBezTo>
                  <a:pt x="0" y="137179"/>
                  <a:pt x="137179" y="0"/>
                  <a:pt x="306398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2CF3BE3C-8EDF-4EC2-B2A2-416C6486D8A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814457" y="1913230"/>
            <a:ext cx="4659332" cy="3031540"/>
          </a:xfrm>
          <a:custGeom>
            <a:avLst/>
            <a:gdLst>
              <a:gd name="connsiteX0" fmla="*/ 332014 w 4659332"/>
              <a:gd name="connsiteY0" fmla="*/ 0 h 3031540"/>
              <a:gd name="connsiteX1" fmla="*/ 4327318 w 4659332"/>
              <a:gd name="connsiteY1" fmla="*/ 0 h 3031540"/>
              <a:gd name="connsiteX2" fmla="*/ 4659332 w 4659332"/>
              <a:gd name="connsiteY2" fmla="*/ 332014 h 3031540"/>
              <a:gd name="connsiteX3" fmla="*/ 4659332 w 4659332"/>
              <a:gd name="connsiteY3" fmla="*/ 2699526 h 3031540"/>
              <a:gd name="connsiteX4" fmla="*/ 4327318 w 4659332"/>
              <a:gd name="connsiteY4" fmla="*/ 3031540 h 3031540"/>
              <a:gd name="connsiteX5" fmla="*/ 332014 w 4659332"/>
              <a:gd name="connsiteY5" fmla="*/ 3031540 h 3031540"/>
              <a:gd name="connsiteX6" fmla="*/ 0 w 4659332"/>
              <a:gd name="connsiteY6" fmla="*/ 2699526 h 3031540"/>
              <a:gd name="connsiteX7" fmla="*/ 0 w 4659332"/>
              <a:gd name="connsiteY7" fmla="*/ 332014 h 3031540"/>
              <a:gd name="connsiteX8" fmla="*/ 332014 w 4659332"/>
              <a:gd name="connsiteY8" fmla="*/ 0 h 30315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659332" h="3031540">
                <a:moveTo>
                  <a:pt x="332014" y="0"/>
                </a:moveTo>
                <a:lnTo>
                  <a:pt x="4327318" y="0"/>
                </a:lnTo>
                <a:cubicBezTo>
                  <a:pt x="4510684" y="0"/>
                  <a:pt x="4659332" y="148648"/>
                  <a:pt x="4659332" y="332014"/>
                </a:cubicBezTo>
                <a:lnTo>
                  <a:pt x="4659332" y="2699526"/>
                </a:lnTo>
                <a:cubicBezTo>
                  <a:pt x="4659332" y="2882892"/>
                  <a:pt x="4510684" y="3031540"/>
                  <a:pt x="4327318" y="3031540"/>
                </a:cubicBezTo>
                <a:lnTo>
                  <a:pt x="332014" y="3031540"/>
                </a:lnTo>
                <a:cubicBezTo>
                  <a:pt x="148648" y="3031540"/>
                  <a:pt x="0" y="2882892"/>
                  <a:pt x="0" y="2699526"/>
                </a:cubicBezTo>
                <a:lnTo>
                  <a:pt x="0" y="332014"/>
                </a:lnTo>
                <a:cubicBezTo>
                  <a:pt x="0" y="148648"/>
                  <a:pt x="148648" y="0"/>
                  <a:pt x="332014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5602162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ack">
            <a:extLst>
              <a:ext uri="{FF2B5EF4-FFF2-40B4-BE49-F238E27FC236}">
                <a16:creationId xmlns:a16="http://schemas.microsoft.com/office/drawing/2014/main" id="{32912E97-3975-4DBB-9946-64043BA8CD5D}"/>
              </a:ext>
            </a:extLst>
          </p:cNvPr>
          <p:cNvSpPr/>
          <p:nvPr userDrawn="1"/>
        </p:nvSpPr>
        <p:spPr>
          <a:xfrm flipH="1">
            <a:off x="246740" y="203200"/>
            <a:ext cx="11945260" cy="6654800"/>
          </a:xfrm>
          <a:prstGeom prst="round1Rect">
            <a:avLst>
              <a:gd name="adj" fmla="val 3126"/>
            </a:avLst>
          </a:prstGeom>
          <a:solidFill>
            <a:schemeClr val="tx1"/>
          </a:solidFill>
          <a:ln>
            <a:noFill/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80000" rtlCol="0" anchor="t"/>
          <a:lstStyle/>
          <a:p>
            <a:pPr marL="85725" algn="r" rtl="1">
              <a:defRPr/>
            </a:pPr>
            <a:endParaRPr lang="ko-KR" altLang="en-US" sz="1600" dirty="0">
              <a:solidFill>
                <a:schemeClr val="tx1">
                  <a:lumMod val="50000"/>
                  <a:lumOff val="50000"/>
                </a:schemeClr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cxnSp>
        <p:nvCxnSpPr>
          <p:cNvPr id="7" name="line">
            <a:extLst>
              <a:ext uri="{FF2B5EF4-FFF2-40B4-BE49-F238E27FC236}">
                <a16:creationId xmlns:a16="http://schemas.microsoft.com/office/drawing/2014/main" id="{B4A93269-14BD-445B-A1C1-75BF95867A62}"/>
              </a:ext>
            </a:extLst>
          </p:cNvPr>
          <p:cNvCxnSpPr>
            <a:cxnSpLocks/>
          </p:cNvCxnSpPr>
          <p:nvPr userDrawn="1"/>
        </p:nvCxnSpPr>
        <p:spPr>
          <a:xfrm>
            <a:off x="476925" y="815975"/>
            <a:ext cx="1170000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8D6283E4-E398-4892-9B61-BE0720C58920}"/>
              </a:ext>
            </a:extLst>
          </p:cNvPr>
          <p:cNvSpPr txBox="1"/>
          <p:nvPr userDrawn="1"/>
        </p:nvSpPr>
        <p:spPr>
          <a:xfrm>
            <a:off x="339657" y="337497"/>
            <a:ext cx="799533" cy="46166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algn="ctr"/>
            <a:fld id="{A538FF37-42ED-48AA-929B-5B2032FAB464}" type="slidenum">
              <a:rPr lang="fa-IR" sz="2400" smtClean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pPr algn="ctr"/>
              <a:t>‹#›</a:t>
            </a:fld>
            <a:endParaRPr lang="fa-IR" sz="2400" dirty="0">
              <a:solidFill>
                <a:schemeClr val="bg1"/>
              </a:solidFill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823DC4AF-6F77-41CF-9C0B-4C6BC1E9C52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03785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D1CE1C15-87BF-40C3-936C-F0C2D6A3F4D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3577648" y="1913230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773DA3A-2B64-47AF-8E85-31B4D79F57F4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451510" y="1913232"/>
            <a:ext cx="2458919" cy="2458919"/>
          </a:xfrm>
          <a:custGeom>
            <a:avLst/>
            <a:gdLst>
              <a:gd name="connsiteX0" fmla="*/ 248523 w 2458919"/>
              <a:gd name="connsiteY0" fmla="*/ 0 h 2458919"/>
              <a:gd name="connsiteX1" fmla="*/ 2210396 w 2458919"/>
              <a:gd name="connsiteY1" fmla="*/ 0 h 2458919"/>
              <a:gd name="connsiteX2" fmla="*/ 2458919 w 2458919"/>
              <a:gd name="connsiteY2" fmla="*/ 248523 h 2458919"/>
              <a:gd name="connsiteX3" fmla="*/ 2458919 w 2458919"/>
              <a:gd name="connsiteY3" fmla="*/ 2210396 h 2458919"/>
              <a:gd name="connsiteX4" fmla="*/ 2210396 w 2458919"/>
              <a:gd name="connsiteY4" fmla="*/ 2458919 h 2458919"/>
              <a:gd name="connsiteX5" fmla="*/ 248523 w 2458919"/>
              <a:gd name="connsiteY5" fmla="*/ 2458919 h 2458919"/>
              <a:gd name="connsiteX6" fmla="*/ 0 w 2458919"/>
              <a:gd name="connsiteY6" fmla="*/ 2210396 h 2458919"/>
              <a:gd name="connsiteX7" fmla="*/ 0 w 2458919"/>
              <a:gd name="connsiteY7" fmla="*/ 248523 h 2458919"/>
              <a:gd name="connsiteX8" fmla="*/ 248523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48523" y="0"/>
                </a:moveTo>
                <a:lnTo>
                  <a:pt x="2210396" y="0"/>
                </a:lnTo>
                <a:cubicBezTo>
                  <a:pt x="2347651" y="0"/>
                  <a:pt x="2458919" y="111268"/>
                  <a:pt x="2458919" y="248523"/>
                </a:cubicBezTo>
                <a:lnTo>
                  <a:pt x="2458919" y="2210396"/>
                </a:lnTo>
                <a:cubicBezTo>
                  <a:pt x="2458919" y="2347651"/>
                  <a:pt x="2347651" y="2458919"/>
                  <a:pt x="2210396" y="2458919"/>
                </a:cubicBezTo>
                <a:lnTo>
                  <a:pt x="248523" y="2458919"/>
                </a:lnTo>
                <a:cubicBezTo>
                  <a:pt x="111268" y="2458919"/>
                  <a:pt x="0" y="2347651"/>
                  <a:pt x="0" y="2210396"/>
                </a:cubicBezTo>
                <a:lnTo>
                  <a:pt x="0" y="248523"/>
                </a:lnTo>
                <a:cubicBezTo>
                  <a:pt x="0" y="111268"/>
                  <a:pt x="111268" y="0"/>
                  <a:pt x="248523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6EBEAE96-EE4D-42D4-B2DC-A568ACB3E21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25371" y="1913231"/>
            <a:ext cx="2458919" cy="2458919"/>
          </a:xfrm>
          <a:custGeom>
            <a:avLst/>
            <a:gdLst>
              <a:gd name="connsiteX0" fmla="*/ 269301 w 2458919"/>
              <a:gd name="connsiteY0" fmla="*/ 0 h 2458919"/>
              <a:gd name="connsiteX1" fmla="*/ 2189618 w 2458919"/>
              <a:gd name="connsiteY1" fmla="*/ 0 h 2458919"/>
              <a:gd name="connsiteX2" fmla="*/ 2458919 w 2458919"/>
              <a:gd name="connsiteY2" fmla="*/ 269301 h 2458919"/>
              <a:gd name="connsiteX3" fmla="*/ 2458919 w 2458919"/>
              <a:gd name="connsiteY3" fmla="*/ 2189618 h 2458919"/>
              <a:gd name="connsiteX4" fmla="*/ 2189618 w 2458919"/>
              <a:gd name="connsiteY4" fmla="*/ 2458919 h 2458919"/>
              <a:gd name="connsiteX5" fmla="*/ 269301 w 2458919"/>
              <a:gd name="connsiteY5" fmla="*/ 2458919 h 2458919"/>
              <a:gd name="connsiteX6" fmla="*/ 0 w 2458919"/>
              <a:gd name="connsiteY6" fmla="*/ 2189618 h 2458919"/>
              <a:gd name="connsiteX7" fmla="*/ 0 w 2458919"/>
              <a:gd name="connsiteY7" fmla="*/ 269301 h 2458919"/>
              <a:gd name="connsiteX8" fmla="*/ 269301 w 2458919"/>
              <a:gd name="connsiteY8" fmla="*/ 0 h 2458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458919" h="2458919">
                <a:moveTo>
                  <a:pt x="269301" y="0"/>
                </a:moveTo>
                <a:lnTo>
                  <a:pt x="2189618" y="0"/>
                </a:lnTo>
                <a:cubicBezTo>
                  <a:pt x="2338349" y="0"/>
                  <a:pt x="2458919" y="120570"/>
                  <a:pt x="2458919" y="269301"/>
                </a:cubicBezTo>
                <a:lnTo>
                  <a:pt x="2458919" y="2189618"/>
                </a:lnTo>
                <a:cubicBezTo>
                  <a:pt x="2458919" y="2338349"/>
                  <a:pt x="2338349" y="2458919"/>
                  <a:pt x="2189618" y="2458919"/>
                </a:cubicBezTo>
                <a:lnTo>
                  <a:pt x="269301" y="2458919"/>
                </a:lnTo>
                <a:cubicBezTo>
                  <a:pt x="120570" y="2458919"/>
                  <a:pt x="0" y="2338349"/>
                  <a:pt x="0" y="2189618"/>
                </a:cubicBezTo>
                <a:lnTo>
                  <a:pt x="0" y="269301"/>
                </a:lnTo>
                <a:cubicBezTo>
                  <a:pt x="0" y="120570"/>
                  <a:pt x="120570" y="0"/>
                  <a:pt x="269301" y="0"/>
                </a:cubicBezTo>
                <a:close/>
              </a:path>
            </a:pathLst>
          </a:custGeom>
          <a:ln w="28575">
            <a:solidFill>
              <a:schemeClr val="accent1"/>
            </a:solidFill>
          </a:ln>
          <a:effectLst>
            <a:outerShdw blurRad="88900" algn="ctr" rotWithShape="0">
              <a:prstClr val="black">
                <a:alpha val="40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200000"/>
              </a:lnSpc>
              <a:buNone/>
              <a:defRPr>
                <a:solidFill>
                  <a:schemeClr val="bg1">
                    <a:alpha val="67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r>
              <a:rPr lang="fa-IR" dirty="0"/>
              <a:t>تصویر </a:t>
            </a:r>
          </a:p>
        </p:txBody>
      </p:sp>
    </p:spTree>
    <p:extLst>
      <p:ext uri="{BB962C8B-B14F-4D97-AF65-F5344CB8AC3E}">
        <p14:creationId xmlns:p14="http://schemas.microsoft.com/office/powerpoint/2010/main" val="237017783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9296133F-71AB-407B-AB0F-2A73FAEDA33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7465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9CAC5BC1-0579-4FF8-8EE0-5843560A8F28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84114" y="1364239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2333AEC7-D52B-41BF-B9DB-E6F962BF596A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74653" y="4022774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9171A25B-5587-4484-906D-F8D7B7C86B1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684114" y="4022773"/>
            <a:ext cx="2029967" cy="2064761"/>
          </a:xfrm>
          <a:custGeom>
            <a:avLst/>
            <a:gdLst>
              <a:gd name="connsiteX0" fmla="*/ 105863 w 2029967"/>
              <a:gd name="connsiteY0" fmla="*/ 0 h 2064761"/>
              <a:gd name="connsiteX1" fmla="*/ 1924104 w 2029967"/>
              <a:gd name="connsiteY1" fmla="*/ 0 h 2064761"/>
              <a:gd name="connsiteX2" fmla="*/ 2029967 w 2029967"/>
              <a:gd name="connsiteY2" fmla="*/ 105863 h 2064761"/>
              <a:gd name="connsiteX3" fmla="*/ 2029967 w 2029967"/>
              <a:gd name="connsiteY3" fmla="*/ 1958898 h 2064761"/>
              <a:gd name="connsiteX4" fmla="*/ 1924104 w 2029967"/>
              <a:gd name="connsiteY4" fmla="*/ 2064761 h 2064761"/>
              <a:gd name="connsiteX5" fmla="*/ 105863 w 2029967"/>
              <a:gd name="connsiteY5" fmla="*/ 2064761 h 2064761"/>
              <a:gd name="connsiteX6" fmla="*/ 0 w 2029967"/>
              <a:gd name="connsiteY6" fmla="*/ 1958898 h 2064761"/>
              <a:gd name="connsiteX7" fmla="*/ 0 w 2029967"/>
              <a:gd name="connsiteY7" fmla="*/ 105863 h 2064761"/>
              <a:gd name="connsiteX8" fmla="*/ 105863 w 2029967"/>
              <a:gd name="connsiteY8" fmla="*/ 0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029967" h="2064761">
                <a:moveTo>
                  <a:pt x="105863" y="0"/>
                </a:moveTo>
                <a:lnTo>
                  <a:pt x="1924104" y="0"/>
                </a:lnTo>
                <a:cubicBezTo>
                  <a:pt x="1982571" y="0"/>
                  <a:pt x="2029967" y="47396"/>
                  <a:pt x="2029967" y="105863"/>
                </a:cubicBezTo>
                <a:lnTo>
                  <a:pt x="2029967" y="1958898"/>
                </a:lnTo>
                <a:cubicBezTo>
                  <a:pt x="2029967" y="2017365"/>
                  <a:pt x="1982571" y="2064761"/>
                  <a:pt x="1924104" y="2064761"/>
                </a:cubicBezTo>
                <a:lnTo>
                  <a:pt x="105863" y="2064761"/>
                </a:lnTo>
                <a:cubicBezTo>
                  <a:pt x="47396" y="2064761"/>
                  <a:pt x="0" y="2017365"/>
                  <a:pt x="0" y="1958898"/>
                </a:cubicBezTo>
                <a:lnTo>
                  <a:pt x="0" y="105863"/>
                </a:lnTo>
                <a:cubicBezTo>
                  <a:pt x="0" y="47396"/>
                  <a:pt x="47396" y="0"/>
                  <a:pt x="105863" y="0"/>
                </a:cubicBezTo>
                <a:close/>
              </a:path>
            </a:pathLst>
          </a:custGeom>
          <a:solidFill>
            <a:schemeClr val="tx1">
              <a:alpha val="44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116000478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28E386A7-08BE-497E-AEB6-7E82207CE1E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6487" y="1825863"/>
            <a:ext cx="3779026" cy="3779026"/>
          </a:xfrm>
          <a:custGeom>
            <a:avLst/>
            <a:gdLst>
              <a:gd name="connsiteX0" fmla="*/ 197076 w 3779026"/>
              <a:gd name="connsiteY0" fmla="*/ 0 h 3779026"/>
              <a:gd name="connsiteX1" fmla="*/ 3581950 w 3779026"/>
              <a:gd name="connsiteY1" fmla="*/ 0 h 3779026"/>
              <a:gd name="connsiteX2" fmla="*/ 3779026 w 3779026"/>
              <a:gd name="connsiteY2" fmla="*/ 197076 h 3779026"/>
              <a:gd name="connsiteX3" fmla="*/ 3779026 w 3779026"/>
              <a:gd name="connsiteY3" fmla="*/ 3581950 h 3779026"/>
              <a:gd name="connsiteX4" fmla="*/ 3581950 w 3779026"/>
              <a:gd name="connsiteY4" fmla="*/ 3779026 h 3779026"/>
              <a:gd name="connsiteX5" fmla="*/ 197076 w 3779026"/>
              <a:gd name="connsiteY5" fmla="*/ 3779026 h 3779026"/>
              <a:gd name="connsiteX6" fmla="*/ 0 w 3779026"/>
              <a:gd name="connsiteY6" fmla="*/ 3581950 h 3779026"/>
              <a:gd name="connsiteX7" fmla="*/ 0 w 3779026"/>
              <a:gd name="connsiteY7" fmla="*/ 197076 h 3779026"/>
              <a:gd name="connsiteX8" fmla="*/ 197076 w 3779026"/>
              <a:gd name="connsiteY8" fmla="*/ 0 h 37790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779026" h="3779026">
                <a:moveTo>
                  <a:pt x="197076" y="0"/>
                </a:moveTo>
                <a:lnTo>
                  <a:pt x="3581950" y="0"/>
                </a:lnTo>
                <a:cubicBezTo>
                  <a:pt x="3690792" y="0"/>
                  <a:pt x="3779026" y="88234"/>
                  <a:pt x="3779026" y="197076"/>
                </a:cubicBezTo>
                <a:lnTo>
                  <a:pt x="3779026" y="3581950"/>
                </a:lnTo>
                <a:cubicBezTo>
                  <a:pt x="3779026" y="3690792"/>
                  <a:pt x="3690792" y="3779026"/>
                  <a:pt x="3581950" y="3779026"/>
                </a:cubicBezTo>
                <a:lnTo>
                  <a:pt x="197076" y="3779026"/>
                </a:lnTo>
                <a:cubicBezTo>
                  <a:pt x="88234" y="3779026"/>
                  <a:pt x="0" y="3690792"/>
                  <a:pt x="0" y="3581950"/>
                </a:cubicBezTo>
                <a:lnTo>
                  <a:pt x="0" y="197076"/>
                </a:lnTo>
                <a:cubicBezTo>
                  <a:pt x="0" y="88234"/>
                  <a:pt x="88234" y="0"/>
                  <a:pt x="197076" y="0"/>
                </a:cubicBezTo>
                <a:close/>
              </a:path>
            </a:pathLst>
          </a:custGeom>
          <a:solidFill>
            <a:schemeClr val="tx1"/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1644249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1">
            <a:extLst>
              <a:ext uri="{FF2B5EF4-FFF2-40B4-BE49-F238E27FC236}">
                <a16:creationId xmlns:a16="http://schemas.microsoft.com/office/drawing/2014/main" id="{8BCDBFE2-4166-4A65-B72F-1E8FE25ACBE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516827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 dirty="0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870EFE7B-2921-4885-A225-A63594A1DA46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8842191" y="1325769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/>
          <a:p>
            <a:endParaRPr lang="fa-IR"/>
          </a:p>
        </p:txBody>
      </p:sp>
      <p:sp>
        <p:nvSpPr>
          <p:cNvPr id="18" name="Picture Placeholder 17">
            <a:extLst>
              <a:ext uri="{FF2B5EF4-FFF2-40B4-BE49-F238E27FC236}">
                <a16:creationId xmlns:a16="http://schemas.microsoft.com/office/drawing/2014/main" id="{A76FF9C1-8D80-4469-AF3E-9BB57D2CC77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516828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/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586842C3-48C0-4BEE-BC75-29419546D541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842191" y="3961856"/>
            <a:ext cx="2029967" cy="2064761"/>
          </a:xfrm>
          <a:custGeom>
            <a:avLst/>
            <a:gdLst>
              <a:gd name="connsiteX0" fmla="*/ 0 w 2029967"/>
              <a:gd name="connsiteY0" fmla="*/ 0 h 2064761"/>
              <a:gd name="connsiteX1" fmla="*/ 1706370 w 2029967"/>
              <a:gd name="connsiteY1" fmla="*/ 0 h 2064761"/>
              <a:gd name="connsiteX2" fmla="*/ 2029967 w 2029967"/>
              <a:gd name="connsiteY2" fmla="*/ 323597 h 2064761"/>
              <a:gd name="connsiteX3" fmla="*/ 2029967 w 2029967"/>
              <a:gd name="connsiteY3" fmla="*/ 2064761 h 2064761"/>
              <a:gd name="connsiteX4" fmla="*/ 0 w 2029967"/>
              <a:gd name="connsiteY4" fmla="*/ 2064761 h 20647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29967" h="2064761">
                <a:moveTo>
                  <a:pt x="0" y="0"/>
                </a:moveTo>
                <a:lnTo>
                  <a:pt x="1706370" y="0"/>
                </a:lnTo>
                <a:cubicBezTo>
                  <a:pt x="1885088" y="0"/>
                  <a:pt x="2029967" y="144879"/>
                  <a:pt x="2029967" y="323597"/>
                </a:cubicBezTo>
                <a:lnTo>
                  <a:pt x="2029967" y="2064761"/>
                </a:lnTo>
                <a:lnTo>
                  <a:pt x="0" y="2064761"/>
                </a:lnTo>
                <a:close/>
              </a:path>
            </a:pathLst>
          </a:custGeom>
          <a:solidFill>
            <a:schemeClr val="accent1">
              <a:alpha val="43000"/>
            </a:schemeClr>
          </a:solidFill>
          <a:ln w="38100">
            <a:solidFill>
              <a:schemeClr val="tx1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/>
            </a:lvl1pPr>
          </a:lstStyle>
          <a:p>
            <a:pPr lvl="0"/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3740224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5FF4CF-C1FF-420D-8164-8CFE1E746D5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66845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7" name="Picture Placeholder 16">
            <a:extLst>
              <a:ext uri="{FF2B5EF4-FFF2-40B4-BE49-F238E27FC236}">
                <a16:creationId xmlns:a16="http://schemas.microsoft.com/office/drawing/2014/main" id="{E158B27F-5AC5-468A-A665-64F231A01AF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589406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 anchor="t">
            <a:noAutofit/>
          </a:bodyPr>
          <a:lstStyle>
            <a:lvl1pPr marL="0" indent="0" algn="ctr" rtl="1">
              <a:lnSpc>
                <a:spcPct val="150000"/>
              </a:lnSpc>
              <a:buFont typeface="Arial" panose="020B0604020202020204" pitchFamily="34" charset="0"/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0" name="Picture Placeholder 19">
            <a:extLst>
              <a:ext uri="{FF2B5EF4-FFF2-40B4-BE49-F238E27FC236}">
                <a16:creationId xmlns:a16="http://schemas.microsoft.com/office/drawing/2014/main" id="{F2B6BB13-1192-40E5-8DB6-A264C2DE7D9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9489101" y="1561035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EED1FCFC-1DB4-45C3-9AED-FE85C8B93DF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266845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6" name="Picture Placeholder 25">
            <a:extLst>
              <a:ext uri="{FF2B5EF4-FFF2-40B4-BE49-F238E27FC236}">
                <a16:creationId xmlns:a16="http://schemas.microsoft.com/office/drawing/2014/main" id="{4084C1AF-497A-4862-BBAC-398A5594DAC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9406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5B00562C-5521-48F1-A3ED-7A775E280D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489101" y="3992064"/>
            <a:ext cx="1686900" cy="1715814"/>
          </a:xfrm>
          <a:custGeom>
            <a:avLst/>
            <a:gdLst>
              <a:gd name="connsiteX0" fmla="*/ 843450 w 1686900"/>
              <a:gd name="connsiteY0" fmla="*/ 0 h 1715814"/>
              <a:gd name="connsiteX1" fmla="*/ 1686900 w 1686900"/>
              <a:gd name="connsiteY1" fmla="*/ 843450 h 1715814"/>
              <a:gd name="connsiteX2" fmla="*/ 1686900 w 1686900"/>
              <a:gd name="connsiteY2" fmla="*/ 872364 h 1715814"/>
              <a:gd name="connsiteX3" fmla="*/ 843450 w 1686900"/>
              <a:gd name="connsiteY3" fmla="*/ 1715814 h 1715814"/>
              <a:gd name="connsiteX4" fmla="*/ 0 w 1686900"/>
              <a:gd name="connsiteY4" fmla="*/ 872364 h 1715814"/>
              <a:gd name="connsiteX5" fmla="*/ 0 w 1686900"/>
              <a:gd name="connsiteY5" fmla="*/ 843450 h 1715814"/>
              <a:gd name="connsiteX6" fmla="*/ 843450 w 1686900"/>
              <a:gd name="connsiteY6" fmla="*/ 0 h 1715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686900" h="1715814">
                <a:moveTo>
                  <a:pt x="843450" y="0"/>
                </a:moveTo>
                <a:cubicBezTo>
                  <a:pt x="1309275" y="0"/>
                  <a:pt x="1686900" y="377625"/>
                  <a:pt x="1686900" y="843450"/>
                </a:cubicBezTo>
                <a:lnTo>
                  <a:pt x="1686900" y="872364"/>
                </a:lnTo>
                <a:cubicBezTo>
                  <a:pt x="1686900" y="1338189"/>
                  <a:pt x="1309275" y="1715814"/>
                  <a:pt x="843450" y="1715814"/>
                </a:cubicBezTo>
                <a:cubicBezTo>
                  <a:pt x="377625" y="1715814"/>
                  <a:pt x="0" y="1338189"/>
                  <a:pt x="0" y="872364"/>
                </a:cubicBezTo>
                <a:lnTo>
                  <a:pt x="0" y="843450"/>
                </a:lnTo>
                <a:cubicBezTo>
                  <a:pt x="0" y="377625"/>
                  <a:pt x="377625" y="0"/>
                  <a:pt x="843450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 marL="0" indent="0" algn="ctr" rtl="1">
              <a:lnSpc>
                <a:spcPct val="150000"/>
              </a:lnSpc>
              <a:buNone/>
              <a:defRPr lang="fa-IR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278896356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eebsotre 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08C3338-A480-46CF-8496-274824B192F8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029170" y="2316946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wrap="square">
            <a:noAutofit/>
          </a:bodyPr>
          <a:lstStyle>
            <a:lvl1pPr marL="0" indent="0" algn="ctr" rtl="1">
              <a:lnSpc>
                <a:spcPct val="150000"/>
              </a:lnSpc>
              <a:buNone/>
              <a:defRPr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lvl="0"/>
            <a:r>
              <a:rPr lang="fa-IR" dirty="0"/>
              <a:t>تصویر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6218C2E-8F37-4FEE-93C2-F89A9F132BC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6428804" y="2293990"/>
            <a:ext cx="2678455" cy="2724365"/>
          </a:xfrm>
          <a:custGeom>
            <a:avLst/>
            <a:gdLst>
              <a:gd name="connsiteX0" fmla="*/ 1339228 w 2678455"/>
              <a:gd name="connsiteY0" fmla="*/ 0 h 2724365"/>
              <a:gd name="connsiteX1" fmla="*/ 2678455 w 2678455"/>
              <a:gd name="connsiteY1" fmla="*/ 1339228 h 2724365"/>
              <a:gd name="connsiteX2" fmla="*/ 2678455 w 2678455"/>
              <a:gd name="connsiteY2" fmla="*/ 1385137 h 2724365"/>
              <a:gd name="connsiteX3" fmla="*/ 1339228 w 2678455"/>
              <a:gd name="connsiteY3" fmla="*/ 2724365 h 2724365"/>
              <a:gd name="connsiteX4" fmla="*/ 0 w 2678455"/>
              <a:gd name="connsiteY4" fmla="*/ 1385137 h 2724365"/>
              <a:gd name="connsiteX5" fmla="*/ 0 w 2678455"/>
              <a:gd name="connsiteY5" fmla="*/ 1339228 h 2724365"/>
              <a:gd name="connsiteX6" fmla="*/ 1339228 w 2678455"/>
              <a:gd name="connsiteY6" fmla="*/ 0 h 2724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678455" h="2724365">
                <a:moveTo>
                  <a:pt x="1339228" y="0"/>
                </a:moveTo>
                <a:cubicBezTo>
                  <a:pt x="2078863" y="0"/>
                  <a:pt x="2678455" y="599592"/>
                  <a:pt x="2678455" y="1339228"/>
                </a:cubicBezTo>
                <a:lnTo>
                  <a:pt x="2678455" y="1385137"/>
                </a:lnTo>
                <a:cubicBezTo>
                  <a:pt x="2678455" y="2124773"/>
                  <a:pt x="2078863" y="2724365"/>
                  <a:pt x="1339228" y="2724365"/>
                </a:cubicBezTo>
                <a:cubicBezTo>
                  <a:pt x="599592" y="2724365"/>
                  <a:pt x="0" y="2124773"/>
                  <a:pt x="0" y="1385137"/>
                </a:cubicBezTo>
                <a:lnTo>
                  <a:pt x="0" y="1339228"/>
                </a:lnTo>
                <a:cubicBezTo>
                  <a:pt x="0" y="599592"/>
                  <a:pt x="599592" y="0"/>
                  <a:pt x="1339228" y="0"/>
                </a:cubicBezTo>
                <a:close/>
              </a:path>
            </a:pathLst>
          </a:custGeom>
          <a:solidFill>
            <a:schemeClr val="accent1">
              <a:alpha val="46000"/>
            </a:schemeClr>
          </a:solidFill>
          <a:ln w="38100">
            <a:solidFill>
              <a:schemeClr val="bg2"/>
            </a:solidFill>
          </a:ln>
          <a:effectLst>
            <a:outerShdw blurRad="660400" dist="190500" dir="10800000" algn="r" rotWithShape="0">
              <a:prstClr val="black">
                <a:alpha val="55000"/>
              </a:prstClr>
            </a:outerShdw>
          </a:effectLst>
        </p:spPr>
        <p:txBody>
          <a:bodyPr vert="horz" wrap="square" lIns="91440" tIns="45720" rIns="91440" bIns="45720" rtlCol="0">
            <a:noAutofit/>
          </a:bodyPr>
          <a:lstStyle>
            <a:lvl1pPr>
              <a:defRPr lang="fa-IR" dirty="0"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pPr marL="0" lvl="0" indent="0" algn="ctr" rtl="1">
              <a:lnSpc>
                <a:spcPct val="150000"/>
              </a:lnSpc>
              <a:buNone/>
            </a:pPr>
            <a:r>
              <a:rPr lang="fa-IR" dirty="0"/>
              <a:t>تصویر</a:t>
            </a:r>
          </a:p>
        </p:txBody>
      </p:sp>
    </p:spTree>
    <p:extLst>
      <p:ext uri="{BB962C8B-B14F-4D97-AF65-F5344CB8AC3E}">
        <p14:creationId xmlns:p14="http://schemas.microsoft.com/office/powerpoint/2010/main" val="8882249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jeebsotre 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3348C-0A30-45B6-AFAF-BA2C3259B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88188E-B4C3-4596-B40F-F5644CF030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17A15-7CE6-4A4F-968A-3818B75B1E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2A86F-43FC-4204-BFB9-77A5C5A5D8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42544A-950D-40F3-848C-5F4081DAB8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9766020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jeebsotre Q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F0E1A7A-5BD0-408F-99D0-29CCBB3C50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2A8F2F1-8A81-4D68-AFBC-701069587D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1F10F3-B69B-4B4B-83D0-33C3B80831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38FF37-42ED-48AA-929B-5B2032FAB464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7000508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F0C5ED1-C1D8-44A1-AA33-FFF55040C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053CFA-D95D-40B7-B1E9-E38EC169A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C46B78-EA3A-44CA-AEE8-005C36066B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ABABBB-BE2D-4C76-88AB-17C6495DD6E9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B6751E-9282-49EA-9CEE-45F0EA072F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924D9E-E536-44E0-BD93-4143A1E843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71AD0F-FBC0-424A-A8D7-62476B7E742E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48665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1F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E8E0E1-5F3B-44AA-B7D1-E635A4955B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BE2D22-AB02-47B8-9B7A-1E0CCC0352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C0F7B6-6907-4B68-A6C9-20BBD8D9BB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B585C7-1EAB-4FD0-87C3-94577936C4E5}" type="datetimeFigureOut">
              <a:rPr lang="fa-IR" smtClean="0"/>
              <a:t>06/05/1448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43B42B-A35C-4F79-8864-6BB410409F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A37AC0-2F87-47FA-9823-C20F0B410A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Shabnam" panose="020B0603030804020204" pitchFamily="34" charset="-78"/>
                <a:cs typeface="Shabnam" panose="020B0603030804020204" pitchFamily="34" charset="-78"/>
              </a:defRPr>
            </a:lvl1pPr>
          </a:lstStyle>
          <a:p>
            <a:fld id="{A538FF37-42ED-48AA-929B-5B2032FAB464}" type="slidenum">
              <a:rPr lang="fa-IR" smtClean="0"/>
              <a:pPr/>
              <a:t>‹#›</a:t>
            </a:fld>
            <a:endParaRPr lang="fa-IR" dirty="0"/>
          </a:p>
        </p:txBody>
      </p:sp>
    </p:spTree>
    <p:extLst>
      <p:ext uri="{BB962C8B-B14F-4D97-AF65-F5344CB8AC3E}">
        <p14:creationId xmlns:p14="http://schemas.microsoft.com/office/powerpoint/2010/main" val="980604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Relationship Id="rId5" Type="http://schemas.openxmlformats.org/officeDocument/2006/relationships/slide" Target="slide56.xml"/><Relationship Id="rId4" Type="http://schemas.openxmlformats.org/officeDocument/2006/relationships/slide" Target="slide5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fif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fif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" Target="slide51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5" Type="http://schemas.openxmlformats.org/officeDocument/2006/relationships/slide" Target="slide54.xml"/><Relationship Id="rId4" Type="http://schemas.openxmlformats.org/officeDocument/2006/relationships/slide" Target="slide5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png"/><Relationship Id="rId7" Type="http://schemas.openxmlformats.org/officeDocument/2006/relationships/image" Target="../media/image13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51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7.xml"/><Relationship Id="rId5" Type="http://schemas.openxmlformats.org/officeDocument/2006/relationships/slide" Target="slide55.xml"/><Relationship Id="rId4" Type="http://schemas.openxmlformats.org/officeDocument/2006/relationships/slide" Target="slide53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svg"/><Relationship Id="rId4" Type="http://schemas.openxmlformats.org/officeDocument/2006/relationships/slide" Target="slide5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slide" Target="slide53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svg"/><Relationship Id="rId5" Type="http://schemas.openxmlformats.org/officeDocument/2006/relationships/slide" Target="slide56.xml"/><Relationship Id="rId4" Type="http://schemas.openxmlformats.org/officeDocument/2006/relationships/slide" Target="slide5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52.xm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1.xml"/><Relationship Id="rId5" Type="http://schemas.openxmlformats.org/officeDocument/2006/relationships/slide" Target="slide57.xml"/><Relationship Id="rId4" Type="http://schemas.openxmlformats.org/officeDocument/2006/relationships/slide" Target="slide55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slide" Target="slide55.xml"/><Relationship Id="rId2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2.svg"/><Relationship Id="rId4" Type="http://schemas.openxmlformats.org/officeDocument/2006/relationships/slide" Target="slide57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hyperlink" Target="https://iranppt.com/code-74/" TargetMode="External"/><Relationship Id="rId13" Type="http://schemas.openxmlformats.org/officeDocument/2006/relationships/image" Target="../media/image38.jpg"/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12" Type="http://schemas.openxmlformats.org/officeDocument/2006/relationships/hyperlink" Target="https://iranppt.com/multipurpose-71/" TargetMode="External"/><Relationship Id="rId2" Type="http://schemas.openxmlformats.org/officeDocument/2006/relationships/hyperlink" Target="https://iranppt.com/ppt-code64/" TargetMode="External"/><Relationship Id="rId1" Type="http://schemas.openxmlformats.org/officeDocument/2006/relationships/slideLayout" Target="../slideLayouts/slideLayout27.xml"/><Relationship Id="rId6" Type="http://schemas.openxmlformats.org/officeDocument/2006/relationships/hyperlink" Target="https://iranppt.com/ppt-code55/" TargetMode="External"/><Relationship Id="rId11" Type="http://schemas.openxmlformats.org/officeDocument/2006/relationships/image" Target="../media/image37.png"/><Relationship Id="rId5" Type="http://schemas.openxmlformats.org/officeDocument/2006/relationships/image" Target="../media/image34.png"/><Relationship Id="rId10" Type="http://schemas.openxmlformats.org/officeDocument/2006/relationships/hyperlink" Target="https://iranppt.com/payanname-code36/" TargetMode="External"/><Relationship Id="rId4" Type="http://schemas.openxmlformats.org/officeDocument/2006/relationships/hyperlink" Target="https://iranppt.com/ppt-code67/" TargetMode="External"/><Relationship Id="rId9" Type="http://schemas.openxmlformats.org/officeDocument/2006/relationships/image" Target="../media/image36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academy.jeebstore.com/course/powerpoint-pro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F137134-E599-D44E-5F7E-859C1D00229B}"/>
              </a:ext>
            </a:extLst>
          </p:cNvPr>
          <p:cNvSpPr txBox="1">
            <a:spLocks/>
          </p:cNvSpPr>
          <p:nvPr/>
        </p:nvSpPr>
        <p:spPr>
          <a:xfrm>
            <a:off x="4772025" y="886790"/>
            <a:ext cx="7588959" cy="40995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49600" dirty="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595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354774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687E-666E-787C-82A4-370FA6457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93CA00-C629-A62E-EFF4-6689ED3E7E2C}"/>
              </a:ext>
            </a:extLst>
          </p:cNvPr>
          <p:cNvSpPr/>
          <p:nvPr/>
        </p:nvSpPr>
        <p:spPr>
          <a:xfrm>
            <a:off x="5219803" y="350667"/>
            <a:ext cx="650114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A07B819-CEDB-9863-7C62-777900A9725E}"/>
              </a:ext>
            </a:extLst>
          </p:cNvPr>
          <p:cNvSpPr txBox="1">
            <a:spLocks/>
          </p:cNvSpPr>
          <p:nvPr/>
        </p:nvSpPr>
        <p:spPr>
          <a:xfrm>
            <a:off x="6198910" y="554379"/>
            <a:ext cx="5419124" cy="211556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600">
                <a:solidFill>
                  <a:srgbClr val="262344"/>
                </a:solidFill>
                <a:latin typeface="S Besmellah 1" pitchFamily="2" charset="0"/>
                <a:cs typeface="Estedad Black" panose="02000A03000000000000" pitchFamily="2" charset="-78"/>
              </a:rPr>
              <a:t>s</a:t>
            </a:r>
            <a:endParaRPr lang="fa-IR" sz="16600" dirty="0">
              <a:solidFill>
                <a:srgbClr val="262344"/>
              </a:solidFill>
              <a:latin typeface="S Besmellah 1" pitchFamily="2" charset="0"/>
              <a:cs typeface="Estedad Black" panose="02000A03000000000000" pitchFamily="2" charset="-78"/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CA16D797-8A48-5ADE-2EC1-71304A53210A}"/>
              </a:ext>
            </a:extLst>
          </p:cNvPr>
          <p:cNvSpPr txBox="1">
            <a:spLocks/>
          </p:cNvSpPr>
          <p:nvPr/>
        </p:nvSpPr>
        <p:spPr>
          <a:xfrm>
            <a:off x="6013263" y="2882737"/>
            <a:ext cx="5419124" cy="77467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حفظ امنیت داده‌های حساس در پیش‌بینی خودکشی با رویکردی مبتنی بر یادگیری مشارکتی و رمزنگاری هم‌ریخت در پردازش زبان طبیعی</a:t>
            </a: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7DEF1434-800C-B0A3-1293-63DCF45C9C6C}"/>
              </a:ext>
            </a:extLst>
          </p:cNvPr>
          <p:cNvSpPr/>
          <p:nvPr/>
        </p:nvSpPr>
        <p:spPr>
          <a:xfrm flipH="1">
            <a:off x="1892852" y="5782712"/>
            <a:ext cx="2041131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Vazir Light FD" panose="020B0604020202020204" charset="-78"/>
                <a:cs typeface="Vazir Light FD" panose="020B0604020202020204" charset="-78"/>
              </a:rPr>
              <a:t>مهر 1405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59147A5-33AE-AF62-742A-685092E4966D}"/>
              </a:ext>
            </a:extLst>
          </p:cNvPr>
          <p:cNvSpPr/>
          <p:nvPr/>
        </p:nvSpPr>
        <p:spPr>
          <a:xfrm>
            <a:off x="2290952" y="350667"/>
            <a:ext cx="1781730" cy="1781730"/>
          </a:xfrm>
          <a:prstGeom prst="ellipse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endParaRPr lang="fa-IR" dirty="0">
              <a:solidFill>
                <a:schemeClr val="bg2">
                  <a:lumMod val="75000"/>
                </a:schemeClr>
              </a:solidFill>
              <a:cs typeface="B Titr" panose="00000700000000000000" pitchFamily="2" charset="-78"/>
            </a:endParaRPr>
          </a:p>
        </p:txBody>
      </p:sp>
      <p:sp>
        <p:nvSpPr>
          <p:cNvPr id="12" name="!!Freeform: Shape 20">
            <a:extLst>
              <a:ext uri="{FF2B5EF4-FFF2-40B4-BE49-F238E27FC236}">
                <a16:creationId xmlns:a16="http://schemas.microsoft.com/office/drawing/2014/main" id="{DA50200E-07EF-6483-4E92-A4408E45D7C2}"/>
              </a:ext>
            </a:extLst>
          </p:cNvPr>
          <p:cNvSpPr/>
          <p:nvPr/>
        </p:nvSpPr>
        <p:spPr>
          <a:xfrm flipH="1">
            <a:off x="759613" y="237363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سجاد رنجبر یزدی</a:t>
            </a:r>
          </a:p>
        </p:txBody>
      </p:sp>
      <p:sp>
        <p:nvSpPr>
          <p:cNvPr id="13" name="Freeform: Shape 12">
            <a:hlinkClick r:id="rId2" action="ppaction://hlinksldjump"/>
            <a:extLst>
              <a:ext uri="{FF2B5EF4-FFF2-40B4-BE49-F238E27FC236}">
                <a16:creationId xmlns:a16="http://schemas.microsoft.com/office/drawing/2014/main" id="{9A2093C3-6649-09BD-6CC5-9FC187B622E1}"/>
              </a:ext>
            </a:extLst>
          </p:cNvPr>
          <p:cNvSpPr/>
          <p:nvPr/>
        </p:nvSpPr>
        <p:spPr>
          <a:xfrm flipH="1">
            <a:off x="4225022" y="2530397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دانشجو</a:t>
            </a:r>
          </a:p>
        </p:txBody>
      </p:sp>
      <p:sp>
        <p:nvSpPr>
          <p:cNvPr id="14" name="!!Freeform: Shape 32">
            <a:extLst>
              <a:ext uri="{FF2B5EF4-FFF2-40B4-BE49-F238E27FC236}">
                <a16:creationId xmlns:a16="http://schemas.microsoft.com/office/drawing/2014/main" id="{C529F141-C54F-F75C-DE74-BF4E0BD3EE9F}"/>
              </a:ext>
            </a:extLst>
          </p:cNvPr>
          <p:cNvSpPr/>
          <p:nvPr/>
        </p:nvSpPr>
        <p:spPr>
          <a:xfrm flipH="1">
            <a:off x="759613" y="3462498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خانم</a:t>
            </a:r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 دکتر زیبا اسلامی</a:t>
            </a:r>
          </a:p>
        </p:txBody>
      </p:sp>
      <p:sp>
        <p:nvSpPr>
          <p:cNvPr id="15" name="Freeform: Shape 14">
            <a:hlinkClick r:id="rId2" action="ppaction://hlinksldjump"/>
            <a:extLst>
              <a:ext uri="{FF2B5EF4-FFF2-40B4-BE49-F238E27FC236}">
                <a16:creationId xmlns:a16="http://schemas.microsoft.com/office/drawing/2014/main" id="{6FB0B4D3-9D43-1108-0455-D9D58B46D444}"/>
              </a:ext>
            </a:extLst>
          </p:cNvPr>
          <p:cNvSpPr/>
          <p:nvPr/>
        </p:nvSpPr>
        <p:spPr>
          <a:xfrm flipH="1">
            <a:off x="4225022" y="3619263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استاد راهنما</a:t>
            </a:r>
          </a:p>
        </p:txBody>
      </p:sp>
      <p:sp>
        <p:nvSpPr>
          <p:cNvPr id="16" name="!!Freeform: Shape 34">
            <a:extLst>
              <a:ext uri="{FF2B5EF4-FFF2-40B4-BE49-F238E27FC236}">
                <a16:creationId xmlns:a16="http://schemas.microsoft.com/office/drawing/2014/main" id="{216A8102-4C71-1C58-619F-75E272A96D8D}"/>
              </a:ext>
            </a:extLst>
          </p:cNvPr>
          <p:cNvSpPr/>
          <p:nvPr/>
        </p:nvSpPr>
        <p:spPr>
          <a:xfrm flipH="1">
            <a:off x="759613" y="4551364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علوم ریاضی</a:t>
            </a:r>
          </a:p>
        </p:txBody>
      </p:sp>
      <p:sp>
        <p:nvSpPr>
          <p:cNvPr id="17" name="Freeform: Shape 16">
            <a:hlinkClick r:id="rId2" action="ppaction://hlinksldjump"/>
            <a:extLst>
              <a:ext uri="{FF2B5EF4-FFF2-40B4-BE49-F238E27FC236}">
                <a16:creationId xmlns:a16="http://schemas.microsoft.com/office/drawing/2014/main" id="{C9044A2B-FB30-2A6A-8234-338F27A29334}"/>
              </a:ext>
            </a:extLst>
          </p:cNvPr>
          <p:cNvSpPr/>
          <p:nvPr/>
        </p:nvSpPr>
        <p:spPr>
          <a:xfrm flipH="1">
            <a:off x="4225022" y="4708129"/>
            <a:ext cx="1684402" cy="455923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دانشکده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167A64B-22FB-D38F-8F7E-371737A6EE1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42408" y="358945"/>
            <a:ext cx="1781730" cy="1781730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4036687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522237" y="350667"/>
            <a:ext cx="1126798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3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A4A35BD3-C814-4836-9BC2-6C5AC22044CC}"/>
              </a:ext>
            </a:extLst>
          </p:cNvPr>
          <p:cNvSpPr/>
          <p:nvPr/>
        </p:nvSpPr>
        <p:spPr>
          <a:xfrm flipH="1">
            <a:off x="1123257" y="2005062"/>
            <a:ext cx="4307610" cy="76543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2" name="Freeform: Shape 31">
            <a:hlinkClick r:id="rId3" action="ppaction://hlinksldjump"/>
            <a:extLst>
              <a:ext uri="{FF2B5EF4-FFF2-40B4-BE49-F238E27FC236}">
                <a16:creationId xmlns:a16="http://schemas.microsoft.com/office/drawing/2014/main" id="{5AF83FB5-3219-4050-9D7C-B07AFDF004F3}"/>
              </a:ext>
            </a:extLst>
          </p:cNvPr>
          <p:cNvSpPr/>
          <p:nvPr/>
        </p:nvSpPr>
        <p:spPr>
          <a:xfrm flipH="1">
            <a:off x="5541546" y="2006396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3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91888B9-CE8D-49D9-AA1A-4214E9BB0E18}"/>
              </a:ext>
            </a:extLst>
          </p:cNvPr>
          <p:cNvSpPr/>
          <p:nvPr/>
        </p:nvSpPr>
        <p:spPr>
          <a:xfrm flipH="1">
            <a:off x="1123257" y="3239705"/>
            <a:ext cx="4307611" cy="765433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34" name="Freeform: Shape 33">
            <a:hlinkClick r:id="rId4" action="ppaction://hlinksldjump"/>
            <a:extLst>
              <a:ext uri="{FF2B5EF4-FFF2-40B4-BE49-F238E27FC236}">
                <a16:creationId xmlns:a16="http://schemas.microsoft.com/office/drawing/2014/main" id="{AB5BD92E-11A9-41CA-AAE1-E10F8A3E37A2}"/>
              </a:ext>
            </a:extLst>
          </p:cNvPr>
          <p:cNvSpPr/>
          <p:nvPr/>
        </p:nvSpPr>
        <p:spPr>
          <a:xfrm flipH="1">
            <a:off x="5541546" y="3192408"/>
            <a:ext cx="4307610" cy="765433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35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CA4836DB-9DF6-4D77-B086-4A80B6226A02}"/>
              </a:ext>
            </a:extLst>
          </p:cNvPr>
          <p:cNvSpPr/>
          <p:nvPr/>
        </p:nvSpPr>
        <p:spPr>
          <a:xfrm flipH="1">
            <a:off x="1123257" y="4460228"/>
            <a:ext cx="4307610" cy="765432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400" b="1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4A924CC-1044-43F7-BB1E-1403862CC30B}"/>
              </a:ext>
            </a:extLst>
          </p:cNvPr>
          <p:cNvSpPr/>
          <p:nvPr/>
        </p:nvSpPr>
        <p:spPr>
          <a:xfrm>
            <a:off x="1012578" y="2083117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8AF0955-99EE-4D50-BFB6-9C994CCBF8C8}"/>
              </a:ext>
            </a:extLst>
          </p:cNvPr>
          <p:cNvSpPr/>
          <p:nvPr/>
        </p:nvSpPr>
        <p:spPr>
          <a:xfrm>
            <a:off x="5430867" y="208445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D72C62C-F2E5-485E-88C9-6166F6870353}"/>
              </a:ext>
            </a:extLst>
          </p:cNvPr>
          <p:cNvSpPr/>
          <p:nvPr/>
        </p:nvSpPr>
        <p:spPr>
          <a:xfrm>
            <a:off x="1012579" y="3317761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DDAACA3-B62B-4A1E-B521-F87F3EF3B2DB}"/>
              </a:ext>
            </a:extLst>
          </p:cNvPr>
          <p:cNvSpPr/>
          <p:nvPr/>
        </p:nvSpPr>
        <p:spPr>
          <a:xfrm>
            <a:off x="5430867" y="3270464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02090FA-A7AB-4AAC-9FB4-145500439F82}"/>
              </a:ext>
            </a:extLst>
          </p:cNvPr>
          <p:cNvSpPr/>
          <p:nvPr/>
        </p:nvSpPr>
        <p:spPr>
          <a:xfrm>
            <a:off x="1012578" y="4538282"/>
            <a:ext cx="640080" cy="640080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 anchor="ctr"/>
          <a:lstStyle/>
          <a:p>
            <a:pPr algn="ctr" rtl="1"/>
            <a:r>
              <a:rPr lang="fa-IR" sz="24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5147" y="1049197"/>
            <a:ext cx="5419124" cy="774676"/>
          </a:xfrm>
        </p:spPr>
        <p:txBody>
          <a:bodyPr>
            <a:noAutofit/>
          </a:bodyPr>
          <a:lstStyle/>
          <a:p>
            <a:r>
              <a:rPr lang="fa-IR" sz="48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فهرست مطالب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C71D6A-87C9-A012-0F4B-100C2B5E62CC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1235073-7D02-9CBF-2ADF-934F1475083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8319321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اول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طرح موضوع و بررسی پیشینه پژوهش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7257663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B84A6-3D2C-7C3D-FB8F-443C42A4A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C844503-C73A-0EFB-C41B-E5E460224BA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AE352091-7D56-7E8D-C1BC-E77684B8F9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EAE26BF4-64C5-6876-F0D7-6472DB0FF9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طبق داده‌های سازمان جهانی بهداشت سالانه </a:t>
            </a:r>
            <a:r>
              <a:rPr lang="fa-IR" dirty="0">
                <a:effectLst/>
                <a:latin typeface="Vazir FD" pitchFamily="2" charset="-78"/>
                <a:cs typeface="Vazir FD" pitchFamily="2" charset="-78"/>
              </a:rPr>
              <a:t>بیش از ۰.۷ میلیون انسان، جان خود را بر اثر خودکشی از دست می‌دهند.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خودکشی در زمره 10 عامل اصلی مرگ و میر در تمامی گروه‌های سنی قرار دارد.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به گزارش مرکز کنترل و پیشگیری از بیماری‌های ایالات متحده خودکشی دومین علت مرگ و میر در بازه سنی 10 الی 34 سال می‌باشد.</a:t>
            </a: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این آمار در کشور ما چگونه است؟</a:t>
            </a: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effectLst/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25907E2-5CD8-AAFF-0875-3A3F0D8FFCC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B2C5065-B237-11DA-8C1C-A56354FCB89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879E3223-1E72-BA96-4DC1-1FDE1DEE07A8}"/>
              </a:ext>
            </a:extLst>
          </p:cNvPr>
          <p:cNvSpPr/>
          <p:nvPr/>
        </p:nvSpPr>
        <p:spPr>
          <a:xfrm>
            <a:off x="4849091" y="4714791"/>
            <a:ext cx="1924398" cy="577645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b="1" dirty="0">
                <a:latin typeface="Vazir Light FD" panose="020B0604020202020204" charset="-78"/>
                <a:cs typeface="Vazir Light FD" panose="020B0604020202020204" charset="-78"/>
              </a:rPr>
              <a:t>نمی‌دانیم</a:t>
            </a:r>
            <a:endParaRPr lang="en-US" b="1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7832736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75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750"/>
                                        <p:tgtEl>
                                          <p:spTgt spid="3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3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 uiExpand="1" build="p"/>
      <p:bldP spid="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F80F5C-578E-DBCB-6BBD-679BC8D34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EC338EB-564D-1642-EEB2-9F3C8578E7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6AABB693-7E70-AFD5-184D-2C17FFF7DC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5066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جایی که جان‌ها نبودن را بر بودن ترجیح می‌دهند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2642128-3E3E-22CA-615B-43BE6B0EE322}"/>
              </a:ext>
            </a:extLst>
          </p:cNvPr>
          <p:cNvSpPr/>
          <p:nvPr/>
        </p:nvSpPr>
        <p:spPr>
          <a:xfrm>
            <a:off x="9058360" y="1717963"/>
            <a:ext cx="1094509" cy="1094509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4AA6ADD9-5EB1-69D3-8FFC-1288DF8E8A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8" y="1125343"/>
            <a:ext cx="10731374" cy="4527312"/>
          </a:xfrm>
        </p:spPr>
        <p:txBody>
          <a:bodyPr>
            <a:normAutofit/>
          </a:bodyPr>
          <a:lstStyle/>
          <a:p>
            <a:pPr algn="r" rtl="1">
              <a:lnSpc>
                <a:spcPct val="170000"/>
              </a:lnSpc>
            </a:pPr>
            <a:r>
              <a:rPr lang="fa-IR" dirty="0">
                <a:latin typeface="Vazir FD" pitchFamily="2" charset="-78"/>
                <a:cs typeface="Vazir FD" pitchFamily="2" charset="-78"/>
              </a:rPr>
              <a:t>بسیاری از قربانیان، ماه‌ها پیش از اقدام، نشانه‌های هشدارد هنده‌ای از خود بروز میدهند.</a:t>
            </a:r>
          </a:p>
          <a:p>
            <a:pPr algn="r" rtl="1">
              <a:lnSpc>
                <a:spcPct val="170000"/>
              </a:lnSpc>
            </a:pPr>
            <a:r>
              <a:rPr lang="fa-IR" b="1" dirty="0">
                <a:solidFill>
                  <a:srgbClr val="00B050"/>
                </a:solidFill>
                <a:latin typeface="Vazir FD" pitchFamily="2" charset="-78"/>
                <a:cs typeface="Vazir FD" pitchFamily="2" charset="-78"/>
              </a:rPr>
              <a:t>در صورت تشخیص به‌موقع، قابل مداخله است.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B86DDB9-807F-8248-6199-1ADB3DCBEAC3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6A7A347-EBCC-35CC-32B7-B249230738B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C8AEBCE2-34AC-29A4-BDF4-BE9B7E59DEB3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98043751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37028-D223-FCB3-622B-4DEEF8302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BC6C89D-E8FF-A490-779C-E2F1D2C3CBF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2FD3FAA-BD9A-06B1-A26E-2F1C30E8B10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6A2A72C-DC4A-B9F6-1B67-4BDB759FD42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CD9CDB-44D3-3E30-4A42-2AE43D056ADC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C8E2DF-F3D8-D529-CDD3-1BEF4E3172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6F1CE-6E27-5806-576F-7FE7F744065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802B1B5F-7F5F-1E0F-8AA4-7BB69932402D}"/>
              </a:ext>
            </a:extLst>
          </p:cNvPr>
          <p:cNvSpPr/>
          <p:nvPr/>
        </p:nvSpPr>
        <p:spPr>
          <a:xfrm>
            <a:off x="915656" y="4452750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61E5BE29-C51C-420C-EF64-DAC317485AF4}"/>
              </a:ext>
            </a:extLst>
          </p:cNvPr>
          <p:cNvSpPr txBox="1">
            <a:spLocks/>
          </p:cNvSpPr>
          <p:nvPr/>
        </p:nvSpPr>
        <p:spPr>
          <a:xfrm>
            <a:off x="4921411" y="1052945"/>
            <a:ext cx="3694958" cy="157629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نخستین نمومه‌های پردازش طبیعی زبان با هدف ترجمه و خلاصه‌‌سازی ماشینی.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1D6F791B-6A57-0B27-1255-3652D7CAF6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06133" y="1209696"/>
            <a:ext cx="1926457" cy="192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95475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A6F7D-B54E-6DD4-DA55-9EF161322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28BDE58-3D2A-DCFC-82BE-61A2D225181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CAC1495-31E0-7991-5811-EF38E7BE9D9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BA8EE3E-B482-BD92-196B-5A31E56B36A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241D3A64-683F-76C1-FF44-9B9ADA135E3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ACF676-BDD1-FA84-4503-641B7516FD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2E7E32-9EF2-3B26-01B5-FE2897C46C1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FF9663E5-DCDB-9E8D-2BE0-5791CC3E7E03}"/>
              </a:ext>
            </a:extLst>
          </p:cNvPr>
          <p:cNvSpPr/>
          <p:nvPr/>
        </p:nvSpPr>
        <p:spPr>
          <a:xfrm>
            <a:off x="1447798" y="4396198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92165EE5-AC47-9FE0-E708-DE280EECBBB4}"/>
              </a:ext>
            </a:extLst>
          </p:cNvPr>
          <p:cNvSpPr txBox="1">
            <a:spLocks/>
          </p:cNvSpPr>
          <p:nvPr/>
        </p:nvSpPr>
        <p:spPr>
          <a:xfrm>
            <a:off x="719617" y="529597"/>
            <a:ext cx="7466442" cy="149629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rtl="1">
              <a:lnSpc>
                <a:spcPct val="170000"/>
              </a:lnSpc>
            </a:pPr>
            <a:r>
              <a:rPr lang="en-US" sz="2000" b="1" dirty="0">
                <a:latin typeface="Vazir FD" pitchFamily="2" charset="-78"/>
                <a:cs typeface="Vazir FD" pitchFamily="2" charset="-78"/>
              </a:rPr>
              <a:t>The General Inquirer: A Computer Approach to Content Analysis</a:t>
            </a:r>
            <a:br>
              <a:rPr lang="fa-IR" sz="2000" b="1" dirty="0">
                <a:latin typeface="Vazir FD" pitchFamily="2" charset="-78"/>
                <a:cs typeface="Vazir FD" pitchFamily="2" charset="-78"/>
              </a:rPr>
            </a:b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FCE0B9F7-D670-D2BC-11EA-A3DF4EBD8585}"/>
              </a:ext>
            </a:extLst>
          </p:cNvPr>
          <p:cNvSpPr txBox="1">
            <a:spLocks/>
          </p:cNvSpPr>
          <p:nvPr/>
        </p:nvSpPr>
        <p:spPr>
          <a:xfrm>
            <a:off x="4049779" y="1143002"/>
            <a:ext cx="3989531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از نخستین نمونه‌های مستند استفاده از تحلیل رایانه‌ای واژگان برای تمایز میان یادداشت‌های واقعی و ساختگی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5F42138-7EAC-056A-F5E8-61176F46D0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990" y="1288472"/>
            <a:ext cx="1888734" cy="2830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1460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63AF1-A602-3322-FFB3-B03D5DC93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B77E9EE-07A6-8FA4-F621-45A8E8AC695F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E4B578A-A50E-CEF1-AD13-9C2273F49DD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48640E38-2B1F-6A42-917A-09735C64B21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EC0FF3A-D0F8-E43A-2438-3D575042AA6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579C6BF-6338-28F2-C061-D1DC09522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8136769-32F2-B6B1-85F2-C64E19AFFE0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AB64D46E-DB7E-6E06-C45D-763D3D0F46E5}"/>
              </a:ext>
            </a:extLst>
          </p:cNvPr>
          <p:cNvSpPr/>
          <p:nvPr/>
        </p:nvSpPr>
        <p:spPr>
          <a:xfrm>
            <a:off x="4530437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C262E84C-29F9-FAFE-72A3-5695CB5E85E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پژوهشگران با نرم‌افزار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LIWC 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حدود ۳۰۰ شعر از ۹ شاعر که بر اثر خودکشی فوت کرده بودند و ۹ شاعر گروه مقایسه را تحلیل کردند. نتایج نشان داد استفاده بیشتر از واژگان خودارجاع و استفاده کمتر از واژگان جمعی با گروه نخست همراه بود. این مطالعه یکی از پل‌های مهم میان روان‌شناسی زبان و تحلیل متن رایانه‌ای است.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28F2A24-3624-3A52-A103-60308A98AA44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</p:spTree>
    <p:extLst>
      <p:ext uri="{BB962C8B-B14F-4D97-AF65-F5344CB8AC3E}">
        <p14:creationId xmlns:p14="http://schemas.microsoft.com/office/powerpoint/2010/main" val="25241097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84645B-F965-BCA1-60B3-E7E4B086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9ED489E4-3C7B-9C5E-194E-306188DFDC4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1482392F-50C6-8022-F823-603244A456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D6265B88-D902-EBCB-15DA-B9ACDA3AF46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60979BD-5B7D-68A8-5405-01D18D2CAE3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C3A9C94-5573-55B7-8BFD-A7C056B3C9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2C1F826-3A8E-E044-6174-AB389EEB873F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672379-2DBE-A634-486C-4045CBAE1733}"/>
              </a:ext>
            </a:extLst>
          </p:cNvPr>
          <p:cNvSpPr/>
          <p:nvPr/>
        </p:nvSpPr>
        <p:spPr>
          <a:xfrm>
            <a:off x="5596443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930F3DB-46EF-B606-174B-86CAB82DDFE6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دقت مدل کامپیوتری در پیش‌‌بینی خودکشی به حدود 78% رسید و برای نخستین بار از دقت متخصص انسانی(حدود 71% به صورت میانگین) پیشی گرفت.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32A76F1-B003-2EAA-A8A0-9C331AFF48C6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F3BC160-6952-A7A6-5EC7-6B5D89E4199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</p:spTree>
    <p:extLst>
      <p:ext uri="{BB962C8B-B14F-4D97-AF65-F5344CB8AC3E}">
        <p14:creationId xmlns:p14="http://schemas.microsoft.com/office/powerpoint/2010/main" val="224249209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457A7-39C1-E175-D409-AB57165EC8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7BE9B50-26BE-0096-6DE1-FAC4B9D0800C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EFFFA3A0-98BD-71FB-18C3-70A18CBA78A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55719364-F859-23AA-CA61-83AC521EE144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E896445-7C42-5987-3471-B2BE530E85B8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F5E4B-70A0-8AA2-5884-251C821140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5F1C1A13-87DB-B624-D430-4106448AB982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7926A4-9241-E763-DEFE-2E33121D5DD6}"/>
              </a:ext>
            </a:extLst>
          </p:cNvPr>
          <p:cNvSpPr/>
          <p:nvPr/>
        </p:nvSpPr>
        <p:spPr>
          <a:xfrm>
            <a:off x="6329886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D5D99D43-442D-E3CF-B27D-AEB0622CB29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افزایش چشمگیر مجموعه داده با جمع‌آوری مجموعه‌ای از یادداشت‌های 1319 شرکت‌کننده. با حضور ۲۴ تیم پژوهشی و 102 پژوهش‌‌گر.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2D147D5-B661-58A2-424C-49339CA9CA9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A89FFEDF-805F-DEE4-35AA-B4AAC3BF4945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D7D35C9-F222-16F2-8310-4CAB60F6746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</p:spTree>
    <p:extLst>
      <p:ext uri="{BB962C8B-B14F-4D97-AF65-F5344CB8AC3E}">
        <p14:creationId xmlns:p14="http://schemas.microsoft.com/office/powerpoint/2010/main" val="23007119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9D0126-9497-F757-4AAE-E1A9DCCA6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270AADCA-B4A7-6606-6E2E-2179823985B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A50215B7-785B-AF50-2CEA-D19CEDD982E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ED0BB40E-09B3-B7F4-4770-AEAE4F4ADF7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D06C446-474A-BD05-50FB-1CE164034991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6CBFBFA-535C-1678-A5FF-A6054F351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EDB1B68-2228-C251-E1A7-488B4E7590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18B80E38-7B18-43AD-24D4-4CBE4C1BC130}"/>
              </a:ext>
            </a:extLst>
          </p:cNvPr>
          <p:cNvSpPr/>
          <p:nvPr/>
        </p:nvSpPr>
        <p:spPr>
          <a:xfrm>
            <a:off x="694222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435D37E1-EF49-A79F-58BA-3B04E65DFF43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شروع نخستین بررسی‌ها روی شبکه‌های اجتماعی. افزایش بسیار چشمگیر در تعداد مقالات چاپ شده طی بازه 2014 تا 2016.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B78F117-01DF-A778-C43D-3BEAA1519A8A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032FA0E3-37BF-48C6-FA59-D5048EECBF5F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B506F65-402B-1B81-824F-6D53FBC6A116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3B4F3B74-E1DC-65CE-C177-BE76A290039F}"/>
              </a:ext>
            </a:extLst>
          </p:cNvPr>
          <p:cNvSpPr txBox="1">
            <a:spLocks/>
          </p:cNvSpPr>
          <p:nvPr/>
        </p:nvSpPr>
        <p:spPr>
          <a:xfrm>
            <a:off x="6691745" y="5580401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</p:spTree>
    <p:extLst>
      <p:ext uri="{BB962C8B-B14F-4D97-AF65-F5344CB8AC3E}">
        <p14:creationId xmlns:p14="http://schemas.microsoft.com/office/powerpoint/2010/main" val="19488804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6A47F-52DE-6AE6-990F-A4D60D2398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F4EF559-ABC5-426F-5E7F-129179C54DF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24DC6C1-059F-50DA-900C-F0646805556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98D748D6-D215-FD8B-BCBF-DC2C1A779BA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C7A8005-44E3-AD88-58DF-5274A03600DF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272ED-AC50-BD9D-D1B4-CDEB5E2D27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DDF211-A22C-CF6E-CEF9-A676314AA86C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27BDB194-1535-E9FB-B889-12108CC2830A}"/>
              </a:ext>
            </a:extLst>
          </p:cNvPr>
          <p:cNvSpPr/>
          <p:nvPr/>
        </p:nvSpPr>
        <p:spPr>
          <a:xfrm>
            <a:off x="7571453" y="4396197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4089951-4FE0-6ABA-602B-0FC5321A485C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پس از معرفی یادگیری مشارکتی توسط تیم گوگل در سال 2016 این حوزه کمک شایانی به پیشرفت حوزه تشخیص خودکشی از روی متن داشت.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2A493F12-2F77-5ECF-1432-F906D737B8C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622ED566-5EE1-4857-FDEE-0CB12297BC1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AE3B850-4CC0-8A3B-7D32-9E22F6E5B250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C1E3F58E-479C-6626-08E4-62A16768A98E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D72318A-A766-1348-A055-D166F6E39453}"/>
              </a:ext>
            </a:extLst>
          </p:cNvPr>
          <p:cNvSpPr txBox="1">
            <a:spLocks/>
          </p:cNvSpPr>
          <p:nvPr/>
        </p:nvSpPr>
        <p:spPr>
          <a:xfrm>
            <a:off x="7267501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5175529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0959-B919-5075-480B-F3008E38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5C6C38C-E944-3D40-582B-856D143C6093}"/>
              </a:ext>
            </a:extLst>
          </p:cNvPr>
          <p:cNvSpPr/>
          <p:nvPr/>
        </p:nvSpPr>
        <p:spPr>
          <a:xfrm>
            <a:off x="541805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FD951B4D-8D8D-8145-8222-7B1F410AF73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95364CB-0AB2-289B-4BBE-619B24CE6E4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5E3BD8B-D798-B4D6-0AB9-2C51A019C3EE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CA4E7D-1557-6880-5BEE-9BD7BE32C8B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21264A9-5587-E3BA-A7BD-8B679DFA9F93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484C5BF0-50F5-5801-5D35-5DACDE2B6D02}"/>
              </a:ext>
            </a:extLst>
          </p:cNvPr>
          <p:cNvSpPr/>
          <p:nvPr/>
        </p:nvSpPr>
        <p:spPr>
          <a:xfrm>
            <a:off x="7875095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0AAE773D-78F9-A4B2-B9EC-0E27D15C762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ایجاد نمونه‌های عملیاتی در بیمارستان‌ها و کیلینیک‌های مخصوص سلامت روان.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61B431-F1D8-DBCA-C6BC-1D5B3ED78CFF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582C7416-F809-6ED7-E05B-48C44555CDDA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91D899A-2553-0003-E18F-802FB6B4E3D7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B516942A-6794-688D-0094-4EFC0754C3E1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E1721C72-710C-EE2B-1780-BC9C26D80876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</p:spTree>
    <p:extLst>
      <p:ext uri="{BB962C8B-B14F-4D97-AF65-F5344CB8AC3E}">
        <p14:creationId xmlns:p14="http://schemas.microsoft.com/office/powerpoint/2010/main" val="13943777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FA50-213D-739F-9973-C9EEF6E6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C5198A36-94C6-5216-8093-2F7E02174831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7F8B6A1-2BBE-66C2-940C-11C1276F1FA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B4CEFEC-56A7-ECD1-DA0F-3B94FBD5BAF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AA0B442A-4B73-0D73-894E-094BFB8F8F72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DF9B0BF-3713-060E-0DEC-69217EA9F0F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A864A304-F1FF-3BCE-76B7-68A83E06110B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D4E540AD-0243-379E-2297-FD0CD01D0320}"/>
              </a:ext>
            </a:extLst>
          </p:cNvPr>
          <p:cNvSpPr/>
          <p:nvPr/>
        </p:nvSpPr>
        <p:spPr>
          <a:xfrm>
            <a:off x="81660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8FC957F2-A941-454A-3615-0513F7199691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استفاده از یادگیری مشارکتی در حداقل‌سازی حجم دیتابیس با حفظ عملکرد مدل‌ها.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9C4F7B75-157C-AC3B-7489-856C719017F1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15202BDB-34BD-8CFB-33A7-52D64471785C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F29BF13D-A1CE-1EE5-92A2-3D8803019A8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261011FE-5DF6-FD17-60FC-925A42ADC6E5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B9849130-AB0F-F527-130B-4E23B4AA1A18}"/>
              </a:ext>
            </a:extLst>
          </p:cNvPr>
          <p:cNvSpPr txBox="1">
            <a:spLocks/>
          </p:cNvSpPr>
          <p:nvPr/>
        </p:nvSpPr>
        <p:spPr>
          <a:xfrm>
            <a:off x="7862086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2021</a:t>
            </a:r>
          </a:p>
        </p:txBody>
      </p:sp>
    </p:spTree>
    <p:extLst>
      <p:ext uri="{BB962C8B-B14F-4D97-AF65-F5344CB8AC3E}">
        <p14:creationId xmlns:p14="http://schemas.microsoft.com/office/powerpoint/2010/main" val="2616453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7015-AC79-4A35-648A-FC3D8CAB2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3FB582E2-CEDC-D91D-19BF-1E8C0109D9D5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9E818A85-7D5E-E46A-C7D6-0A553ED7E344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DD2FD5E-B646-7DAD-C680-B6F831C037C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4868BC2-63CC-A78D-2F6B-F0075BAAB0D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443AC59-E82A-2B26-D38E-BD3A8B1165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30D5A5EC-DF97-4404-E39D-15504C44B21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D863B7B-CCB6-FAA5-4284-8E0949217B33}"/>
              </a:ext>
            </a:extLst>
          </p:cNvPr>
          <p:cNvSpPr/>
          <p:nvPr/>
        </p:nvSpPr>
        <p:spPr>
          <a:xfrm>
            <a:off x="8623240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6E1FF657-E47C-6276-C419-06519EE072EF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ورود مدل‌های زبانی بزرگ در پژوهش‌های مربوط به سلامت روان و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F446D5C-6795-AA53-98A1-B0F50429F439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D723D1C2-0A94-F5EF-54BB-03505C4E89F8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BA61EC78-FD7E-DE93-A0B9-D777099A9E48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8ED70B98-3355-A40D-D216-ABDD1D00AF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DEED0F72-4770-DEE6-537A-E325D6C7EB8B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5612493F-C994-F42C-1A3D-625A5FD2E759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</p:spTree>
    <p:extLst>
      <p:ext uri="{BB962C8B-B14F-4D97-AF65-F5344CB8AC3E}">
        <p14:creationId xmlns:p14="http://schemas.microsoft.com/office/powerpoint/2010/main" val="38819623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42835-5FE5-4197-1233-A2047819CB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2F6AFC4-DB1C-29A9-5803-043B43EBECB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F4C0AAA-F8BE-B394-280E-DE946AF20E8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861B794D-3637-AA4A-301D-3DC2A3D8615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3FD410F6-0060-661F-194F-C3D1463A697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9F3926-62F8-C6B1-78DD-9032FE300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5147" y="5598727"/>
            <a:ext cx="1037397" cy="412655"/>
          </a:xfrm>
        </p:spPr>
        <p:txBody>
          <a:bodyPr>
            <a:normAutofit/>
          </a:bodyPr>
          <a:lstStyle/>
          <a:p>
            <a:r>
              <a:rPr lang="fa-IR" sz="1800" dirty="0"/>
              <a:t>1965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814F967-F1B4-91C7-6E1D-13A5656B25A0}"/>
              </a:ext>
            </a:extLst>
          </p:cNvPr>
          <p:cNvCxnSpPr/>
          <p:nvPr/>
        </p:nvCxnSpPr>
        <p:spPr>
          <a:xfrm>
            <a:off x="777548" y="5569527"/>
            <a:ext cx="10486197" cy="0"/>
          </a:xfrm>
          <a:prstGeom prst="straightConnector1">
            <a:avLst/>
          </a:prstGeom>
          <a:ln w="508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Arrow: Down 14">
            <a:extLst>
              <a:ext uri="{FF2B5EF4-FFF2-40B4-BE49-F238E27FC236}">
                <a16:creationId xmlns:a16="http://schemas.microsoft.com/office/drawing/2014/main" id="{94AD448E-57AD-0C71-3ADE-22D3E858F633}"/>
              </a:ext>
            </a:extLst>
          </p:cNvPr>
          <p:cNvSpPr/>
          <p:nvPr/>
        </p:nvSpPr>
        <p:spPr>
          <a:xfrm>
            <a:off x="9260549" y="4380504"/>
            <a:ext cx="429491" cy="1028210"/>
          </a:xfrm>
          <a:prstGeom prst="downArrow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150BD257-C661-B90D-2978-65C68806DD70}"/>
              </a:ext>
            </a:extLst>
          </p:cNvPr>
          <p:cNvSpPr txBox="1">
            <a:spLocks/>
          </p:cNvSpPr>
          <p:nvPr/>
        </p:nvSpPr>
        <p:spPr>
          <a:xfrm>
            <a:off x="4959928" y="1143002"/>
            <a:ext cx="5830334" cy="2701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 rtl="1">
              <a:lnSpc>
                <a:spcPct val="170000"/>
              </a:lnSpc>
            </a:pPr>
            <a:r>
              <a:rPr lang="fa-IR" sz="2000" dirty="0">
                <a:latin typeface="Vazir FD" pitchFamily="2" charset="-78"/>
                <a:cs typeface="Vazir FD" pitchFamily="2" charset="-78"/>
              </a:rPr>
              <a:t>ظهور روش‌هایی نوین همانند </a:t>
            </a:r>
            <a:r>
              <a:rPr lang="en-US" sz="2000" dirty="0">
                <a:latin typeface="Vazir FD" pitchFamily="2" charset="-78"/>
                <a:cs typeface="Vazir FD" pitchFamily="2" charset="-78"/>
              </a:rPr>
              <a:t>Lexicon</a:t>
            </a:r>
            <a:r>
              <a:rPr lang="fa-IR" sz="2000" dirty="0">
                <a:latin typeface="Vazir FD" pitchFamily="2" charset="-78"/>
                <a:cs typeface="Vazir FD" pitchFamily="2" charset="-78"/>
              </a:rPr>
              <a:t> در بهینه‌سازی مدل‌های زبانی بزرگ برای تشخیص خودکشی از روی متن.</a:t>
            </a:r>
            <a:endParaRPr lang="fa-IR" sz="2000" b="1" dirty="0">
              <a:solidFill>
                <a:srgbClr val="00B05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6B43EF0-F8CB-21E7-FFDA-E0F59909DC3C}"/>
              </a:ext>
            </a:extLst>
          </p:cNvPr>
          <p:cNvSpPr txBox="1">
            <a:spLocks/>
          </p:cNvSpPr>
          <p:nvPr/>
        </p:nvSpPr>
        <p:spPr>
          <a:xfrm>
            <a:off x="4226483" y="56133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2001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D93241E-19D2-E76F-485C-F3D0B69B8B22}"/>
              </a:ext>
            </a:extLst>
          </p:cNvPr>
          <p:cNvSpPr txBox="1">
            <a:spLocks/>
          </p:cNvSpPr>
          <p:nvPr/>
        </p:nvSpPr>
        <p:spPr>
          <a:xfrm>
            <a:off x="5292489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2008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3EBE4E2F-183F-EBAF-90C3-07E4E5DFC2D9}"/>
              </a:ext>
            </a:extLst>
          </p:cNvPr>
          <p:cNvSpPr txBox="1">
            <a:spLocks/>
          </p:cNvSpPr>
          <p:nvPr/>
        </p:nvSpPr>
        <p:spPr>
          <a:xfrm>
            <a:off x="6020646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2011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FD455C2D-33D5-1129-FF92-F7725576382B}"/>
              </a:ext>
            </a:extLst>
          </p:cNvPr>
          <p:cNvSpPr txBox="1">
            <a:spLocks/>
          </p:cNvSpPr>
          <p:nvPr/>
        </p:nvSpPr>
        <p:spPr>
          <a:xfrm>
            <a:off x="6624830" y="55987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2015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A7FAE97F-FD7B-958D-49E0-492D5DBEE660}"/>
              </a:ext>
            </a:extLst>
          </p:cNvPr>
          <p:cNvSpPr txBox="1">
            <a:spLocks/>
          </p:cNvSpPr>
          <p:nvPr/>
        </p:nvSpPr>
        <p:spPr>
          <a:xfrm>
            <a:off x="7571141" y="556952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2020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6818EB1C-E5D4-36E7-94CE-B6A9D8B75521}"/>
              </a:ext>
            </a:extLst>
          </p:cNvPr>
          <p:cNvSpPr txBox="1">
            <a:spLocks/>
          </p:cNvSpPr>
          <p:nvPr/>
        </p:nvSpPr>
        <p:spPr>
          <a:xfrm>
            <a:off x="8319286" y="5569526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2024</a:t>
            </a:r>
          </a:p>
        </p:txBody>
      </p:sp>
      <p:sp>
        <p:nvSpPr>
          <p:cNvPr id="18" name="Subtitle 2">
            <a:extLst>
              <a:ext uri="{FF2B5EF4-FFF2-40B4-BE49-F238E27FC236}">
                <a16:creationId xmlns:a16="http://schemas.microsoft.com/office/drawing/2014/main" id="{FA9C7340-2B53-1A0E-B7CA-72E68F66BBDB}"/>
              </a:ext>
            </a:extLst>
          </p:cNvPr>
          <p:cNvSpPr txBox="1">
            <a:spLocks/>
          </p:cNvSpPr>
          <p:nvPr/>
        </p:nvSpPr>
        <p:spPr>
          <a:xfrm>
            <a:off x="8990385" y="5580257"/>
            <a:ext cx="1037397" cy="4126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a-IR" sz="180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14391127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13926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5C49A4-8A4D-49BB-2544-99C39F051BC6}"/>
              </a:ext>
            </a:extLst>
          </p:cNvPr>
          <p:cNvSpPr txBox="1"/>
          <p:nvPr/>
        </p:nvSpPr>
        <p:spPr>
          <a:xfrm>
            <a:off x="542593" y="836085"/>
            <a:ext cx="1010532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a-IR" sz="2000" b="0" i="0" dirty="0">
                <a:solidFill>
                  <a:schemeClr val="tx1"/>
                </a:solidFill>
                <a:effectLst/>
                <a:latin typeface="+mn-lt"/>
              </a:rPr>
              <a:t>K. Nikhileswar, D. Vishal, L. Sphoorthi and S. Fathimabi</a:t>
            </a:r>
            <a:br>
              <a:rPr lang="fa-IR" sz="2000" dirty="0"/>
            </a:br>
            <a:r>
              <a:rPr lang="fa-IR" sz="2000" b="1" i="0" dirty="0">
                <a:solidFill>
                  <a:schemeClr val="tx1"/>
                </a:solidFill>
                <a:effectLst/>
                <a:latin typeface="+mn-lt"/>
              </a:rPr>
              <a:t>Suicide Ideation Detection in Social Media Forums 2021 </a:t>
            </a:r>
            <a:r>
              <a:rPr lang="en-US" sz="2000" b="1" i="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US" sz="2000" dirty="0"/>
              <a:t>seco</a:t>
            </a:r>
            <a:r>
              <a:rPr lang="fa-IR" sz="2000" b="0" i="1" dirty="0">
                <a:solidFill>
                  <a:schemeClr val="tx1"/>
                </a:solidFill>
                <a:effectLst/>
                <a:latin typeface="+mn-lt"/>
              </a:rPr>
              <a:t>nd International Conference on Smart Electronics and Communication </a:t>
            </a:r>
            <a:endParaRPr lang="fa-IR" sz="200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8242689B-EE70-A351-A8A1-7E36D67F71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559944"/>
              </p:ext>
            </p:extLst>
          </p:nvPr>
        </p:nvGraphicFramePr>
        <p:xfrm>
          <a:off x="542594" y="1947197"/>
          <a:ext cx="4708278" cy="236893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62606">
                  <a:extLst>
                    <a:ext uri="{9D8B030D-6E8A-4147-A177-3AD203B41FA5}">
                      <a16:colId xmlns:a16="http://schemas.microsoft.com/office/drawing/2014/main" val="3122007869"/>
                    </a:ext>
                  </a:extLst>
                </a:gridCol>
                <a:gridCol w="1745672">
                  <a:extLst>
                    <a:ext uri="{9D8B030D-6E8A-4147-A177-3AD203B41FA5}">
                      <a16:colId xmlns:a16="http://schemas.microsoft.com/office/drawing/2014/main" val="1629120992"/>
                    </a:ext>
                  </a:extLst>
                </a:gridCol>
              </a:tblGrid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br>
                        <a:rPr lang="fa-IR" sz="1600" dirty="0">
                          <a:effectLst/>
                        </a:rPr>
                      </a:b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algn="ctr" rtl="1"/>
                      <a:r>
                        <a:rPr lang="fa-IR" sz="2000" dirty="0">
                          <a:effectLst/>
                        </a:rPr>
                        <a:t>Rows</a:t>
                      </a:r>
                      <a:endParaRPr lang="fa-IR" sz="4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6703200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loaded_rows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232074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3731619767"/>
                  </a:ext>
                </a:extLst>
              </a:tr>
              <a:tr h="52489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invalid_or_empty_text_rows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65562524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missing_label_rows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0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9891789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raw_duplicate_rows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93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765810553"/>
                  </a:ext>
                </a:extLst>
              </a:tr>
              <a:tr h="291995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remaining_rows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231981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008164357"/>
                  </a:ext>
                </a:extLst>
              </a:tr>
            </a:tbl>
          </a:graphicData>
        </a:graphic>
      </p:graphicFrame>
      <p:sp>
        <p:nvSpPr>
          <p:cNvPr id="15" name="Title 1">
            <a:extLst>
              <a:ext uri="{FF2B5EF4-FFF2-40B4-BE49-F238E27FC236}">
                <a16:creationId xmlns:a16="http://schemas.microsoft.com/office/drawing/2014/main" id="{C1655AD4-A531-1619-8060-D41175E655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5564" y="392231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6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مجموعه داده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9F1C201-380F-2953-B4EB-EAB0A36B19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3475113"/>
              </p:ext>
            </p:extLst>
          </p:nvPr>
        </p:nvGraphicFramePr>
        <p:xfrm>
          <a:off x="542593" y="4507032"/>
          <a:ext cx="11024262" cy="1600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13916">
                  <a:extLst>
                    <a:ext uri="{9D8B030D-6E8A-4147-A177-3AD203B41FA5}">
                      <a16:colId xmlns:a16="http://schemas.microsoft.com/office/drawing/2014/main" val="2425967841"/>
                    </a:ext>
                  </a:extLst>
                </a:gridCol>
                <a:gridCol w="1399309">
                  <a:extLst>
                    <a:ext uri="{9D8B030D-6E8A-4147-A177-3AD203B41FA5}">
                      <a16:colId xmlns:a16="http://schemas.microsoft.com/office/drawing/2014/main" val="398677569"/>
                    </a:ext>
                  </a:extLst>
                </a:gridCol>
                <a:gridCol w="1967346">
                  <a:extLst>
                    <a:ext uri="{9D8B030D-6E8A-4147-A177-3AD203B41FA5}">
                      <a16:colId xmlns:a16="http://schemas.microsoft.com/office/drawing/2014/main" val="514636108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3385795756"/>
                    </a:ext>
                  </a:extLst>
                </a:gridCol>
                <a:gridCol w="2067914">
                  <a:extLst>
                    <a:ext uri="{9D8B030D-6E8A-4147-A177-3AD203B41FA5}">
                      <a16:colId xmlns:a16="http://schemas.microsoft.com/office/drawing/2014/main" val="971892255"/>
                    </a:ext>
                  </a:extLst>
                </a:gridCol>
                <a:gridCol w="1837377">
                  <a:extLst>
                    <a:ext uri="{9D8B030D-6E8A-4147-A177-3AD203B41FA5}">
                      <a16:colId xmlns:a16="http://schemas.microsoft.com/office/drawing/2014/main" val="2235355103"/>
                    </a:ext>
                  </a:extLst>
                </a:gridCol>
              </a:tblGrid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before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empty_after_cleaning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duplicates_of_earlier_split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local_duplicates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after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860538881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split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4164290330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train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148467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0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62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148385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072804489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validation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37117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1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28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2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37086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101835467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test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46397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5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>
                          <a:effectLst/>
                        </a:rPr>
                        <a:t>47</a:t>
                      </a:r>
                      <a:endParaRPr lang="fa-IR" sz="16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3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600" dirty="0">
                          <a:effectLst/>
                        </a:rPr>
                        <a:t>46342</a:t>
                      </a:r>
                      <a:endParaRPr lang="fa-IR" sz="16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1195224050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80AEEB22-E0B4-8ABB-86FE-CA6C323D67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6138879"/>
              </p:ext>
            </p:extLst>
          </p:nvPr>
        </p:nvGraphicFramePr>
        <p:xfrm>
          <a:off x="5423104" y="1954124"/>
          <a:ext cx="6143748" cy="236201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53551">
                  <a:extLst>
                    <a:ext uri="{9D8B030D-6E8A-4147-A177-3AD203B41FA5}">
                      <a16:colId xmlns:a16="http://schemas.microsoft.com/office/drawing/2014/main" val="3128215241"/>
                    </a:ext>
                  </a:extLst>
                </a:gridCol>
                <a:gridCol w="1318323">
                  <a:extLst>
                    <a:ext uri="{9D8B030D-6E8A-4147-A177-3AD203B41FA5}">
                      <a16:colId xmlns:a16="http://schemas.microsoft.com/office/drawing/2014/main" val="3413357795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855344140"/>
                    </a:ext>
                  </a:extLst>
                </a:gridCol>
                <a:gridCol w="1535937">
                  <a:extLst>
                    <a:ext uri="{9D8B030D-6E8A-4147-A177-3AD203B41FA5}">
                      <a16:colId xmlns:a16="http://schemas.microsoft.com/office/drawing/2014/main" val="1705517707"/>
                    </a:ext>
                  </a:extLst>
                </a:gridCol>
              </a:tblGrid>
              <a:tr h="787337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ts val="1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a-IR" sz="1800" dirty="0">
                          <a:effectLst/>
                        </a:rPr>
                        <a:t>label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train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validation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test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35416105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non-suicide (0)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74133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18525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23145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842343644"/>
                  </a:ext>
                </a:extLst>
              </a:tr>
              <a:tr h="787337"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suicide (1)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74247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>
                          <a:effectLst/>
                        </a:rPr>
                        <a:t>18561</a:t>
                      </a:r>
                      <a:endParaRPr lang="fa-IR" sz="1800" b="0" i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spcBef>
                          <a:spcPts val="1200"/>
                        </a:spcBef>
                        <a:spcAft>
                          <a:spcPts val="1800"/>
                        </a:spcAft>
                        <a:buNone/>
                      </a:pPr>
                      <a:r>
                        <a:rPr lang="fa-IR" sz="1800" dirty="0">
                          <a:effectLst/>
                        </a:rPr>
                        <a:t>23197</a:t>
                      </a:r>
                      <a:endParaRPr lang="fa-IR" sz="1800" b="0" i="0" dirty="0">
                        <a:solidFill>
                          <a:srgbClr val="3C4043"/>
                        </a:solidFill>
                        <a:effectLst/>
                        <a:latin typeface="inherit"/>
                      </a:endParaRPr>
                    </a:p>
                  </a:txBody>
                  <a:tcPr marL="76200" marR="76200" marT="38100" marB="38100" anchor="ctr"/>
                </a:tc>
                <a:extLst>
                  <a:ext uri="{0D108BD9-81ED-4DB2-BD59-A6C34878D82A}">
                    <a16:rowId xmlns:a16="http://schemas.microsoft.com/office/drawing/2014/main" val="2583986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432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C9B54-8FBD-4E22-C506-BB10D66D5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F93AEA27-A65B-20C8-312A-45B1C3B9A1CD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F357CBC-B9E6-84C7-9A0B-46D098C446C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0386B2D-D89A-4312-49C9-8B06CCECA1A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4DDA7C95-8967-5E16-EF6E-F5D46FD042AD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682273E-67B8-2A58-4DF9-8B9D3DDF3A1E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B97440DC-075E-EB2F-5F96-F2B0F1F8E78A}"/>
              </a:ext>
            </a:extLst>
          </p:cNvPr>
          <p:cNvSpPr/>
          <p:nvPr/>
        </p:nvSpPr>
        <p:spPr>
          <a:xfrm rot="16200000">
            <a:off x="-292221" y="284314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داده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DF4EC44-B99F-3B10-4286-600312CB1109}"/>
              </a:ext>
            </a:extLst>
          </p:cNvPr>
          <p:cNvSpPr/>
          <p:nvPr/>
        </p:nvSpPr>
        <p:spPr>
          <a:xfrm rot="16200000">
            <a:off x="989056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داده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5D9F25A-E052-6838-0656-110ADF467FF4}"/>
              </a:ext>
            </a:extLst>
          </p:cNvPr>
          <p:cNvSpPr/>
          <p:nvPr/>
        </p:nvSpPr>
        <p:spPr>
          <a:xfrm rot="16200000">
            <a:off x="2270331" y="2850074"/>
            <a:ext cx="5818911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داده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8968238-DFFA-436C-2C7F-23A69AE95043}"/>
              </a:ext>
            </a:extLst>
          </p:cNvPr>
          <p:cNvSpPr/>
          <p:nvPr/>
        </p:nvSpPr>
        <p:spPr>
          <a:xfrm rot="16200000">
            <a:off x="3546159" y="2850074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034424F0-451E-63AC-E031-F4A186735234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83F0452-7DA8-E9D7-951C-CAD5EAEF1D6C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C253F56-985F-2D30-7F97-7C17D10FC09F}"/>
              </a:ext>
            </a:extLst>
          </p:cNvPr>
          <p:cNvSpPr/>
          <p:nvPr/>
        </p:nvSpPr>
        <p:spPr>
          <a:xfrm rot="16200000">
            <a:off x="5795060" y="3788720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769C34C3-EC76-BEB2-C33F-4EA5BD709656}"/>
              </a:ext>
            </a:extLst>
          </p:cNvPr>
          <p:cNvSpPr/>
          <p:nvPr/>
        </p:nvSpPr>
        <p:spPr>
          <a:xfrm rot="16200000">
            <a:off x="6882639" y="823846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</p:spTree>
    <p:extLst>
      <p:ext uri="{BB962C8B-B14F-4D97-AF65-F5344CB8AC3E}">
        <p14:creationId xmlns:p14="http://schemas.microsoft.com/office/powerpoint/2010/main" val="41520257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3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7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0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75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1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45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4" grpId="0" animBg="1"/>
      <p:bldP spid="26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EDDC7A-1E81-00EA-4D3A-C4FA74714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C915501-2223-EB7A-02AD-FA4BF092ED93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202FD04-3230-3AC1-D1E2-A70A5733D93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DB6F408-BFF3-3A1E-7550-F64C7553C0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65F85FAD-5301-5B15-029D-B8EA920D17D5}"/>
              </a:ext>
            </a:extLst>
          </p:cNvPr>
          <p:cNvSpPr txBox="1">
            <a:spLocks/>
          </p:cNvSpPr>
          <p:nvPr/>
        </p:nvSpPr>
        <p:spPr>
          <a:xfrm>
            <a:off x="777548" y="1277743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B875CA-1531-480E-54E1-9864F90233F7}"/>
              </a:ext>
            </a:extLst>
          </p:cNvPr>
          <p:cNvSpPr/>
          <p:nvPr/>
        </p:nvSpPr>
        <p:spPr>
          <a:xfrm rot="16200000">
            <a:off x="-1552982" y="2843146"/>
            <a:ext cx="5818911" cy="1157851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مجوعه داده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44AA6D5E-4C24-1A3D-E510-E5AA68FDD85D}"/>
              </a:ext>
            </a:extLst>
          </p:cNvPr>
          <p:cNvSpPr/>
          <p:nvPr/>
        </p:nvSpPr>
        <p:spPr>
          <a:xfrm rot="16200000">
            <a:off x="3251666" y="3785254"/>
            <a:ext cx="3948545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AC54358-4E81-2962-74E2-9404310D91C6}"/>
              </a:ext>
            </a:extLst>
          </p:cNvPr>
          <p:cNvSpPr/>
          <p:nvPr/>
        </p:nvSpPr>
        <p:spPr>
          <a:xfrm rot="16200000">
            <a:off x="4529478" y="3788718"/>
            <a:ext cx="3955477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A8530B4-DD3C-DE53-4C08-2E9148D9993B}"/>
              </a:ext>
            </a:extLst>
          </p:cNvPr>
          <p:cNvSpPr/>
          <p:nvPr/>
        </p:nvSpPr>
        <p:spPr>
          <a:xfrm rot="16200000">
            <a:off x="5810751" y="3788718"/>
            <a:ext cx="395547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165FC2A-E502-027D-B870-FE7DA270AF45}"/>
              </a:ext>
            </a:extLst>
          </p:cNvPr>
          <p:cNvSpPr/>
          <p:nvPr/>
        </p:nvSpPr>
        <p:spPr>
          <a:xfrm rot="16200000">
            <a:off x="-300685" y="2843146"/>
            <a:ext cx="5818911" cy="1157851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تقسیم مجوعه داده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8FD9CE9-D41C-772F-4AAF-87B889B33F1D}"/>
              </a:ext>
            </a:extLst>
          </p:cNvPr>
          <p:cNvSpPr/>
          <p:nvPr/>
        </p:nvSpPr>
        <p:spPr>
          <a:xfrm rot="16200000">
            <a:off x="6189290" y="2850073"/>
            <a:ext cx="5818911" cy="1157853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آموزش مدل روی مجوعه داده آموزشی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8D3652DA-FCDA-65F2-41E2-8E383787C1AB}"/>
              </a:ext>
            </a:extLst>
          </p:cNvPr>
          <p:cNvSpPr/>
          <p:nvPr/>
        </p:nvSpPr>
        <p:spPr>
          <a:xfrm rot="16200000">
            <a:off x="7499545" y="2850073"/>
            <a:ext cx="5818911" cy="1157852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2400" dirty="0">
                <a:latin typeface="Vazir FD" pitchFamily="2" charset="-78"/>
                <a:cs typeface="Vazir FD" pitchFamily="2" charset="-78"/>
              </a:rPr>
              <a:t>ازیابی مدل روی مجوعه داده تست</a:t>
            </a: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7950F3AA-5352-34CE-382B-A10B65C1A7FE}"/>
              </a:ext>
            </a:extLst>
          </p:cNvPr>
          <p:cNvSpPr/>
          <p:nvPr/>
        </p:nvSpPr>
        <p:spPr>
          <a:xfrm rot="16200000">
            <a:off x="1948216" y="3781792"/>
            <a:ext cx="3941618" cy="1157851"/>
          </a:xfrm>
          <a:prstGeom prst="roundRect">
            <a:avLst/>
          </a:prstGeom>
          <a:solidFill>
            <a:srgbClr val="388600"/>
          </a:solidFill>
          <a:ln>
            <a:solidFill>
              <a:srgbClr val="388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آموزشی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EED89D7-5C20-7862-A288-0181B4F0ED13}"/>
              </a:ext>
            </a:extLst>
          </p:cNvPr>
          <p:cNvSpPr/>
          <p:nvPr/>
        </p:nvSpPr>
        <p:spPr>
          <a:xfrm rot="16200000">
            <a:off x="3035795" y="816918"/>
            <a:ext cx="1766457" cy="1157851"/>
          </a:xfrm>
          <a:prstGeom prst="round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sz="14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مجموعه داده ارزیابی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01E92303-2F56-C1B9-A233-E7BB15247955}"/>
              </a:ext>
            </a:extLst>
          </p:cNvPr>
          <p:cNvSpPr/>
          <p:nvPr/>
        </p:nvSpPr>
        <p:spPr>
          <a:xfrm rot="16200000">
            <a:off x="4373238" y="811531"/>
            <a:ext cx="1763359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پاک‌سازی مجوعه آموزشی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ECBD1F4-8792-57FA-0C98-817DAC335BEF}"/>
              </a:ext>
            </a:extLst>
          </p:cNvPr>
          <p:cNvSpPr/>
          <p:nvPr/>
        </p:nvSpPr>
        <p:spPr>
          <a:xfrm rot="16200000">
            <a:off x="5652967" y="816913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توکن‌سازی مجوعه آموزشی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7C940C6-D8D5-D4BD-A407-44E84462BA1E}"/>
              </a:ext>
            </a:extLst>
          </p:cNvPr>
          <p:cNvSpPr/>
          <p:nvPr/>
        </p:nvSpPr>
        <p:spPr>
          <a:xfrm rot="16200000">
            <a:off x="6934240" y="816914"/>
            <a:ext cx="1766456" cy="1157851"/>
          </a:xfrm>
          <a:prstGeom prst="round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بردار‌سازی مجوعه آموزشی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9051EE0-3ADB-ABD6-1D5B-A3684D1F24D7}"/>
              </a:ext>
            </a:extLst>
          </p:cNvPr>
          <p:cNvCxnSpPr/>
          <p:nvPr/>
        </p:nvCxnSpPr>
        <p:spPr>
          <a:xfrm>
            <a:off x="3187697" y="2285989"/>
            <a:ext cx="5332122" cy="0"/>
          </a:xfrm>
          <a:prstGeom prst="line">
            <a:avLst/>
          </a:prstGeom>
          <a:ln w="69850">
            <a:solidFill>
              <a:schemeClr val="accent4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9145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F218-832D-4042-240A-7DC9F4FE9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117BC-6B61-3E18-3119-585EE025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ED0F0F8-92DD-2890-7F32-0D22EE32FD16}"/>
              </a:ext>
            </a:extLst>
          </p:cNvPr>
          <p:cNvSpPr/>
          <p:nvPr/>
        </p:nvSpPr>
        <p:spPr>
          <a:xfrm>
            <a:off x="304800" y="399158"/>
            <a:ext cx="115408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1EA74059-6F3E-B394-48FF-44627396A7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93391580"/>
              </p:ext>
            </p:extLst>
          </p:nvPr>
        </p:nvGraphicFramePr>
        <p:xfrm>
          <a:off x="838200" y="721270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93.63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92.32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92.31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87.15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0.87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83.55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82.64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82.53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0.91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0.84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  <p:graphicFrame>
        <p:nvGraphicFramePr>
          <p:cNvPr id="8" name="Content Placeholder 3">
            <a:extLst>
              <a:ext uri="{FF2B5EF4-FFF2-40B4-BE49-F238E27FC236}">
                <a16:creationId xmlns:a16="http://schemas.microsoft.com/office/drawing/2014/main" id="{1F9DA086-7152-F0DD-778A-A4C1D6A97CC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7626498"/>
              </p:ext>
            </p:extLst>
          </p:nvPr>
        </p:nvGraphicFramePr>
        <p:xfrm>
          <a:off x="838200" y="3655129"/>
          <a:ext cx="10515603" cy="2704338"/>
        </p:xfrm>
        <a:graphic>
          <a:graphicData uri="http://schemas.openxmlformats.org/drawingml/2006/table">
            <a:tbl>
              <a:tblPr firstRow="1" firstCol="1" bandRow="1">
                <a:tableStyleId>{F5AB1C69-6EDB-4FF4-983F-18BD219EF322}</a:tableStyleId>
              </a:tblPr>
              <a:tblGrid>
                <a:gridCol w="1502229">
                  <a:extLst>
                    <a:ext uri="{9D8B030D-6E8A-4147-A177-3AD203B41FA5}">
                      <a16:colId xmlns:a16="http://schemas.microsoft.com/office/drawing/2014/main" val="2358241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809668621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4240997343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4004628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903074195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1185167546"/>
                    </a:ext>
                  </a:extLst>
                </a:gridCol>
                <a:gridCol w="1502229">
                  <a:extLst>
                    <a:ext uri="{9D8B030D-6E8A-4147-A177-3AD203B41FA5}">
                      <a16:colId xmlns:a16="http://schemas.microsoft.com/office/drawing/2014/main" val="3121263743"/>
                    </a:ext>
                  </a:extLst>
                </a:gridCol>
              </a:tblGrid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الگوریتم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Accuracy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Precision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F1-score (%)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Recall </a:t>
                      </a:r>
                      <a:r>
                        <a:rPr lang="fa-IR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F1 </a:t>
                      </a:r>
                      <a:r>
                        <a:rPr lang="fa-IR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کلاس خودکشی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7929436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 err="1">
                          <a:effectLst/>
                          <a:latin typeface="Vazir FD" pitchFamily="2" charset="-78"/>
                          <a:cs typeface="Vazir FD" pitchFamily="2" charset="-78"/>
                        </a:rPr>
                        <a:t>XGBoost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1" eaLnBrk="1" fontAlgn="auto" latinLnBrk="0" hangingPunct="1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92.82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1098819451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Random Forest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91.46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91.39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91.38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0.93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0.92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462301934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 dirty="0">
                          <a:effectLst/>
                          <a:latin typeface="Vazir FD" pitchFamily="2" charset="-78"/>
                          <a:cs typeface="Vazir FD" pitchFamily="2" charset="-78"/>
                        </a:rPr>
                        <a:t>Decision Tree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fa-IR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  <a:endParaRPr lang="en-US" sz="1800" kern="100" dirty="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87.83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87.82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0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0.88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3268773350"/>
                  </a:ext>
                </a:extLst>
              </a:tr>
              <a:tr h="214757"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000" kern="100">
                          <a:effectLst/>
                          <a:latin typeface="Vazir FD" pitchFamily="2" charset="-78"/>
                          <a:cs typeface="Vazir FD" pitchFamily="2" charset="-78"/>
                        </a:rPr>
                        <a:t>Naive Bayes</a:t>
                      </a:r>
                      <a:endParaRPr lang="en-US" sz="1800" kern="100">
                        <a:effectLst/>
                        <a:latin typeface="Vazir FD" pitchFamily="2" charset="-78"/>
                        <a:ea typeface="Calibri" panose="020F0502020204030204" pitchFamily="34" charset="0"/>
                        <a:cs typeface="Vazir FD" pitchFamily="2" charset="-78"/>
                      </a:endParaRP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86.69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86.66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0.85</a:t>
                      </a:r>
                    </a:p>
                  </a:txBody>
                  <a:tcPr marL="9525" marR="9525" marT="9525" marB="9525" anchor="ctr"/>
                </a:tc>
                <a:tc>
                  <a:txBody>
                    <a:bodyPr/>
                    <a:lstStyle/>
                    <a:p>
                      <a:pPr marL="0" marR="0" algn="ctr" rtl="1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800" kern="100" dirty="0">
                          <a:effectLst/>
                          <a:latin typeface="Vazir FD" pitchFamily="2" charset="-78"/>
                          <a:ea typeface="Calibri" panose="020F0502020204030204" pitchFamily="34" charset="0"/>
                          <a:cs typeface="Vazir FD" pitchFamily="2" charset="-78"/>
                        </a:rPr>
                        <a:t>0.86</a:t>
                      </a:r>
                    </a:p>
                  </a:txBody>
                  <a:tcPr marL="9525" marR="9525" marT="9525" marB="9525" anchor="ctr"/>
                </a:tc>
                <a:extLst>
                  <a:ext uri="{0D108BD9-81ED-4DB2-BD59-A6C34878D82A}">
                    <a16:rowId xmlns:a16="http://schemas.microsoft.com/office/drawing/2014/main" val="26424539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1886305"/>
      </p:ext>
    </p:extLst>
  </p:cSld>
  <p:clrMapOvr>
    <a:masterClrMapping/>
  </p:clrMapOvr>
  <p:transition spd="slow">
    <p:cover dir="r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E18FA7-1ACA-FD51-3E03-401EA1224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8693A6D-BC2D-C8B9-C3F3-6A6005BB581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C86DAF9B-19CB-65D1-25B3-A3F57ECF6E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C40F1E5D-527C-0ACA-11EA-C5A3BEBC2DE7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FD7145C3-90D4-3659-9FCA-2798D0D5FE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891A26FC-7C2B-619D-DE0C-3854FC06B8EE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8A32C0E0-E403-9514-1CDD-6607ADD44043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1D35C43-F7DA-9C0A-94AD-08BFB5B1E8B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207D0209-9883-C32F-68EA-6FAB5E6D7799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7C51C8B0-AB57-47B0-F7BC-810DAB492107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57840443-18AB-FC2D-0D69-090CC3853C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70364" y="3764211"/>
            <a:ext cx="8603671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بستر امن تبادل داده با بهره‌‌گیری از رمزگذاری هم‌ریخت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534B957F-DE6A-74E7-E97E-DEB8B5A78911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23BE17C6-AD97-883D-3328-4BE7E5A88301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78E93C75-2190-9AFA-A216-077D95D56B63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A0F6332-E62E-748F-16E3-2995E9B6353A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518627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526982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8F091B5-09F6-5A06-D270-799B65CBD990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B4D912-DC32-DB0A-66DD-97DE1F81B9A5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DEDA746-D701-4B3A-B719-12D43E3A8414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894A42-2389-3F5A-2C9F-C09FEC0E572F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E27E68E-41ED-F473-5D74-7F8C685F24C8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BBDFE47-D995-0A6B-038D-E13F870DCD90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3667BB3-D21D-687A-966C-8607A778BA78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716AA66-642A-63D8-4E11-9E11AFFB4EC3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2E139390-5420-1E1D-120A-48A819D04DCC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CDF6BEB5-E98D-8E0A-CC9A-F9EEE5761CC6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D7A332D8-AE38-3F0E-AA08-150FF723078A}"/>
              </a:ext>
            </a:extLst>
          </p:cNvPr>
          <p:cNvCxnSpPr>
            <a:cxnSpLocks/>
            <a:stCxn id="14" idx="0"/>
            <a:endCxn id="28" idx="1"/>
          </p:cNvCxnSpPr>
          <p:nvPr/>
        </p:nvCxnSpPr>
        <p:spPr>
          <a:xfrm rot="5400000" flipH="1" flipV="1">
            <a:off x="1098403" y="1925161"/>
            <a:ext cx="1276878" cy="457200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1D261327-D27B-7D21-CAC9-7AD6E40108DE}"/>
              </a:ext>
            </a:extLst>
          </p:cNvPr>
          <p:cNvCxnSpPr>
            <a:cxnSpLocks/>
            <a:stCxn id="14" idx="2"/>
            <a:endCxn id="64" idx="1"/>
          </p:cNvCxnSpPr>
          <p:nvPr/>
        </p:nvCxnSpPr>
        <p:spPr>
          <a:xfrm rot="16200000" flipH="1">
            <a:off x="1616606" y="3598236"/>
            <a:ext cx="1668750" cy="1885478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D6650BF5-1B11-B553-6398-3EC62B9CC7F7}"/>
              </a:ext>
            </a:extLst>
          </p:cNvPr>
          <p:cNvSpPr/>
          <p:nvPr/>
        </p:nvSpPr>
        <p:spPr>
          <a:xfrm>
            <a:off x="1965442" y="1259378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5D197E4-B01A-B831-582D-A4B9B489C5BA}"/>
              </a:ext>
            </a:extLst>
          </p:cNvPr>
          <p:cNvCxnSpPr>
            <a:cxnSpLocks/>
            <a:stCxn id="28" idx="3"/>
            <a:endCxn id="11" idx="0"/>
          </p:cNvCxnSpPr>
          <p:nvPr/>
        </p:nvCxnSpPr>
        <p:spPr>
          <a:xfrm>
            <a:off x="3393721" y="1515322"/>
            <a:ext cx="4998011" cy="3406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0AC4BD3-6EED-00B5-C7E9-75431C1ACD67}"/>
              </a:ext>
            </a:extLst>
          </p:cNvPr>
          <p:cNvSpPr/>
          <p:nvPr/>
        </p:nvSpPr>
        <p:spPr>
          <a:xfrm>
            <a:off x="2679581" y="299345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CF4C09D2-1B7F-9058-4F59-E89979922A68}"/>
              </a:ext>
            </a:extLst>
          </p:cNvPr>
          <p:cNvCxnSpPr>
            <a:cxnSpLocks/>
            <a:stCxn id="40" idx="3"/>
            <a:endCxn id="8" idx="0"/>
          </p:cNvCxnSpPr>
          <p:nvPr/>
        </p:nvCxnSpPr>
        <p:spPr>
          <a:xfrm>
            <a:off x="4107860" y="3249400"/>
            <a:ext cx="428173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2048BF-2BEE-4F33-D1B7-C9ACE36A8027}"/>
              </a:ext>
            </a:extLst>
          </p:cNvPr>
          <p:cNvCxnSpPr>
            <a:cxnSpLocks/>
            <a:stCxn id="14" idx="3"/>
            <a:endCxn id="40" idx="1"/>
          </p:cNvCxnSpPr>
          <p:nvPr/>
        </p:nvCxnSpPr>
        <p:spPr>
          <a:xfrm>
            <a:off x="1965442" y="3249400"/>
            <a:ext cx="714139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3A0E5C55-2ECD-F8E6-B667-22E8F6C695B1}"/>
              </a:ext>
            </a:extLst>
          </p:cNvPr>
          <p:cNvSpPr/>
          <p:nvPr/>
        </p:nvSpPr>
        <p:spPr>
          <a:xfrm>
            <a:off x="3393720" y="5119406"/>
            <a:ext cx="1428279" cy="511888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solidFill>
                  <a:sysClr val="windowText" lastClr="000000"/>
                </a:solidFill>
                <a:latin typeface="Vazir FD" pitchFamily="2" charset="-78"/>
                <a:cs typeface="Vazir FD" pitchFamily="2" charset="-78"/>
              </a:rPr>
              <a:t>متن ورودی</a:t>
            </a:r>
            <a:endParaRPr lang="en-US" sz="1600" dirty="0">
              <a:solidFill>
                <a:sysClr val="windowText" lastClr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DC6C053-8FD8-14CC-82A3-2CEF1BAC20E5}"/>
              </a:ext>
            </a:extLst>
          </p:cNvPr>
          <p:cNvCxnSpPr>
            <a:cxnSpLocks/>
            <a:stCxn id="64" idx="3"/>
            <a:endCxn id="9" idx="0"/>
          </p:cNvCxnSpPr>
          <p:nvPr/>
        </p:nvCxnSpPr>
        <p:spPr>
          <a:xfrm>
            <a:off x="4821999" y="5375350"/>
            <a:ext cx="3606921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10677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7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75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8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7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  <p:bldP spid="14" grpId="0" animBg="1"/>
      <p:bldP spid="15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8" grpId="0" animBg="1"/>
      <p:bldP spid="40" grpId="0" animBg="1"/>
      <p:bldP spid="6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322F2D3-7210-6212-B5EC-B88E84B8921F}"/>
              </a:ext>
            </a:extLst>
          </p:cNvPr>
          <p:cNvSpPr/>
          <p:nvPr/>
        </p:nvSpPr>
        <p:spPr>
          <a:xfrm>
            <a:off x="6231558" y="1649353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2A8608D-4E52-119A-8FE2-0167531B144B}"/>
              </a:ext>
            </a:extLst>
          </p:cNvPr>
          <p:cNvSpPr/>
          <p:nvPr/>
        </p:nvSpPr>
        <p:spPr>
          <a:xfrm>
            <a:off x="6229417" y="336241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8816AA4-7A3B-FFE7-38D6-F54378A0DAA1}"/>
              </a:ext>
            </a:extLst>
          </p:cNvPr>
          <p:cNvSpPr/>
          <p:nvPr/>
        </p:nvSpPr>
        <p:spPr>
          <a:xfrm>
            <a:off x="6229416" y="5528712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8C7A3643-9583-3221-CA25-A95A55484A6D}"/>
              </a:ext>
            </a:extLst>
          </p:cNvPr>
          <p:cNvSpPr/>
          <p:nvPr/>
        </p:nvSpPr>
        <p:spPr>
          <a:xfrm>
            <a:off x="5630535" y="1817038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99170D-273C-2E33-8963-5581BF044EFA}"/>
              </a:ext>
            </a:extLst>
          </p:cNvPr>
          <p:cNvSpPr/>
          <p:nvPr/>
        </p:nvSpPr>
        <p:spPr>
          <a:xfrm>
            <a:off x="4628044" y="2729263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میانگین حسابی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BF7FBE3-235E-7768-CEA1-A1736469F68C}"/>
              </a:ext>
            </a:extLst>
          </p:cNvPr>
          <p:cNvCxnSpPr>
            <a:cxnSpLocks/>
            <a:stCxn id="38" idx="1"/>
            <a:endCxn id="49" idx="3"/>
          </p:cNvCxnSpPr>
          <p:nvPr/>
        </p:nvCxnSpPr>
        <p:spPr>
          <a:xfrm flipH="1">
            <a:off x="1965442" y="3217932"/>
            <a:ext cx="2662602" cy="314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F2ABBF7A-B4EE-644C-0134-7C267705B2C5}"/>
              </a:ext>
            </a:extLst>
          </p:cNvPr>
          <p:cNvSpPr/>
          <p:nvPr/>
        </p:nvSpPr>
        <p:spPr>
          <a:xfrm rot="16200000">
            <a:off x="9056889" y="178195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4FD219A2-80BC-B848-9F6B-EB113970F941}"/>
              </a:ext>
            </a:extLst>
          </p:cNvPr>
          <p:cNvSpPr/>
          <p:nvPr/>
        </p:nvSpPr>
        <p:spPr>
          <a:xfrm rot="16200000">
            <a:off x="9096218" y="3907901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کلاینت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DD96F78-C4CC-22C7-631B-BE63A7FDBFEA}"/>
              </a:ext>
            </a:extLst>
          </p:cNvPr>
          <p:cNvSpPr/>
          <p:nvPr/>
        </p:nvSpPr>
        <p:spPr>
          <a:xfrm rot="16200000">
            <a:off x="9059030" y="81942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کلاینت 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93BF5C32-94D8-8748-C329-DDEEE6C63139}"/>
              </a:ext>
            </a:extLst>
          </p:cNvPr>
          <p:cNvSpPr/>
          <p:nvPr/>
        </p:nvSpPr>
        <p:spPr>
          <a:xfrm>
            <a:off x="8829514" y="82037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4B2319FA-FDB4-3555-0754-2A5E4B12364A}"/>
              </a:ext>
            </a:extLst>
          </p:cNvPr>
          <p:cNvSpPr/>
          <p:nvPr/>
        </p:nvSpPr>
        <p:spPr>
          <a:xfrm>
            <a:off x="8829514" y="157964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محلی1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0C5890F0-B706-DFF5-CCAC-FAF669735321}"/>
              </a:ext>
            </a:extLst>
          </p:cNvPr>
          <p:cNvSpPr/>
          <p:nvPr/>
        </p:nvSpPr>
        <p:spPr>
          <a:xfrm>
            <a:off x="8786865" y="253018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D84A0119-BBF6-2A75-42F7-235436A28FF5}"/>
              </a:ext>
            </a:extLst>
          </p:cNvPr>
          <p:cNvSpPr/>
          <p:nvPr/>
        </p:nvSpPr>
        <p:spPr>
          <a:xfrm>
            <a:off x="8786865" y="32803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محلی2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08FF220-841A-C56F-1934-E3C6AA447870}"/>
              </a:ext>
            </a:extLst>
          </p:cNvPr>
          <p:cNvSpPr/>
          <p:nvPr/>
        </p:nvSpPr>
        <p:spPr>
          <a:xfrm>
            <a:off x="8895510" y="4630067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مدل یادگیری ماشین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74EE0C8F-7B51-2176-1068-7ACFE0098AE4}"/>
              </a:ext>
            </a:extLst>
          </p:cNvPr>
          <p:cNvSpPr/>
          <p:nvPr/>
        </p:nvSpPr>
        <p:spPr>
          <a:xfrm>
            <a:off x="8895510" y="5400824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FD" pitchFamily="2" charset="-78"/>
                <a:cs typeface="Vazir FD" pitchFamily="2" charset="-78"/>
              </a:rPr>
              <a:t>مجموعه داده محلی</a:t>
            </a:r>
            <a:r>
              <a:rPr lang="en-US" dirty="0">
                <a:latin typeface="Vazir FD" pitchFamily="2" charset="-78"/>
                <a:cs typeface="Vazir FD" pitchFamily="2" charset="-78"/>
              </a:rPr>
              <a:t>n 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1CF0ED79-115C-E454-2B55-5BC62400A9FE}"/>
              </a:ext>
            </a:extLst>
          </p:cNvPr>
          <p:cNvSpPr/>
          <p:nvPr/>
        </p:nvSpPr>
        <p:spPr>
          <a:xfrm>
            <a:off x="1051042" y="2792200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FD" pitchFamily="2" charset="-78"/>
                <a:cs typeface="Vazir FD" pitchFamily="2" charset="-78"/>
              </a:rPr>
              <a:t>سرور</a:t>
            </a:r>
            <a:endParaRPr lang="en-US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362762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34" grpId="0" animBg="1"/>
      <p:bldP spid="35" grpId="0" animBg="1"/>
      <p:bldP spid="3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EB00-2F09-1AE7-AF18-E130BFB5D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C5A781E-D32D-0E79-9C52-C464E9E753FC}"/>
              </a:ext>
            </a:extLst>
          </p:cNvPr>
          <p:cNvSpPr/>
          <p:nvPr/>
        </p:nvSpPr>
        <p:spPr>
          <a:xfrm>
            <a:off x="304800" y="357594"/>
            <a:ext cx="1138843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271970E-E025-9701-07BA-C1F275BD36D7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27BC052C-BC6D-A44D-3E7A-55141A5E8FED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A8C0548-D320-0C90-9A04-A26B128916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1862178"/>
              </p:ext>
            </p:extLst>
          </p:nvPr>
        </p:nvGraphicFramePr>
        <p:xfrm>
          <a:off x="815686" y="962473"/>
          <a:ext cx="10366664" cy="2164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8751">
                  <a:extLst>
                    <a:ext uri="{9D8B030D-6E8A-4147-A177-3AD203B41FA5}">
                      <a16:colId xmlns:a16="http://schemas.microsoft.com/office/drawing/2014/main" val="1662298749"/>
                    </a:ext>
                  </a:extLst>
                </a:gridCol>
                <a:gridCol w="2304020">
                  <a:extLst>
                    <a:ext uri="{9D8B030D-6E8A-4147-A177-3AD203B41FA5}">
                      <a16:colId xmlns:a16="http://schemas.microsoft.com/office/drawing/2014/main" val="888279007"/>
                    </a:ext>
                  </a:extLst>
                </a:gridCol>
                <a:gridCol w="2029937">
                  <a:extLst>
                    <a:ext uri="{9D8B030D-6E8A-4147-A177-3AD203B41FA5}">
                      <a16:colId xmlns:a16="http://schemas.microsoft.com/office/drawing/2014/main" val="3012104143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3929668421"/>
                    </a:ext>
                  </a:extLst>
                </a:gridCol>
                <a:gridCol w="2166978">
                  <a:extLst>
                    <a:ext uri="{9D8B030D-6E8A-4147-A177-3AD203B41FA5}">
                      <a16:colId xmlns:a16="http://schemas.microsoft.com/office/drawing/2014/main" val="1959490191"/>
                    </a:ext>
                  </a:extLst>
                </a:gridCol>
              </a:tblGrid>
              <a:tr h="564783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n_clients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  <a:p>
                      <a:pPr marL="0" marR="0" algn="ctr" fontAlgn="ctr">
                        <a:buNone/>
                      </a:pP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br>
                        <a:rPr lang="fa-IR" sz="1600" b="1" dirty="0">
                          <a:effectLst/>
                        </a:rPr>
                      </a:br>
                      <a:r>
                        <a:rPr lang="fa-IR" sz="1600" b="1" dirty="0">
                          <a:effectLst/>
                        </a:rPr>
                        <a:t>test_accuracy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test_precision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test_recal</a:t>
                      </a:r>
                      <a:r>
                        <a:rPr lang="en-US" sz="1600" b="1" dirty="0">
                          <a:effectLst/>
                        </a:rPr>
                        <a:t>l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b="1" dirty="0">
                          <a:effectLst/>
                        </a:rPr>
                        <a:t>test_f1</a:t>
                      </a:r>
                      <a:endParaRPr lang="fa-IR" sz="1600" b="1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70560016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0.9135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0.9199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0.9167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425063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20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0.9092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0.9050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0.9146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0.9098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6275648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50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0.8923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0.8857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0.9010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0.8933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18792662"/>
                  </a:ext>
                </a:extLst>
              </a:tr>
              <a:tr h="308384"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100</a:t>
                      </a:r>
                      <a:endParaRPr lang="fa-IR" sz="1600" b="1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0.8700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0.8578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>
                          <a:effectLst/>
                        </a:rPr>
                        <a:t>0.8874</a:t>
                      </a:r>
                      <a:endParaRPr lang="fa-IR" sz="1600" b="0" i="0">
                        <a:effectLst/>
                        <a:latin typeface="inheri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algn="ctr" fontAlgn="ctr">
                        <a:buNone/>
                      </a:pPr>
                      <a:r>
                        <a:rPr lang="fa-IR" sz="1600" dirty="0">
                          <a:effectLst/>
                        </a:rPr>
                        <a:t>0.8724</a:t>
                      </a:r>
                      <a:endParaRPr lang="fa-IR" sz="1600" b="0" i="0" dirty="0">
                        <a:effectLst/>
                        <a:latin typeface="inheri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745795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24272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124439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457709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D2FFB952-030F-FB63-4467-A96DED2D762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25C583CC-7579-9D6F-9B2D-F332353281D3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3EC615A9-F4CC-0A28-38E2-623EAC972A93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EDC576D-A93D-D47A-8864-B1C718D2AD89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3B6C58DF-BBA0-C093-1517-EB67E8B7CC2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8F5B88FA-9586-5A56-2283-047101C5EB80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8BB470B9-CDC5-1597-E9CB-F79CB78E5FF5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BE46EF6-CC0B-8868-CD07-D729A5D0094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55A91189-F5B4-3A35-EE58-B5EDD914070D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37ECBA8-E5F9-EB6B-0467-7350535CD2EE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5AD7587-C2FC-7D03-CB49-B15274114C66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8851DFD-8385-D22B-3D25-828B6FF24F10}"/>
              </a:ext>
            </a:extLst>
          </p:cNvPr>
          <p:cNvSpPr/>
          <p:nvPr/>
        </p:nvSpPr>
        <p:spPr>
          <a:xfrm>
            <a:off x="2255268" y="2755883"/>
            <a:ext cx="1920007" cy="144514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طرح تولید کلید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2323968" y="3210606"/>
            <a:ext cx="1790029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2323830" y="3685629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6345745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54691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F00663C5-5209-854B-C3FF-4596CC48D172}"/>
              </a:ext>
            </a:extLst>
          </p:cNvPr>
          <p:cNvSpPr/>
          <p:nvPr/>
        </p:nvSpPr>
        <p:spPr>
          <a:xfrm>
            <a:off x="6605478" y="1975387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6BD75C8C-8EB3-D1FA-B66C-CE8A7E278350}"/>
              </a:ext>
            </a:extLst>
          </p:cNvPr>
          <p:cNvSpPr/>
          <p:nvPr/>
        </p:nvSpPr>
        <p:spPr>
          <a:xfrm>
            <a:off x="6595551" y="3643745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9986E98-EDDB-D977-0B32-C9CFC9692EDC}"/>
              </a:ext>
            </a:extLst>
          </p:cNvPr>
          <p:cNvSpPr/>
          <p:nvPr/>
        </p:nvSpPr>
        <p:spPr>
          <a:xfrm>
            <a:off x="6605478" y="5799539"/>
            <a:ext cx="1974501" cy="416488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1A2CDEB-CE32-B3E1-577F-31D4638E5D89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60E33DF0-005B-C845-6626-8E874CCC406D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6019BF31-EA04-E9CE-BADD-54B59815E8EF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7F17B54C-3422-52A0-ED53-C92101A11B0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10569828-2A98-DFEE-0F38-5CEF23397F81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88E70745-2B03-FF32-A329-374A2F972A38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B7A808F4-03A8-B4E7-9175-6CF46FD39DA8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B6E06BDB-CC55-5508-4810-D10E5663906B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68696C7E-D55D-13D2-CE37-990FF27E29B2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7866082B-710E-2815-FA27-F412E30826A5}"/>
              </a:ext>
            </a:extLst>
          </p:cNvPr>
          <p:cNvSpPr/>
          <p:nvPr/>
        </p:nvSpPr>
        <p:spPr>
          <a:xfrm>
            <a:off x="6595552" y="1451519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A5D3BE1-3EA4-591D-D28F-4EC64BB5B80F}"/>
              </a:ext>
            </a:extLst>
          </p:cNvPr>
          <p:cNvSpPr/>
          <p:nvPr/>
        </p:nvSpPr>
        <p:spPr>
          <a:xfrm>
            <a:off x="6595552" y="3123544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2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0612A9B-F9D3-93A5-A11F-3800295AB731}"/>
              </a:ext>
            </a:extLst>
          </p:cNvPr>
          <p:cNvSpPr/>
          <p:nvPr/>
        </p:nvSpPr>
        <p:spPr>
          <a:xfrm>
            <a:off x="6605478" y="5277478"/>
            <a:ext cx="1974501" cy="45292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6497744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513127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9AC002-6970-267D-3107-706FF5E0B7CC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617703" y="4054841"/>
            <a:ext cx="179002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D7CC0C-9BF9-226F-957F-A29CB8D48A31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361ABFB-8897-69F3-4A09-171A9E357F05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9" name="Left Brace 18">
            <a:extLst>
              <a:ext uri="{FF2B5EF4-FFF2-40B4-BE49-F238E27FC236}">
                <a16:creationId xmlns:a16="http://schemas.microsoft.com/office/drawing/2014/main" id="{38AF4B90-C721-BF78-CE17-8D5E9FACC72E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0CEE2FE-6CF4-230B-3845-8BB5BE940500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A2EFE29-7D35-A628-100B-0505827EFE6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B6676C03-C7F5-04B9-06A0-4EB0F38F5C46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EDC56FA1-C33E-E35B-AA2F-8224451C6650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7F654E3-EF00-4246-3A11-36DC84B67C2B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ED22C67F-5A5B-FE53-97E5-F9D7466D9EA7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90536D73-A7E7-F2CC-15F6-4779C6130019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35D8FA8E-99E9-5119-AF80-67BE7B6A2294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89F4F7D9-398C-41BE-4624-7CC5C5288C25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CF12125-10CA-7CE6-40E3-9DB76AAA8356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28030831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799" y="357594"/>
            <a:ext cx="11651673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>
              <a:latin typeface="Vazir Light FD\"/>
            </a:endParaRP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6481E7B-80A8-0969-F552-7BA1A1146D3C}"/>
              </a:ext>
            </a:extLst>
          </p:cNvPr>
          <p:cNvSpPr/>
          <p:nvPr/>
        </p:nvSpPr>
        <p:spPr>
          <a:xfrm>
            <a:off x="1130687" y="3025413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8ADF811-51B5-7817-6BF4-A2552CA8C634}"/>
              </a:ext>
            </a:extLst>
          </p:cNvPr>
          <p:cNvSpPr/>
          <p:nvPr/>
        </p:nvSpPr>
        <p:spPr>
          <a:xfrm>
            <a:off x="5007630" y="3507452"/>
            <a:ext cx="1007279" cy="41648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200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sz="12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80F48B2C-DDFD-9A52-FC8F-B1AA9058A460}"/>
              </a:ext>
            </a:extLst>
          </p:cNvPr>
          <p:cNvCxnSpPr>
            <a:cxnSpLocks/>
            <a:stCxn id="11" idx="2"/>
            <a:endCxn id="17" idx="3"/>
          </p:cNvCxnSpPr>
          <p:nvPr/>
        </p:nvCxnSpPr>
        <p:spPr>
          <a:xfrm rot="5400000">
            <a:off x="4092278" y="4067356"/>
            <a:ext cx="1562409" cy="127557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3169DEED-DF11-A718-5776-77D477EA07E9}"/>
              </a:ext>
            </a:extLst>
          </p:cNvPr>
          <p:cNvSpPr/>
          <p:nvPr/>
        </p:nvSpPr>
        <p:spPr>
          <a:xfrm>
            <a:off x="2582718" y="5237061"/>
            <a:ext cx="1652976" cy="498576"/>
          </a:xfrm>
          <a:prstGeom prst="round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2000" dirty="0">
                <a:latin typeface="Vazir Light FD" panose="020B0604020202020204" charset="-78"/>
                <a:cs typeface="Vazir Light FD" panose="020B0604020202020204" charset="-78"/>
              </a:rPr>
              <a:t>رمزگشایی</a:t>
            </a:r>
            <a:endParaRPr lang="en-US" sz="20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3372520D-E393-502E-DF66-FCAE2F14511E}"/>
              </a:ext>
            </a:extLst>
          </p:cNvPr>
          <p:cNvCxnSpPr>
            <a:cxnSpLocks/>
            <a:stCxn id="17" idx="1"/>
            <a:endCxn id="12" idx="2"/>
          </p:cNvCxnSpPr>
          <p:nvPr/>
        </p:nvCxnSpPr>
        <p:spPr>
          <a:xfrm rot="10800000">
            <a:off x="1587888" y="3939813"/>
            <a:ext cx="994831" cy="1546536"/>
          </a:xfrm>
          <a:prstGeom prst="bentConnector2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483D94D7-1A13-72F0-4879-46ABA59D9980}"/>
              </a:ext>
            </a:extLst>
          </p:cNvPr>
          <p:cNvSpPr/>
          <p:nvPr/>
        </p:nvSpPr>
        <p:spPr>
          <a:xfrm>
            <a:off x="6619770" y="118389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1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4C5B434-6AD2-5720-46C6-8A59C689B7EB}"/>
              </a:ext>
            </a:extLst>
          </p:cNvPr>
          <p:cNvSpPr/>
          <p:nvPr/>
        </p:nvSpPr>
        <p:spPr>
          <a:xfrm>
            <a:off x="6624510" y="2884286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2</a:t>
            </a: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C87E4E6-1933-C9B1-ADEC-FEF8A20AB2FE}"/>
              </a:ext>
            </a:extLst>
          </p:cNvPr>
          <p:cNvSpPr/>
          <p:nvPr/>
        </p:nvSpPr>
        <p:spPr>
          <a:xfrm>
            <a:off x="6615309" y="5005992"/>
            <a:ext cx="1974501" cy="771670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خروجی احتمالاتی </a:t>
            </a:r>
            <a:r>
              <a:rPr lang="en-US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n</a:t>
            </a:r>
            <a:endParaRPr lang="fa-IR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  <a:p>
            <a:pPr algn="ctr" rtl="1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به صورت رمز شده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8AD02AE0-A3D4-644F-5B5E-3E783FEF8A29}"/>
              </a:ext>
            </a:extLst>
          </p:cNvPr>
          <p:cNvSpPr/>
          <p:nvPr/>
        </p:nvSpPr>
        <p:spPr>
          <a:xfrm>
            <a:off x="5970945" y="1537005"/>
            <a:ext cx="600836" cy="3928363"/>
          </a:xfrm>
          <a:prstGeom prst="leftBrace">
            <a:avLst>
              <a:gd name="adj1" fmla="val 63387"/>
              <a:gd name="adj2" fmla="val 35798"/>
            </a:avLst>
          </a:prstGeom>
          <a:ln w="349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EFCB8596-43DC-3526-56D5-7F701AA42AEE}"/>
              </a:ext>
            </a:extLst>
          </p:cNvPr>
          <p:cNvSpPr/>
          <p:nvPr/>
        </p:nvSpPr>
        <p:spPr>
          <a:xfrm>
            <a:off x="4968454" y="2449230"/>
            <a:ext cx="1007279" cy="977337"/>
          </a:xfrm>
          <a:prstGeom prst="rect">
            <a:avLst/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srgbClr val="000000"/>
                </a:solidFill>
                <a:latin typeface="Vazir Light FD" panose="020B0604020202020204" charset="-78"/>
                <a:cs typeface="Vazir Light FD" panose="020B0604020202020204" charset="-78"/>
              </a:rPr>
              <a:t>تجمیع احتمالات</a:t>
            </a:r>
            <a:endParaRPr lang="en-US" dirty="0">
              <a:solidFill>
                <a:srgbClr val="000000"/>
              </a:solidFill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4DB25CA6-56B3-8233-2516-E5F42F24CBF4}"/>
              </a:ext>
            </a:extLst>
          </p:cNvPr>
          <p:cNvSpPr/>
          <p:nvPr/>
        </p:nvSpPr>
        <p:spPr>
          <a:xfrm rot="16200000">
            <a:off x="9340068" y="173055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D99CECA9-0B50-8319-1B3F-8A3AF0725D02}"/>
              </a:ext>
            </a:extLst>
          </p:cNvPr>
          <p:cNvSpPr/>
          <p:nvPr/>
        </p:nvSpPr>
        <p:spPr>
          <a:xfrm rot="16200000">
            <a:off x="9379397" y="3856505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67D7A3E1-1A56-C72E-5BDB-B5C5FCB86CC1}"/>
              </a:ext>
            </a:extLst>
          </p:cNvPr>
          <p:cNvSpPr/>
          <p:nvPr/>
        </p:nvSpPr>
        <p:spPr>
          <a:xfrm rot="16200000">
            <a:off x="9342209" y="30546"/>
            <a:ext cx="1600301" cy="2934898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 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05666D11-D48D-1C50-ADDF-3174892BC26E}"/>
              </a:ext>
            </a:extLst>
          </p:cNvPr>
          <p:cNvSpPr/>
          <p:nvPr/>
        </p:nvSpPr>
        <p:spPr>
          <a:xfrm>
            <a:off x="9112693" y="76898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2B98E1D0-EE72-13B2-D1B5-0AE3DC3169DC}"/>
              </a:ext>
            </a:extLst>
          </p:cNvPr>
          <p:cNvSpPr/>
          <p:nvPr/>
        </p:nvSpPr>
        <p:spPr>
          <a:xfrm>
            <a:off x="9112693" y="1528245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محلی1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1" name="Rectangle: Rounded Corners 50">
            <a:extLst>
              <a:ext uri="{FF2B5EF4-FFF2-40B4-BE49-F238E27FC236}">
                <a16:creationId xmlns:a16="http://schemas.microsoft.com/office/drawing/2014/main" id="{3EDD0A9D-158C-6D62-6928-2AADA7EE0E53}"/>
              </a:ext>
            </a:extLst>
          </p:cNvPr>
          <p:cNvSpPr/>
          <p:nvPr/>
        </p:nvSpPr>
        <p:spPr>
          <a:xfrm>
            <a:off x="9070044" y="2478792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F375CCE5-A8EF-78A8-F555-34CBD380294B}"/>
              </a:ext>
            </a:extLst>
          </p:cNvPr>
          <p:cNvSpPr/>
          <p:nvPr/>
        </p:nvSpPr>
        <p:spPr>
          <a:xfrm>
            <a:off x="9070044" y="3228996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محلی2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918EE2E6-69FD-84F7-3CF4-D42EF00CEF1E}"/>
              </a:ext>
            </a:extLst>
          </p:cNvPr>
          <p:cNvSpPr/>
          <p:nvPr/>
        </p:nvSpPr>
        <p:spPr>
          <a:xfrm>
            <a:off x="9178689" y="4578671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مدل یادگیری ماشین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726984CF-5CFD-D524-ABFD-D3839D52588A}"/>
              </a:ext>
            </a:extLst>
          </p:cNvPr>
          <p:cNvSpPr/>
          <p:nvPr/>
        </p:nvSpPr>
        <p:spPr>
          <a:xfrm>
            <a:off x="9178689" y="5349428"/>
            <a:ext cx="2354093" cy="69494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4"/>
          </a:fillRef>
          <a:effectRef idx="1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مجموعه داده محلی</a:t>
            </a:r>
            <a:r>
              <a:rPr lang="en-US" dirty="0">
                <a:latin typeface="Vazir Light FD" panose="020B0604020202020204" charset="-78"/>
                <a:cs typeface="Vazir Light FD" panose="020B0604020202020204" charset="-78"/>
              </a:rPr>
              <a:t>n </a:t>
            </a:r>
          </a:p>
        </p:txBody>
      </p:sp>
    </p:spTree>
    <p:extLst>
      <p:ext uri="{BB962C8B-B14F-4D97-AF65-F5344CB8AC3E}">
        <p14:creationId xmlns:p14="http://schemas.microsoft.com/office/powerpoint/2010/main" val="5169355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2D54D-D1B6-0D54-CE7F-18B55D95C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AC254F6-B633-127B-0CA9-C88BDFBB6FDE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A3E9CEC-92AE-0961-8D8E-08EEA1AB42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2E555E67-EF78-AC60-6F24-701BA7FE8E8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7ED0672-AD97-B82D-B7D3-713088767799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4130916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11927" y="3764211"/>
            <a:ext cx="8575963" cy="1201095"/>
          </a:xfrm>
        </p:spPr>
        <p:txBody>
          <a:bodyPr>
            <a:normAutofit fontScale="925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طراحی و پیاده‌سازی پروتکل تجمیع میانگین وزنی محرمانه و احرازهویت‌ شده</a:t>
            </a:r>
            <a:endParaRPr lang="fa-IR" dirty="0">
              <a:solidFill>
                <a:schemeClr val="bg1"/>
              </a:solidFill>
              <a:effectLst/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4387258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A0698-F8B2-3185-0626-9C2BA65433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1D4F708-7F2F-3290-62BF-DFF280C87C7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484ECCE-ABAA-C254-22FE-130E137EAD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0599" y="272727"/>
            <a:ext cx="10001289" cy="774676"/>
          </a:xfrm>
        </p:spPr>
        <p:txBody>
          <a:bodyPr>
            <a:noAutofit/>
          </a:bodyPr>
          <a:lstStyle/>
          <a:p>
            <a:pPr algn="r"/>
            <a:r>
              <a:rPr lang="fa-IR" sz="3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قفل محکمی ساختیم، اما کلید را زیر گلدان گذاشتیم!</a:t>
            </a:r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8334658F-1A66-ECBC-A852-159B07A2766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68B2AC9B-B40B-17B0-A318-E2053EC53D9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68D26A4-9ECC-440D-12C5-F35395C0137A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BA34256C-198D-C261-38B0-6AAE13A5195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A29D8136-2516-B479-B802-41318CFFC423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493D6CF-75D8-8B89-D1E1-B74BE9D3EE6D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06846B73-D0F6-D70F-1E74-8234B8DC997F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DCD41EE2-9900-2E26-A5CB-219E3BC0807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DEC2329-7AC7-EE2F-4367-D9D2C7975D79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FD7B9EAB-0153-453B-6AB7-4E5A454495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86585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mc:AlternateContent xmlns:mc="http://schemas.openxmlformats.org/markup-compatibility/2006">
    <mc:Choice xmlns:p14="http://schemas.microsoft.com/office/powerpoint/2010/main"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 p14:presetBounceEnd="67000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 p14:presetBounceEnd="67000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67000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67000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Choice>
    <mc:Fallback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" presetClass="entr" presetSubtype="1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7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8" dur="1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2" presetClass="entr" presetSubtype="2" fill="hold" grpId="0" nodeType="withEffect">
                                      <p:stCondLst>
                                        <p:cond delay="15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1000" fill="hold"/>
                                            <p:tgtEl>
                                              <p:spTgt spid="3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4" fill="hold" grpId="0" nodeType="withEffect">
                                      <p:stCondLst>
                                        <p:cond delay="4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100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10" presetClass="entr" presetSubtype="0" fill="hold" grpId="0" nodeType="withEffect">
                                      <p:stCondLst>
                                        <p:cond delay="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19" dur="500"/>
                                            <p:tgtEl>
                                              <p:spTgt spid="14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0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1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2" dur="500"/>
                                            <p:tgtEl>
                                              <p:spTgt spid="15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3" presetID="10" presetClass="entr" presetSubtype="0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5" dur="500"/>
                                            <p:tgtEl>
                                              <p:spTgt spid="17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  <p:par>
                                    <p:cTn id="26" presetID="10" presetClass="entr" presetSubtype="0" fill="hold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7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fade">
                                          <p:cBhvr>
                                            <p:cTn id="28" dur="250"/>
                                            <p:tgtEl>
                                              <p:spTgt spid="19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 animBg="1"/>
          <p:bldP spid="3" grpId="0" animBg="1"/>
          <p:bldP spid="8" grpId="0" animBg="1"/>
          <p:bldP spid="14" grpId="0"/>
          <p:bldP spid="15" grpId="0"/>
          <p:bldP spid="17" grpId="0"/>
        </p:bldLst>
      </p:timing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AF8322-5BF3-6133-631B-F25064AE5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232B86D1-4155-EF90-5C96-1A50D8F400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8DFA77D-B9BB-1AB6-9E44-5013F9C3EF3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3F32879C-C2E9-D3F4-FE53-24F717102F2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ED5EBBE-04AC-752B-918E-7A94AB160E29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08888C14-6453-9FB6-AD57-A862066E5CB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1" name="Freeform 8">
            <a:extLst>
              <a:ext uri="{FF2B5EF4-FFF2-40B4-BE49-F238E27FC236}">
                <a16:creationId xmlns:a16="http://schemas.microsoft.com/office/drawing/2014/main" id="{C8FF9129-3108-EECC-EA59-E915337C4F01}"/>
              </a:ext>
            </a:extLst>
          </p:cNvPr>
          <p:cNvSpPr>
            <a:spLocks/>
          </p:cNvSpPr>
          <p:nvPr/>
        </p:nvSpPr>
        <p:spPr bwMode="auto">
          <a:xfrm>
            <a:off x="784603" y="871746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46" name="Title 1">
            <a:extLst>
              <a:ext uri="{FF2B5EF4-FFF2-40B4-BE49-F238E27FC236}">
                <a16:creationId xmlns:a16="http://schemas.microsoft.com/office/drawing/2014/main" id="{A0DE3E51-C2E2-E8C8-A6E4-22C9463FCBCD}"/>
              </a:ext>
            </a:extLst>
          </p:cNvPr>
          <p:cNvSpPr txBox="1">
            <a:spLocks/>
          </p:cNvSpPr>
          <p:nvPr/>
        </p:nvSpPr>
        <p:spPr>
          <a:xfrm>
            <a:off x="2287966" y="541452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D734ED-67AD-7418-C68B-669324EA2AD1}"/>
              </a:ext>
            </a:extLst>
          </p:cNvPr>
          <p:cNvSpPr txBox="1"/>
          <p:nvPr/>
        </p:nvSpPr>
        <p:spPr>
          <a:xfrm>
            <a:off x="5750991" y="552918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در این حالت کانال نا امن بوده و تمام فعالیت‌ها شنود می‌شود. طرح تا اینجا از امنیت کافی برخوردار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6E4E8130-DEC7-6F67-799B-682C593A81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0E4BF6D3-9106-2D97-8E5A-39A11832CCF6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BB44E512-4AD4-E36B-D89E-4DCE39F66C3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B8D973E-348A-CA73-9E7C-5BEA53A7E54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C78165F-CC3B-6E7C-2353-775B2DA82276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626AA9A2-0A9A-4F86-E46F-894C88347334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3D8A026-7C6E-84D7-C4D5-A8BDBFF499EC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E14939D0-83EE-4A0E-DD0A-A7DACD904946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7827A142-C040-9E4E-E315-4DE9DBBA5123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135448C5-58C4-DCCA-87CB-AD776EE803BC}"/>
              </a:ext>
            </a:extLst>
          </p:cNvPr>
          <p:cNvSpPr/>
          <p:nvPr/>
        </p:nvSpPr>
        <p:spPr>
          <a:xfrm>
            <a:off x="8300218" y="5331985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2EE1017-6217-01FB-7CF8-3FC8A675DDD8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3E14E3-9A73-0FEC-ECD8-839F0AA117D9}"/>
              </a:ext>
            </a:extLst>
          </p:cNvPr>
          <p:cNvSpPr txBox="1"/>
          <p:nvPr/>
        </p:nvSpPr>
        <p:spPr>
          <a:xfrm>
            <a:off x="5750991" y="1324614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امنیت این سناریو وابسته به امنیت اسکیم رمزنگاری  و تبادل کلید ما است.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66498625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589 -0.00718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294" y="-37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4000"/>
                            </p:stCondLst>
                            <p:childTnLst>
                              <p:par>
                                <p:cTn id="52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47109 0.00138 " pathEditMode="relative" rAng="0" ptsTypes="AA">
                                      <p:cBhvr>
                                        <p:cTn id="53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3542" y="-53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65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035A76-850F-B489-80F6-B51B5E48CC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1D1D8B86-E1C2-B130-1511-FF396D85892B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5E7E6C28-4FD3-5126-45E5-9EF3B2FBC236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B07F54F-637D-305D-2963-2F857D5347B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BCB2FBC-52C7-405D-910A-D69943A4B8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68B04A5F-FD29-A56D-A240-28ED5F624FE7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8924E8C2-B446-DDFF-2C16-C2DFF9DD18C5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690D996F-6953-F97E-3F0B-3A701B516561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BA25A369-6741-3A69-E632-9C3E35520CE7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4A50545-7A5A-F601-3D8F-D488DDCF9E0C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294A4E66-45E5-EDFA-C735-E038C7465DBF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18881C8-3F62-2AE9-1612-8A542E7C9B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86885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4AA73B-75A8-2F50-AECF-CBED619C2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4C6026A4-8A6D-EC9E-C71F-0332C3501C2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001E7E11-2870-42B9-0FE6-39722727EB1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A69B3AEA-E44F-DD9C-F091-6AE87712995B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A98DEF19-6DB3-2D84-3A5D-F3D08965FD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FD8C2EE2-40CC-A878-A867-316A2C190600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4BF8B9-8790-E5DE-8CC0-22407636B185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84B1F8A-D3B0-0112-3639-F73F2E81D3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18509FEA-2FB2-75A8-176E-FAA5CD6D43BF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8811D2FF-829A-8115-B78A-0E49A0B697FF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91AD488C-B5CD-96BA-8AD1-7A40FF581601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099E2DC-D8BF-4D53-FDBE-CD5B18BE2985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873D18D3-3A5C-AAFF-FE02-EE3AC02D3B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80E993CA-E55D-07B4-4349-F8F5A3DD947E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744777E7-E649-1EE7-64F6-EF04FBFADE3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FE3E80A7-C54C-7F1A-5C43-08A9E1B8FC5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C9004D0-B283-BF41-4BE0-E2C912779A3B}"/>
              </a:ext>
            </a:extLst>
          </p:cNvPr>
          <p:cNvSpPr/>
          <p:nvPr/>
        </p:nvSpPr>
        <p:spPr>
          <a:xfrm>
            <a:off x="5326816" y="3682872"/>
            <a:ext cx="1538368" cy="385584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36930C9E-7286-8155-B4D4-1319AE4DC437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AC4FD7A-2AFE-2A06-E889-419FC5F0B87B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76D268CF-032B-CC7C-EE48-84A557201A9A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3B0E35-93B5-A193-51C9-9BFCD66EC27A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</p:spTree>
    <p:extLst>
      <p:ext uri="{BB962C8B-B14F-4D97-AF65-F5344CB8AC3E}">
        <p14:creationId xmlns:p14="http://schemas.microsoft.com/office/powerpoint/2010/main" val="17250277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10599 -0.20764 " pathEditMode="relative" rAng="0" ptsTypes="AA">
                                      <p:cBhvr>
                                        <p:cTn id="42" dur="2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299" y="-1039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3500"/>
                            </p:stCondLst>
                            <p:childTnLst>
                              <p:par>
                                <p:cTn id="48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7 -2.59259E-6 L -0.12109 -0.23634 " pathEditMode="relative" rAng="0" ptsTypes="AA">
                                      <p:cBhvr>
                                        <p:cTn id="49" dur="2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6055" y="-11829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6000"/>
                            </p:stCondLst>
                            <p:childTnLst>
                              <p:par>
                                <p:cTn id="55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2279 0.24421 " pathEditMode="relative" rAng="0" ptsTypes="AA">
                                      <p:cBhvr>
                                        <p:cTn id="56" dur="20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133" y="1162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8000"/>
                            </p:stCondLst>
                            <p:childTnLst>
                              <p:par>
                                <p:cTn id="5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85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 animBg="1"/>
      <p:bldP spid="49" grpId="0"/>
      <p:bldP spid="52" grpId="0" animBg="1"/>
      <p:bldP spid="54" grpId="0" animBg="1"/>
      <p:bldP spid="56" grpId="0" animBg="1"/>
      <p:bldP spid="56" grpId="1" animBg="1"/>
      <p:bldP spid="58" grpId="0" animBg="1"/>
      <p:bldP spid="60" grpId="0" animBg="1"/>
      <p:bldP spid="64" grpId="0" animBg="1"/>
      <p:bldP spid="65" grpId="0" animBg="1"/>
      <p:bldP spid="65" grpId="1" animBg="1"/>
      <p:bldP spid="67" grpId="0" animBg="1"/>
      <p:bldP spid="68" grpId="0" animBg="1"/>
      <p:bldP spid="68" grpId="1" animBg="1"/>
      <p:bldP spid="69" grpId="0" animBg="1"/>
      <p:bldP spid="70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D1E72-8FDE-33BC-C714-7FD257AF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7AC9A753-84AA-D361-DD76-A6561A463A2D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BBAEFC29-EE18-55E7-A892-E5266F7441D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5EC7797-F46B-C18F-3F23-3F50B7A938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3699124B-0F20-285A-0B93-2023EDAC95C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473C10A3-E14D-FDF3-F78A-E8BB1CFA6CEC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9CEA4E1B-FC69-B29A-8824-2B9B751997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A5594683-C372-CE47-2F55-8F37299249BD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3E6313BA-8F54-C1BF-4A32-9B032A0BEF0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DBE66616-44CB-5547-D4C8-EB35FA99F1E2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2C9B657D-BE30-F666-9250-1E13F4B5864E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C7C527C-60A0-7537-14EF-1CA93F167280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E02EE3A9-2068-F7F5-6D5E-0807A879C691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DAC1708B-FF55-3DCA-89BD-AF96F618F8BA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43AA77CF-7CF0-492D-F16C-D4D65355EBE0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" name="Freeform 7">
            <a:extLst>
              <a:ext uri="{FF2B5EF4-FFF2-40B4-BE49-F238E27FC236}">
                <a16:creationId xmlns:a16="http://schemas.microsoft.com/office/drawing/2014/main" id="{DE45BD66-753B-5D91-4A3F-5E57F053696E}"/>
              </a:ext>
            </a:extLst>
          </p:cNvPr>
          <p:cNvSpPr>
            <a:spLocks/>
          </p:cNvSpPr>
          <p:nvPr/>
        </p:nvSpPr>
        <p:spPr bwMode="auto">
          <a:xfrm>
            <a:off x="766226" y="515055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56C518B-5C54-3ABC-3E91-DC23E1618926}"/>
              </a:ext>
            </a:extLst>
          </p:cNvPr>
          <p:cNvSpPr txBox="1">
            <a:spLocks/>
          </p:cNvSpPr>
          <p:nvPr/>
        </p:nvSpPr>
        <p:spPr>
          <a:xfrm>
            <a:off x="1456029" y="2551011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AF4933-7214-2546-907D-A91CFF4D9A8A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76E464F8-E345-945E-1244-029436FE88B8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D95154A-12AC-E1AF-0109-699D595E0109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729CC4A-5191-1760-0F5C-40C789A9DE67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68829BB-EEFB-F2AB-C676-DBE0D2AFDACF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7ED9E6-B1B3-8697-73BC-DF3D18E5D997}"/>
              </a:ext>
            </a:extLst>
          </p:cNvPr>
          <p:cNvSpPr txBox="1"/>
          <p:nvPr/>
        </p:nvSpPr>
        <p:spPr>
          <a:xfrm>
            <a:off x="4765964" y="552918"/>
            <a:ext cx="669383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با رصد کانال و دریافت کلید عمومی می‌تواند مقادیر دلخواه خود را رمزگذاری کرده و برای سرور ارسال کند.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5B9D8C-F98A-1DF8-E7BA-8F7CBAC52F0D}"/>
              </a:ext>
            </a:extLst>
          </p:cNvPr>
          <p:cNvSpPr txBox="1"/>
          <p:nvPr/>
        </p:nvSpPr>
        <p:spPr>
          <a:xfrm>
            <a:off x="5432283" y="1324614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می‌بایست ساختاری به منظور اهراز هویت پیام انجام شود تا از صحت اطلاعات ارسالی اطمینان حاصل شود.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2F513A5-9640-D6D1-1E94-4CBB0B031E29}"/>
              </a:ext>
            </a:extLst>
          </p:cNvPr>
          <p:cNvSpPr txBox="1"/>
          <p:nvPr/>
        </p:nvSpPr>
        <p:spPr>
          <a:xfrm>
            <a:off x="5406433" y="2082882"/>
            <a:ext cx="602751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تنها در صورت احراز هویت توسط الگوریتم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verify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پیام رمزشده مورد قبول سرور واقع خواهد شد.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30049856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3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70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0"/>
                            </p:stCondLst>
                            <p:childTnLst>
                              <p:par>
                                <p:cTn id="29" presetID="35" presetClass="path" presetSubtype="0" accel="50000" decel="5000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3264 " pathEditMode="relative" rAng="0" ptsTypes="AA">
                                      <p:cBhvr>
                                        <p:cTn id="30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81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95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3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CD4C9-2209-11BC-352C-AFD061F684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67C8FABA-5665-3A5C-6290-F6C041192ECE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2FE351DF-0EB3-041E-1F94-F666B222219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33E50BDF-5AA2-391D-E834-41CEBE15A1C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B93101FD-64FD-803E-7E4A-3482031DBCF3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79D723FD-A7A0-DFB0-C973-10E0D5F8828C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BA768326-B21C-436C-459D-3564D77B207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D4672C86-2968-2713-BDC3-CF004534F59A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45727B59-B65E-DF5B-91D2-491A66D862AD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F82DA73A-EBD9-B7D8-BDD9-157CB1F4996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443C6200-21F9-63FC-FDBC-C1C7B29AE91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D0544408-5C82-1CD6-0633-D752A126F8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6256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8C3239-24E5-9D15-6F8A-1111EAC98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811200B-9F29-3000-9418-448E885A40B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F0B3251-1AF2-30C1-E5A3-A1A23A108B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D40DF648-4991-05C2-F4AE-1043FE3225A3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1D0DC43-A752-B352-0590-60783C9A6A83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956B2155-FB28-E374-D7A0-B31948CB9D32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FF833EA6-6E95-A686-E046-1010F12C94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CD8052BB-1310-F97F-48B8-461465ADEDC3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5CC2418F-D7D9-464F-3A7C-100D94ED985C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77814AFB-F14C-FD6C-3C35-CBC0CEF1833D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AF3B5087-F250-8B7F-06C9-742CDDCAD5F8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EB77B850-1B9A-7F52-BDE5-0020C54F86F1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D1CA0DED-2BA2-CEE5-6B25-4D93B677938A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704AFD9-3F4E-2C7E-EAEB-3E11AC7F60E2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983B9D9C-C82C-8FBA-9633-C972198802B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خصمانه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11F89D1E-EDD7-2844-AE02-BBD933839CEB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52F9D0D-CAE5-9501-C4B8-B202023B0066}"/>
              </a:ext>
            </a:extLst>
          </p:cNvPr>
          <p:cNvSpPr/>
          <p:nvPr/>
        </p:nvSpPr>
        <p:spPr>
          <a:xfrm>
            <a:off x="8300219" y="5703053"/>
            <a:ext cx="1538368" cy="336527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62B36BB-8EE5-7AB4-1C46-E36260797C1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D9EA01-7730-5E36-6EEF-2344119CC496}"/>
              </a:ext>
            </a:extLst>
          </p:cNvPr>
          <p:cNvSpPr/>
          <p:nvPr/>
        </p:nvSpPr>
        <p:spPr>
          <a:xfrm>
            <a:off x="8300218" y="6063199"/>
            <a:ext cx="1538368" cy="326741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امضاع 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810C319-A9D7-A376-5F3D-A6BDDCFDF243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65E6DCE-3D3D-4EC4-EAF7-C565B19E04C8}"/>
              </a:ext>
            </a:extLst>
          </p:cNvPr>
          <p:cNvSpPr/>
          <p:nvPr/>
        </p:nvSpPr>
        <p:spPr>
          <a:xfrm>
            <a:off x="5326815" y="3682872"/>
            <a:ext cx="1538369" cy="312268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رمزشده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68373C-C6C6-47C1-49DF-5F48073E64B3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25AC2A02-4130-E658-0078-21ABDFE67802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E12ABA26-6E10-6292-583D-FF4DE0C4DE8C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</p:spTree>
    <p:extLst>
      <p:ext uri="{BB962C8B-B14F-4D97-AF65-F5344CB8AC3E}">
        <p14:creationId xmlns:p14="http://schemas.microsoft.com/office/powerpoint/2010/main" val="13493414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500"/>
                            </p:stCondLst>
                            <p:childTnLst>
                              <p:par>
                                <p:cTn id="1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5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3500"/>
                            </p:stCondLst>
                            <p:childTnLst>
                              <p:par>
                                <p:cTn id="21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22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5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35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-0.24388 -0.05069 " pathEditMode="relative" rAng="0" ptsTypes="AA">
                                      <p:cBhvr>
                                        <p:cTn id="28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1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7500"/>
                            </p:stCondLst>
                            <p:childTnLst>
                              <p:par>
                                <p:cTn id="30" presetID="10" presetClass="exit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0"/>
                            </p:stCondLst>
                            <p:childTnLst>
                              <p:par>
                                <p:cTn id="34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1 L 0 0.2419 " pathEditMode="relative" rAng="0" ptsTypes="AA">
                                      <p:cBhvr>
                                        <p:cTn id="3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3" y="1150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35" presetClass="path" presetSubtype="0" accel="50000" decel="5000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.24722 L -0.225 0.26019 " pathEditMode="relative" rAng="0" ptsTypes="AA">
                                      <p:cBhvr>
                                        <p:cTn id="45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64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125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2" animBg="1"/>
      <p:bldP spid="14" grpId="0" animBg="1"/>
      <p:bldP spid="14" grpId="1" animBg="1"/>
      <p:bldP spid="16" grpId="0" animBg="1"/>
      <p:bldP spid="2" grpId="0" animBg="1"/>
      <p:bldP spid="2" grpId="1" animBg="1"/>
      <p:bldP spid="2" grpId="2" animBg="1"/>
      <p:bldP spid="3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49A4D-6450-F716-0331-3C4D250A0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614B964-7C97-F5F8-B3CC-B83A0DBE1A3F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90AE11D-5C95-6C26-1FC0-C84B56C38E6E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BCE6EB25-E6D4-8AC9-BF63-9CFBC9630951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47F3A1C-679A-9787-4862-E4EE393982C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4F63A4C1-CC0E-A4D5-6771-D47DB77358ED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D0D980C9-5026-A23C-2EAA-301ADEC7D70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BD4880D-B83B-DA34-BFC6-D49AF9E2176F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0F8BD60-1A07-80CF-10B8-28CB37BB14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421E2CE-9475-F42C-EE15-ED79E6890E8E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2D12073-6CC7-29E7-590F-17466152D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B6F74115-EB59-E6DB-D5AC-60A6103A5B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b="0" i="0" smtClean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2E52F7B-B73D-B6DD-1151-FF72ED38D3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461665"/>
              </a:xfrm>
              <a:prstGeom prst="rect">
                <a:avLst/>
              </a:prstGeom>
              <a:blipFill>
                <a:blip r:embed="rId6"/>
                <a:stretch>
                  <a:fillRect b="-2632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sup>
                          </m:sSup>
                          <m:sSubSup>
                            <m:sSubSup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p>
                          </m:sSubSup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p>
                      </m:sSup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sz="2400" i="1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𝑢</m:t>
                                  </m:r>
                                </m:e>
                                <m:sub>
                                  <m:r>
                                    <a:rPr lang="fa-IR" sz="2400" i="0">
                                      <a:solidFill>
                                        <a:srgbClr val="0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d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0925CD5-A07D-AA87-0F46-89D07C82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sz="2400" i="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50B102E4-265F-0F55-FF63-AB0C10A4EA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2510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2" grpId="0"/>
      <p:bldP spid="24" grpId="0"/>
      <p:bldP spid="27" grpId="0"/>
      <p:bldP spid="29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7B2FBC-B7DE-EA8C-DFFA-110C4BE1A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F30A2A2-F05E-7734-84D6-BC39EB237CE5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ADC1B990-BCBB-9E5C-FF6A-1C599AC4687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61F881C2-F0A9-F5EB-43E8-B6E071FF1FC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EDB3FB77-A111-364C-C4BA-A5DD1A9EADF5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38082173-36AF-FE04-20C0-7A2561862F88}"/>
              </a:ext>
            </a:extLst>
          </p:cNvPr>
          <p:cNvSpPr/>
          <p:nvPr/>
        </p:nvSpPr>
        <p:spPr>
          <a:xfrm>
            <a:off x="5638799" y="64543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4" name="Freeform 6">
            <a:extLst>
              <a:ext uri="{FF2B5EF4-FFF2-40B4-BE49-F238E27FC236}">
                <a16:creationId xmlns:a16="http://schemas.microsoft.com/office/drawing/2014/main" id="{FBF46C5F-6707-5805-842D-2C1EA2437979}"/>
              </a:ext>
            </a:extLst>
          </p:cNvPr>
          <p:cNvSpPr>
            <a:spLocks/>
          </p:cNvSpPr>
          <p:nvPr/>
        </p:nvSpPr>
        <p:spPr bwMode="auto">
          <a:xfrm>
            <a:off x="832229" y="5415768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31A308E-8527-DDBC-098C-C6A0A39BB769}"/>
              </a:ext>
            </a:extLst>
          </p:cNvPr>
          <p:cNvSpPr txBox="1">
            <a:spLocks/>
          </p:cNvSpPr>
          <p:nvPr/>
        </p:nvSpPr>
        <p:spPr>
          <a:xfrm>
            <a:off x="-178252" y="6364557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FF3BE1E-463A-4930-F8D5-A78D86DD58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49879" y="2488532"/>
            <a:ext cx="1292241" cy="1292241"/>
          </a:xfrm>
          <a:prstGeom prst="rect">
            <a:avLst/>
          </a:prstGeom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D0989AE-F9CE-297F-E5BF-AB6F89F76AE5}"/>
              </a:ext>
            </a:extLst>
          </p:cNvPr>
          <p:cNvSpPr/>
          <p:nvPr/>
        </p:nvSpPr>
        <p:spPr>
          <a:xfrm>
            <a:off x="5638799" y="5298165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/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z="2400" i="1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p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sz="2400" i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410A2F9-186E-7C51-41F2-DF49FDCF8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0261" y="410783"/>
                <a:ext cx="6060407" cy="493405"/>
              </a:xfrm>
              <a:prstGeom prst="rect">
                <a:avLst/>
              </a:prstGeom>
              <a:blipFill>
                <a:blip r:embed="rId4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/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240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a-IR" sz="2400" i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a-IR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CD380EE-35D0-5293-0BB0-10016596D2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26719" y="1670443"/>
                <a:ext cx="6241472" cy="461665"/>
              </a:xfrm>
              <a:prstGeom prst="rect">
                <a:avLst/>
              </a:prstGeom>
              <a:blipFill>
                <a:blip r:embed="rId5"/>
                <a:stretch>
                  <a:fillRect b="-3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/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sz="32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sz="3200" b="0" i="0" smtClean="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a-IR" sz="3200" b="0" i="0" smtClean="0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sz="2400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sz="2400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</m:t>
                          </m:r>
                        </m:sup>
                      </m:sSup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242F455-2731-6A0A-3894-BF1A97EC5A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3814805"/>
                <a:ext cx="6241472" cy="57342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/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2400" i="1" smtClean="0">
                          <a:solidFill>
                            <a:srgbClr val="000000"/>
                          </a:solidFill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𝑚</m:t>
                                  </m:r>
                                </m:sup>
                              </m:sSup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𝑟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</m:t>
                          </m:r>
                        </m:sup>
                      </m:sSup>
                      <m:r>
                        <a:rPr lang="en-US" sz="2400" i="1">
                          <a:solidFill>
                            <a:srgbClr val="000000"/>
                          </a:solidFill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𝑦</m:t>
                          </m:r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𝑤𝑚</m:t>
                          </m:r>
                        </m:sup>
                      </m:sSup>
                      <m:sSup>
                        <m:sSup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400" i="1">
                                  <a:solidFill>
                                    <a:srgbClr val="000000"/>
                                  </a:solidFill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𝑢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solidFill>
                                        <a:srgbClr val="000000"/>
                                      </a:solidFill>
                                    </a:rPr>
                                    <m:t>𝑤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400" i="1">
                              <a:solidFill>
                                <a:srgbClr val="000000"/>
                              </a:solidFill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2FC1E7D-06DF-D310-5784-D61A04AD23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75263" y="4521607"/>
                <a:ext cx="6241472" cy="461665"/>
              </a:xfrm>
              <a:prstGeom prst="rect">
                <a:avLst/>
              </a:prstGeom>
              <a:blipFill>
                <a:blip r:embed="rId7"/>
                <a:stretch>
                  <a:fillRect b="-1066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/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≡</m:t>
                      </m:r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sz="240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sz="2400" dirty="0">
                  <a:solidFill>
                    <a:srgbClr val="000000"/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79ACA0F-4C24-769D-7317-6023960E0B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18299" y="5530608"/>
                <a:ext cx="6241472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81666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4" grpId="0"/>
      <p:bldP spid="27" grpId="0"/>
      <p:bldP spid="2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721DC-4541-493A-EA8F-65A9076A9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F4CD2174-BDA6-2F7A-82DD-49F04E2F3FD6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6F20902F-CF22-90D5-375C-5E2F0C46DD4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E100D78E-155F-DF65-4D50-0DA49D8BEC7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ED86E21-9D1A-A8C8-95B2-AD28B3BC4345}"/>
              </a:ext>
            </a:extLst>
          </p:cNvPr>
          <p:cNvSpPr/>
          <p:nvPr/>
        </p:nvSpPr>
        <p:spPr>
          <a:xfrm>
            <a:off x="2445673" y="3888193"/>
            <a:ext cx="7536872" cy="2527185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 w="38100"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34" name="Subtitle 2">
            <a:extLst>
              <a:ext uri="{FF2B5EF4-FFF2-40B4-BE49-F238E27FC236}">
                <a16:creationId xmlns:a16="http://schemas.microsoft.com/office/drawing/2014/main" id="{141BF949-7F83-EFFA-3105-29C7903272D6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85FC019-429E-3443-C08F-31F2631B6B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1334" y="2503997"/>
            <a:ext cx="1292241" cy="1292241"/>
          </a:xfrm>
          <a:prstGeom prst="rect">
            <a:avLst/>
          </a:prstGeom>
        </p:spPr>
      </p:pic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5A41DD83-1FEF-C116-5113-418EC6FCCDDE}"/>
              </a:ext>
            </a:extLst>
          </p:cNvPr>
          <p:cNvSpPr/>
          <p:nvPr/>
        </p:nvSpPr>
        <p:spPr>
          <a:xfrm>
            <a:off x="1108364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سرور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A6DFFE92-77AC-6FDE-55BF-9CFC814E7547}"/>
              </a:ext>
            </a:extLst>
          </p:cNvPr>
          <p:cNvSpPr/>
          <p:nvPr/>
        </p:nvSpPr>
        <p:spPr>
          <a:xfrm>
            <a:off x="2598147" y="3995140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تولید کلید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6111B5CD-B1EA-1DC9-B78F-69B3DDA7B079}"/>
              </a:ext>
            </a:extLst>
          </p:cNvPr>
          <p:cNvSpPr/>
          <p:nvPr/>
        </p:nvSpPr>
        <p:spPr>
          <a:xfrm>
            <a:off x="8300218" y="4857689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رمزگذاری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C25B5C32-AE0B-D056-44E7-7DE9B47B7857}"/>
              </a:ext>
            </a:extLst>
          </p:cNvPr>
          <p:cNvSpPr/>
          <p:nvPr/>
        </p:nvSpPr>
        <p:spPr>
          <a:xfrm>
            <a:off x="2598147" y="5879078"/>
            <a:ext cx="1538369" cy="385585"/>
          </a:xfrm>
          <a:prstGeom prst="roundRect">
            <a:avLst/>
          </a:prstGeom>
          <a:ln/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رمزگشایی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22E15AA8-FE80-D914-B40D-371948B82E2F}"/>
              </a:ext>
            </a:extLst>
          </p:cNvPr>
          <p:cNvSpPr/>
          <p:nvPr/>
        </p:nvSpPr>
        <p:spPr>
          <a:xfrm>
            <a:off x="10465762" y="4887066"/>
            <a:ext cx="914400" cy="9144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کلاینت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AB5709AF-B74D-31B9-40B4-E3A37E390D82}"/>
              </a:ext>
            </a:extLst>
          </p:cNvPr>
          <p:cNvSpPr/>
          <p:nvPr/>
        </p:nvSpPr>
        <p:spPr>
          <a:xfrm>
            <a:off x="766226" y="4454579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خصوصی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7" name="Rectangle: Rounded Corners 66">
            <a:extLst>
              <a:ext uri="{FF2B5EF4-FFF2-40B4-BE49-F238E27FC236}">
                <a16:creationId xmlns:a16="http://schemas.microsoft.com/office/drawing/2014/main" id="{1E113017-AC87-A506-C27E-ABE92BB827E5}"/>
              </a:ext>
            </a:extLst>
          </p:cNvPr>
          <p:cNvSpPr/>
          <p:nvPr/>
        </p:nvSpPr>
        <p:spPr>
          <a:xfrm>
            <a:off x="10056969" y="5871067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ACAD6F20-3218-B63E-90E0-B110F413C5A6}"/>
              </a:ext>
            </a:extLst>
          </p:cNvPr>
          <p:cNvSpPr/>
          <p:nvPr/>
        </p:nvSpPr>
        <p:spPr>
          <a:xfrm>
            <a:off x="771393" y="5956862"/>
            <a:ext cx="1538369" cy="334385"/>
          </a:xfrm>
          <a:prstGeom prst="roundRect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پیام اصلی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0022641-E2A6-7EAB-0DCF-C6CE73469464}"/>
              </a:ext>
            </a:extLst>
          </p:cNvPr>
          <p:cNvSpPr/>
          <p:nvPr/>
        </p:nvSpPr>
        <p:spPr>
          <a:xfrm>
            <a:off x="2586753" y="4501482"/>
            <a:ext cx="1538368" cy="38558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latin typeface="Vazir Light FD" panose="020B0604020202020204" charset="-78"/>
                <a:cs typeface="Vazir Light FD" panose="020B0604020202020204" charset="-78"/>
              </a:rPr>
              <a:t>کلید عمومی</a:t>
            </a:r>
            <a:endParaRPr lang="en-US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7042F7D-7CD0-CCF9-756F-D453C3E3BC4E}"/>
              </a:ext>
            </a:extLst>
          </p:cNvPr>
          <p:cNvSpPr/>
          <p:nvPr/>
        </p:nvSpPr>
        <p:spPr>
          <a:xfrm>
            <a:off x="8300219" y="5703053"/>
            <a:ext cx="1538368" cy="588194"/>
          </a:xfrm>
          <a:prstGeom prst="roundRect">
            <a:avLst/>
          </a:prstGeom>
          <a:solidFill>
            <a:srgbClr val="60A500"/>
          </a:solidFill>
          <a:ln>
            <a:solidFill>
              <a:srgbClr val="60A500"/>
            </a:solidFill>
          </a:ln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600" dirty="0">
                <a:latin typeface="Vazir Light FD" panose="020B0604020202020204" charset="-78"/>
                <a:cs typeface="Vazir Light FD" panose="020B0604020202020204" charset="-78"/>
              </a:rPr>
              <a:t>بسته پیام درهم‌سازی شده</a:t>
            </a:r>
            <a:endParaRPr lang="en-US" sz="16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81271246-5ABF-2961-E088-6D9EC1E49748}"/>
              </a:ext>
            </a:extLst>
          </p:cNvPr>
          <p:cNvSpPr/>
          <p:nvPr/>
        </p:nvSpPr>
        <p:spPr>
          <a:xfrm>
            <a:off x="8300218" y="5274571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امضا</a:t>
            </a:r>
            <a:endParaRPr lang="en-US" sz="1400" dirty="0">
              <a:latin typeface="Vazir Light FD" panose="020B0604020202020204" charset="-78"/>
              <a:cs typeface="Vazir Light FD" panose="020B0604020202020204" charset="-78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A9F2B66-5D4C-3C47-C173-0B76F15BDE67}"/>
              </a:ext>
            </a:extLst>
          </p:cNvPr>
          <p:cNvSpPr/>
          <p:nvPr/>
        </p:nvSpPr>
        <p:spPr>
          <a:xfrm>
            <a:off x="5326815" y="4958682"/>
            <a:ext cx="1538369" cy="385584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/>
            <a:r>
              <a:rPr lang="fa-IR" sz="1400" dirty="0">
                <a:latin typeface="Vazir Light FD" panose="020B0604020202020204" charset="-78"/>
                <a:cs typeface="Vazir Light FD" panose="020B0604020202020204" charset="-78"/>
              </a:rPr>
              <a:t>الگوریتم </a:t>
            </a:r>
            <a:r>
              <a:rPr lang="en-US" sz="1400" dirty="0">
                <a:latin typeface="Vazir Light FD" panose="020B0604020202020204" charset="-78"/>
                <a:cs typeface="Vazir Light FD" panose="020B0604020202020204" charset="-78"/>
              </a:rPr>
              <a:t>verify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47C081-9ABE-10AF-43E3-C11315990131}"/>
              </a:ext>
            </a:extLst>
          </p:cNvPr>
          <p:cNvSpPr txBox="1"/>
          <p:nvPr/>
        </p:nvSpPr>
        <p:spPr>
          <a:xfrm>
            <a:off x="5816373" y="652548"/>
            <a:ext cx="57088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نیروی متخاصم پیامی روی کانال ارسال نمی‌کند. اما می‌تواند پیام‌های ارسال شده توسط سایر کلاینت‌ها را تغییر دهد.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  <p:sp>
        <p:nvSpPr>
          <p:cNvPr id="17" name="Freeform 6">
            <a:extLst>
              <a:ext uri="{FF2B5EF4-FFF2-40B4-BE49-F238E27FC236}">
                <a16:creationId xmlns:a16="http://schemas.microsoft.com/office/drawing/2014/main" id="{D2F158CA-5206-7070-FC4E-DB60E3B9E5C4}"/>
              </a:ext>
            </a:extLst>
          </p:cNvPr>
          <p:cNvSpPr>
            <a:spLocks/>
          </p:cNvSpPr>
          <p:nvPr/>
        </p:nvSpPr>
        <p:spPr bwMode="auto">
          <a:xfrm>
            <a:off x="1166952" y="44177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BA4F3237-C695-F114-9315-9ECAA8026364}"/>
              </a:ext>
            </a:extLst>
          </p:cNvPr>
          <p:cNvSpPr txBox="1">
            <a:spLocks/>
          </p:cNvSpPr>
          <p:nvPr/>
        </p:nvSpPr>
        <p:spPr>
          <a:xfrm>
            <a:off x="156471" y="1390561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336BC59-728F-B07C-BF00-F3D2E00772CE}"/>
              </a:ext>
            </a:extLst>
          </p:cNvPr>
          <p:cNvSpPr txBox="1"/>
          <p:nvPr/>
        </p:nvSpPr>
        <p:spPr>
          <a:xfrm>
            <a:off x="5818342" y="1691830"/>
            <a:ext cx="57088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 rtl="1"/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پیام و امضاع را در یک بسته پیام قرار داده و با استفاده از توابع درهم‌ساز بسته را </a:t>
            </a:r>
            <a:r>
              <a:rPr lang="en-US" sz="2000" dirty="0">
                <a:latin typeface="Shabnam" panose="020B0603030804020204" pitchFamily="34" charset="-78"/>
                <a:cs typeface="Shabnam" panose="020B0603030804020204" pitchFamily="34" charset="-78"/>
              </a:rPr>
              <a:t>Hash</a:t>
            </a:r>
            <a:r>
              <a:rPr lang="fa-IR" sz="2000" dirty="0">
                <a:latin typeface="Shabnam" panose="020B0603030804020204" pitchFamily="34" charset="-78"/>
                <a:cs typeface="Shabnam" panose="020B0603030804020204" pitchFamily="34" charset="-78"/>
              </a:rPr>
              <a:t> می‌کنیم.</a:t>
            </a:r>
            <a:endParaRPr lang="en-US" sz="2000" dirty="0">
              <a:latin typeface="Shabnam" panose="020B0603030804020204" pitchFamily="34" charset="-78"/>
              <a:cs typeface="Shabnam" panose="020B0603030804020204" pitchFamily="34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21927637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63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-7.40741E-7 L 0.46901 -0.0125 " pathEditMode="relative" rAng="0" ptsTypes="AA">
                                      <p:cBhvr>
                                        <p:cTn id="10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3451" y="-62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3000"/>
                            </p:stCondLst>
                            <p:childTnLst>
                              <p:par>
                                <p:cTn id="16" presetID="35" presetClass="path" presetSubtype="0" accel="50000" decel="50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00026 0.0118 L -0.24388 -0.04908 " pathEditMode="relative" rAng="0" ptsTypes="AA">
                                      <p:cBhvr>
                                        <p:cTn id="17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2188" y="-30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500"/>
                            </p:stCondLst>
                            <p:childTnLst>
                              <p:par>
                                <p:cTn id="23" presetID="35" presetClass="path" presetSubtype="0" accel="50000" decel="5000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0.24388 -0.04908 L -0.46888 -0.06621 " pathEditMode="relative" rAng="0" ptsTypes="AA">
                                      <p:cBhvr>
                                        <p:cTn id="24" dur="2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1250" y="-85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7500"/>
                            </p:stCondLst>
                            <p:childTnLst>
                              <p:par>
                                <p:cTn id="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80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9" grpId="0" animBg="1"/>
      <p:bldP spid="10" grpId="0" animBg="1"/>
      <p:bldP spid="10" grpId="1" animBg="1"/>
      <p:bldP spid="11" grpId="0" animBg="1"/>
      <p:bldP spid="11" grpId="1" animBg="1"/>
      <p:bldP spid="11" grpId="3" animBg="1"/>
      <p:bldP spid="16" grpId="0" animBg="1"/>
      <p:bldP spid="5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B7873E-0AF8-9060-B83E-BB3FD45E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E8D7827B-4F08-A4D7-9917-0CC4D5DEDC22}"/>
              </a:ext>
            </a:extLst>
          </p:cNvPr>
          <p:cNvSpPr/>
          <p:nvPr/>
        </p:nvSpPr>
        <p:spPr>
          <a:xfrm>
            <a:off x="522237" y="350667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0E12F594-27FA-428F-7A7A-83C870187325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7507BD5D-57A2-7E41-CFBE-3BF343F4D66C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DD7F8298-21E3-5203-76FC-095FE3BB4764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" name="Freeform 6">
            <a:extLst>
              <a:ext uri="{FF2B5EF4-FFF2-40B4-BE49-F238E27FC236}">
                <a16:creationId xmlns:a16="http://schemas.microsoft.com/office/drawing/2014/main" id="{A0AD988A-09FD-1CBC-8620-1342439C8873}"/>
              </a:ext>
            </a:extLst>
          </p:cNvPr>
          <p:cNvSpPr>
            <a:spLocks/>
          </p:cNvSpPr>
          <p:nvPr/>
        </p:nvSpPr>
        <p:spPr bwMode="auto">
          <a:xfrm>
            <a:off x="4240319" y="4663482"/>
            <a:ext cx="2324100" cy="871538"/>
          </a:xfrm>
          <a:custGeom>
            <a:avLst/>
            <a:gdLst>
              <a:gd name="T0" fmla="*/ 611 w 611"/>
              <a:gd name="T1" fmla="*/ 148 h 229"/>
              <a:gd name="T2" fmla="*/ 161 w 611"/>
              <a:gd name="T3" fmla="*/ 110 h 229"/>
              <a:gd name="T4" fmla="*/ 113 w 611"/>
              <a:gd name="T5" fmla="*/ 158 h 229"/>
              <a:gd name="T6" fmla="*/ 136 w 611"/>
              <a:gd name="T7" fmla="*/ 181 h 229"/>
              <a:gd name="T8" fmla="*/ 0 w 611"/>
              <a:gd name="T9" fmla="*/ 217 h 229"/>
              <a:gd name="T10" fmla="*/ 36 w 611"/>
              <a:gd name="T11" fmla="*/ 81 h 229"/>
              <a:gd name="T12" fmla="*/ 58 w 611"/>
              <a:gd name="T13" fmla="*/ 103 h 229"/>
              <a:gd name="T14" fmla="*/ 106 w 611"/>
              <a:gd name="T15" fmla="*/ 55 h 229"/>
              <a:gd name="T16" fmla="*/ 161 w 611"/>
              <a:gd name="T17" fmla="*/ 0 h 229"/>
              <a:gd name="T18" fmla="*/ 187 w 611"/>
              <a:gd name="T19" fmla="*/ 29 h 229"/>
              <a:gd name="T20" fmla="*/ 572 w 611"/>
              <a:gd name="T21" fmla="*/ 80 h 229"/>
              <a:gd name="T22" fmla="*/ 611 w 611"/>
              <a:gd name="T23" fmla="*/ 148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</a:cxnLst>
            <a:rect l="0" t="0" r="r" b="b"/>
            <a:pathLst>
              <a:path w="611" h="229">
                <a:moveTo>
                  <a:pt x="611" y="148"/>
                </a:moveTo>
                <a:cubicBezTo>
                  <a:pt x="470" y="229"/>
                  <a:pt x="290" y="216"/>
                  <a:pt x="161" y="110"/>
                </a:cubicBezTo>
                <a:cubicBezTo>
                  <a:pt x="113" y="158"/>
                  <a:pt x="113" y="158"/>
                  <a:pt x="113" y="158"/>
                </a:cubicBezTo>
                <a:cubicBezTo>
                  <a:pt x="136" y="181"/>
                  <a:pt x="136" y="181"/>
                  <a:pt x="136" y="181"/>
                </a:cubicBezTo>
                <a:cubicBezTo>
                  <a:pt x="0" y="217"/>
                  <a:pt x="0" y="217"/>
                  <a:pt x="0" y="217"/>
                </a:cubicBezTo>
                <a:cubicBezTo>
                  <a:pt x="36" y="81"/>
                  <a:pt x="36" y="81"/>
                  <a:pt x="36" y="81"/>
                </a:cubicBezTo>
                <a:cubicBezTo>
                  <a:pt x="58" y="103"/>
                  <a:pt x="58" y="103"/>
                  <a:pt x="58" y="103"/>
                </a:cubicBezTo>
                <a:cubicBezTo>
                  <a:pt x="106" y="55"/>
                  <a:pt x="106" y="55"/>
                  <a:pt x="106" y="55"/>
                </a:cubicBezTo>
                <a:cubicBezTo>
                  <a:pt x="161" y="0"/>
                  <a:pt x="161" y="0"/>
                  <a:pt x="161" y="0"/>
                </a:cubicBezTo>
                <a:cubicBezTo>
                  <a:pt x="169" y="10"/>
                  <a:pt x="178" y="20"/>
                  <a:pt x="187" y="29"/>
                </a:cubicBezTo>
                <a:cubicBezTo>
                  <a:pt x="291" y="133"/>
                  <a:pt x="450" y="150"/>
                  <a:pt x="572" y="80"/>
                </a:cubicBezTo>
                <a:lnTo>
                  <a:pt x="611" y="148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 7">
            <a:extLst>
              <a:ext uri="{FF2B5EF4-FFF2-40B4-BE49-F238E27FC236}">
                <a16:creationId xmlns:a16="http://schemas.microsoft.com/office/drawing/2014/main" id="{F15B80CE-9E5B-10AD-062E-FB1D41E559C7}"/>
              </a:ext>
            </a:extLst>
          </p:cNvPr>
          <p:cNvSpPr>
            <a:spLocks/>
          </p:cNvSpPr>
          <p:nvPr/>
        </p:nvSpPr>
        <p:spPr bwMode="auto">
          <a:xfrm>
            <a:off x="6561244" y="3158532"/>
            <a:ext cx="871537" cy="2327275"/>
          </a:xfrm>
          <a:custGeom>
            <a:avLst/>
            <a:gdLst>
              <a:gd name="T0" fmla="*/ 81 w 229"/>
              <a:gd name="T1" fmla="*/ 575 h 611"/>
              <a:gd name="T2" fmla="*/ 103 w 229"/>
              <a:gd name="T3" fmla="*/ 553 h 611"/>
              <a:gd name="T4" fmla="*/ 0 w 229"/>
              <a:gd name="T5" fmla="*/ 450 h 611"/>
              <a:gd name="T6" fmla="*/ 29 w 229"/>
              <a:gd name="T7" fmla="*/ 424 h 611"/>
              <a:gd name="T8" fmla="*/ 80 w 229"/>
              <a:gd name="T9" fmla="*/ 39 h 611"/>
              <a:gd name="T10" fmla="*/ 148 w 229"/>
              <a:gd name="T11" fmla="*/ 0 h 611"/>
              <a:gd name="T12" fmla="*/ 110 w 229"/>
              <a:gd name="T13" fmla="*/ 450 h 611"/>
              <a:gd name="T14" fmla="*/ 158 w 229"/>
              <a:gd name="T15" fmla="*/ 498 h 611"/>
              <a:gd name="T16" fmla="*/ 181 w 229"/>
              <a:gd name="T17" fmla="*/ 475 h 611"/>
              <a:gd name="T18" fmla="*/ 217 w 229"/>
              <a:gd name="T19" fmla="*/ 611 h 611"/>
              <a:gd name="T20" fmla="*/ 81 w 229"/>
              <a:gd name="T21" fmla="*/ 575 h 61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</a:cxnLst>
            <a:rect l="0" t="0" r="r" b="b"/>
            <a:pathLst>
              <a:path w="229" h="611">
                <a:moveTo>
                  <a:pt x="81" y="575"/>
                </a:moveTo>
                <a:cubicBezTo>
                  <a:pt x="103" y="553"/>
                  <a:pt x="103" y="553"/>
                  <a:pt x="103" y="553"/>
                </a:cubicBezTo>
                <a:cubicBezTo>
                  <a:pt x="0" y="450"/>
                  <a:pt x="0" y="450"/>
                  <a:pt x="0" y="450"/>
                </a:cubicBezTo>
                <a:cubicBezTo>
                  <a:pt x="10" y="442"/>
                  <a:pt x="20" y="433"/>
                  <a:pt x="29" y="424"/>
                </a:cubicBezTo>
                <a:cubicBezTo>
                  <a:pt x="133" y="320"/>
                  <a:pt x="150" y="161"/>
                  <a:pt x="80" y="39"/>
                </a:cubicBezTo>
                <a:cubicBezTo>
                  <a:pt x="148" y="0"/>
                  <a:pt x="148" y="0"/>
                  <a:pt x="148" y="0"/>
                </a:cubicBezTo>
                <a:cubicBezTo>
                  <a:pt x="229" y="141"/>
                  <a:pt x="216" y="321"/>
                  <a:pt x="110" y="450"/>
                </a:cubicBezTo>
                <a:cubicBezTo>
                  <a:pt x="158" y="498"/>
                  <a:pt x="158" y="498"/>
                  <a:pt x="158" y="498"/>
                </a:cubicBezTo>
                <a:cubicBezTo>
                  <a:pt x="181" y="475"/>
                  <a:pt x="181" y="475"/>
                  <a:pt x="181" y="475"/>
                </a:cubicBezTo>
                <a:cubicBezTo>
                  <a:pt x="217" y="611"/>
                  <a:pt x="217" y="611"/>
                  <a:pt x="217" y="611"/>
                </a:cubicBezTo>
                <a:lnTo>
                  <a:pt x="81" y="575"/>
                </a:lnTo>
                <a:close/>
              </a:path>
            </a:pathLst>
          </a:custGeom>
          <a:solidFill>
            <a:srgbClr val="FFD966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F186F5FF-B291-B957-FD19-525EF23C23C9}"/>
              </a:ext>
            </a:extLst>
          </p:cNvPr>
          <p:cNvSpPr>
            <a:spLocks/>
          </p:cNvSpPr>
          <p:nvPr/>
        </p:nvSpPr>
        <p:spPr bwMode="auto">
          <a:xfrm>
            <a:off x="5057881" y="2290170"/>
            <a:ext cx="2325687" cy="871538"/>
          </a:xfrm>
          <a:custGeom>
            <a:avLst/>
            <a:gdLst>
              <a:gd name="T0" fmla="*/ 611 w 611"/>
              <a:gd name="T1" fmla="*/ 12 h 229"/>
              <a:gd name="T2" fmla="*/ 575 w 611"/>
              <a:gd name="T3" fmla="*/ 148 h 229"/>
              <a:gd name="T4" fmla="*/ 553 w 611"/>
              <a:gd name="T5" fmla="*/ 126 h 229"/>
              <a:gd name="T6" fmla="*/ 505 w 611"/>
              <a:gd name="T7" fmla="*/ 174 h 229"/>
              <a:gd name="T8" fmla="*/ 486 w 611"/>
              <a:gd name="T9" fmla="*/ 193 h 229"/>
              <a:gd name="T10" fmla="*/ 450 w 611"/>
              <a:gd name="T11" fmla="*/ 229 h 229"/>
              <a:gd name="T12" fmla="*/ 424 w 611"/>
              <a:gd name="T13" fmla="*/ 200 h 229"/>
              <a:gd name="T14" fmla="*/ 39 w 611"/>
              <a:gd name="T15" fmla="*/ 149 h 229"/>
              <a:gd name="T16" fmla="*/ 0 w 611"/>
              <a:gd name="T17" fmla="*/ 81 h 229"/>
              <a:gd name="T18" fmla="*/ 450 w 611"/>
              <a:gd name="T19" fmla="*/ 119 h 229"/>
              <a:gd name="T20" fmla="*/ 498 w 611"/>
              <a:gd name="T21" fmla="*/ 71 h 229"/>
              <a:gd name="T22" fmla="*/ 475 w 611"/>
              <a:gd name="T23" fmla="*/ 48 h 229"/>
              <a:gd name="T24" fmla="*/ 611 w 611"/>
              <a:gd name="T25" fmla="*/ 12 h 22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611" h="229">
                <a:moveTo>
                  <a:pt x="611" y="12"/>
                </a:moveTo>
                <a:cubicBezTo>
                  <a:pt x="575" y="148"/>
                  <a:pt x="575" y="148"/>
                  <a:pt x="575" y="148"/>
                </a:cubicBezTo>
                <a:cubicBezTo>
                  <a:pt x="553" y="126"/>
                  <a:pt x="553" y="126"/>
                  <a:pt x="553" y="126"/>
                </a:cubicBezTo>
                <a:cubicBezTo>
                  <a:pt x="505" y="174"/>
                  <a:pt x="505" y="174"/>
                  <a:pt x="505" y="174"/>
                </a:cubicBezTo>
                <a:cubicBezTo>
                  <a:pt x="486" y="193"/>
                  <a:pt x="486" y="193"/>
                  <a:pt x="486" y="193"/>
                </a:cubicBezTo>
                <a:cubicBezTo>
                  <a:pt x="450" y="229"/>
                  <a:pt x="450" y="229"/>
                  <a:pt x="450" y="229"/>
                </a:cubicBezTo>
                <a:cubicBezTo>
                  <a:pt x="442" y="219"/>
                  <a:pt x="433" y="209"/>
                  <a:pt x="424" y="200"/>
                </a:cubicBezTo>
                <a:cubicBezTo>
                  <a:pt x="320" y="96"/>
                  <a:pt x="161" y="79"/>
                  <a:pt x="39" y="149"/>
                </a:cubicBezTo>
                <a:cubicBezTo>
                  <a:pt x="0" y="81"/>
                  <a:pt x="0" y="81"/>
                  <a:pt x="0" y="81"/>
                </a:cubicBezTo>
                <a:cubicBezTo>
                  <a:pt x="141" y="0"/>
                  <a:pt x="321" y="13"/>
                  <a:pt x="450" y="119"/>
                </a:cubicBezTo>
                <a:cubicBezTo>
                  <a:pt x="498" y="71"/>
                  <a:pt x="498" y="71"/>
                  <a:pt x="498" y="71"/>
                </a:cubicBezTo>
                <a:cubicBezTo>
                  <a:pt x="475" y="48"/>
                  <a:pt x="475" y="48"/>
                  <a:pt x="475" y="48"/>
                </a:cubicBezTo>
                <a:lnTo>
                  <a:pt x="611" y="1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prstClr val="white"/>
              </a:solidFill>
              <a:cs typeface="Arial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8F98CA5-906F-8B7D-DDBE-3281F00185D1}"/>
              </a:ext>
            </a:extLst>
          </p:cNvPr>
          <p:cNvSpPr txBox="1">
            <a:spLocks/>
          </p:cNvSpPr>
          <p:nvPr/>
        </p:nvSpPr>
        <p:spPr>
          <a:xfrm>
            <a:off x="6561244" y="1959876"/>
            <a:ext cx="3253059" cy="3169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فقط می‌بیند</a:t>
            </a:r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22BD912C-C1CF-F33E-42CD-C8AE53D8B733}"/>
              </a:ext>
            </a:extLst>
          </p:cNvPr>
          <p:cNvSpPr txBox="1">
            <a:spLocks/>
          </p:cNvSpPr>
          <p:nvPr/>
        </p:nvSpPr>
        <p:spPr>
          <a:xfrm>
            <a:off x="0" y="5357404"/>
            <a:ext cx="4860564" cy="546103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توانایی دستکاری دارد</a:t>
            </a:r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F7C02D1D-FCDD-2A37-DB38-E8B7C7E009D2}"/>
              </a:ext>
            </a:extLst>
          </p:cNvPr>
          <p:cNvSpPr txBox="1">
            <a:spLocks/>
          </p:cNvSpPr>
          <p:nvPr/>
        </p:nvSpPr>
        <p:spPr>
          <a:xfrm>
            <a:off x="7251047" y="5194488"/>
            <a:ext cx="3976254" cy="514605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rtl="1"/>
            <a:r>
              <a:rPr lang="fa-IR" sz="20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نیروی متخاصم امکان ارسال پیام دارد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E8256EF-6FE5-3178-4FD3-47714AF2103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5029" y="3210920"/>
            <a:ext cx="1292241" cy="12922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281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788374-B54B-07C9-448B-D0D33121C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E8ECE2C3-BADC-BD09-257D-25EC0B165637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92A76633-3B72-61BF-7925-F30C0FBF5168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7757D84B-DD91-F9A0-EB77-BAA9C4CF7A27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/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هر کلاینت به جای ارسال صرفاً 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، یک بسته‌ی داده</a:t>
                </a:r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 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به نام 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solidFill>
                          <a:srgbClr val="000000"/>
                        </a:solidFill>
                      </a:rPr>
                      <m:t>𝑆</m:t>
                    </m:r>
                    <m:sSub>
                      <m:sSubPr>
                        <m:ctrlPr>
                          <a:rPr lang="en-US" sz="2400" i="1">
                            <a:solidFill>
                              <a:srgbClr val="000000"/>
                            </a:solidFill>
                          </a:rPr>
                        </m:ctrlPr>
                      </m:sSubPr>
                      <m:e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solidFill>
                              <a:srgbClr val="000000"/>
                            </a:solidFill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 </a:t>
                </a:r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را برای سرور ارسال می‌کند که ساختار آن به صورت زیر است: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F4E438F-67AC-7EB0-9C7A-B4C55DF950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1920929"/>
                <a:ext cx="9813882" cy="830997"/>
              </a:xfrm>
              <a:prstGeom prst="rect">
                <a:avLst/>
              </a:prstGeom>
              <a:blipFill>
                <a:blip r:embed="rId3"/>
                <a:stretch>
                  <a:fillRect l="-311" t="-4412" r="-994" b="-16176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/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A8C55CE-96C0-3DFB-6664-D3A1272323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0514" y="4308334"/>
                <a:ext cx="9813882" cy="58477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3B718F30-F507-099B-7C44-0A88BB2DD24D}"/>
              </a:ext>
            </a:extLst>
          </p:cNvPr>
          <p:cNvSpPr txBox="1"/>
          <p:nvPr/>
        </p:nvSpPr>
        <p:spPr>
          <a:xfrm>
            <a:off x="1648324" y="5401619"/>
            <a:ext cx="156403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A4E8C7-E70D-0566-1955-45DA7592BB3F}"/>
              </a:ext>
            </a:extLst>
          </p:cNvPr>
          <p:cNvSpPr txBox="1"/>
          <p:nvPr/>
        </p:nvSpPr>
        <p:spPr>
          <a:xfrm>
            <a:off x="3420292" y="5754201"/>
            <a:ext cx="239982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شناسه دور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سرور)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2D8784-3198-4AEA-5B8C-123A4BE3C6D9}"/>
              </a:ext>
            </a:extLst>
          </p:cNvPr>
          <p:cNvSpPr txBox="1"/>
          <p:nvPr/>
        </p:nvSpPr>
        <p:spPr>
          <a:xfrm>
            <a:off x="7571797" y="5672088"/>
            <a:ext cx="256807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عدد تصادفی</a:t>
            </a:r>
            <a:b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</a:br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(تولید شده توسط کلاینت)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D1BE147-ED01-2385-1145-14E2568D8D51}"/>
              </a:ext>
            </a:extLst>
          </p:cNvPr>
          <p:cNvSpPr txBox="1"/>
          <p:nvPr/>
        </p:nvSpPr>
        <p:spPr>
          <a:xfrm>
            <a:off x="6483501" y="3077910"/>
            <a:ext cx="13978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وزن کلاینت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B31F713-C3A0-6C74-771C-C4706C590DC1}"/>
              </a:ext>
            </a:extLst>
          </p:cNvPr>
          <p:cNvSpPr txBox="1"/>
          <p:nvPr/>
        </p:nvSpPr>
        <p:spPr>
          <a:xfrm>
            <a:off x="8714509" y="3482154"/>
            <a:ext cx="26622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امضا کلاینت روی بسته پیام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5C5E07-CC67-021D-C946-FB3406453F30}"/>
              </a:ext>
            </a:extLst>
          </p:cNvPr>
          <p:cNvSpPr txBox="1"/>
          <p:nvPr/>
        </p:nvSpPr>
        <p:spPr>
          <a:xfrm>
            <a:off x="2545745" y="3157463"/>
            <a:ext cx="25680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پیام رمزگذاری شده</a:t>
            </a:r>
            <a:endParaRPr lang="fa-IR" sz="24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7FDAEB5F-BDDC-362E-C1A5-48260EF032FD}"/>
              </a:ext>
            </a:extLst>
          </p:cNvPr>
          <p:cNvCxnSpPr>
            <a:cxnSpLocks/>
            <a:endCxn id="10" idx="3"/>
          </p:cNvCxnSpPr>
          <p:nvPr/>
        </p:nvCxnSpPr>
        <p:spPr>
          <a:xfrm rot="10800000" flipV="1">
            <a:off x="3212356" y="4842011"/>
            <a:ext cx="1327456" cy="744274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4EE3198C-5D85-0DFA-3584-02E585FB3511}"/>
              </a:ext>
            </a:extLst>
          </p:cNvPr>
          <p:cNvCxnSpPr>
            <a:cxnSpLocks/>
            <a:endCxn id="13" idx="3"/>
          </p:cNvCxnSpPr>
          <p:nvPr/>
        </p:nvCxnSpPr>
        <p:spPr>
          <a:xfrm rot="16200000" flipH="1">
            <a:off x="5004753" y="5262005"/>
            <a:ext cx="1213198" cy="417526"/>
          </a:xfrm>
          <a:prstGeom prst="bentConnector4">
            <a:avLst>
              <a:gd name="adj1" fmla="val 36681"/>
              <a:gd name="adj2" fmla="val 154751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49C6AC8C-74F1-D905-DC3D-EC911E7BDEDE}"/>
              </a:ext>
            </a:extLst>
          </p:cNvPr>
          <p:cNvCxnSpPr>
            <a:cxnSpLocks/>
            <a:endCxn id="16" idx="1"/>
          </p:cNvCxnSpPr>
          <p:nvPr/>
        </p:nvCxnSpPr>
        <p:spPr>
          <a:xfrm rot="16200000" flipH="1">
            <a:off x="6564681" y="4988138"/>
            <a:ext cx="1131086" cy="883146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3BD53DF0-936B-2DCC-FA8C-7D41A3788D71}"/>
              </a:ext>
            </a:extLst>
          </p:cNvPr>
          <p:cNvCxnSpPr>
            <a:cxnSpLocks/>
            <a:endCxn id="30" idx="3"/>
          </p:cNvCxnSpPr>
          <p:nvPr/>
        </p:nvCxnSpPr>
        <p:spPr>
          <a:xfrm rot="10800000">
            <a:off x="5113815" y="3342129"/>
            <a:ext cx="2457982" cy="1159142"/>
          </a:xfrm>
          <a:prstGeom prst="bentConnector3">
            <a:avLst>
              <a:gd name="adj1" fmla="val 50000"/>
            </a:avLst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5BDF586-7FD6-6ED9-AB76-BF6A1B794B05}"/>
              </a:ext>
            </a:extLst>
          </p:cNvPr>
          <p:cNvCxnSpPr>
            <a:cxnSpLocks/>
            <a:endCxn id="19" idx="3"/>
          </p:cNvCxnSpPr>
          <p:nvPr/>
        </p:nvCxnSpPr>
        <p:spPr>
          <a:xfrm rot="16200000" flipV="1">
            <a:off x="7415326" y="3728560"/>
            <a:ext cx="1238695" cy="306727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0B72892-18D8-53D3-6E8A-45245B50EDD5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8755639" y="3851486"/>
            <a:ext cx="1289999" cy="599465"/>
          </a:xfrm>
          <a:prstGeom prst="bentConnector2">
            <a:avLst/>
          </a:prstGeom>
          <a:ln w="317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DF3DF205-F4C7-78E3-7CB5-D5ADA8B12AC0}"/>
              </a:ext>
            </a:extLst>
          </p:cNvPr>
          <p:cNvSpPr/>
          <p:nvPr/>
        </p:nvSpPr>
        <p:spPr>
          <a:xfrm flipH="1">
            <a:off x="837112" y="579276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12011930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5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3000"/>
                            </p:stCondLst>
                            <p:childTnLst>
                              <p:par>
                                <p:cTn id="2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50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0"/>
                            </p:stCondLst>
                            <p:childTnLst>
                              <p:par>
                                <p:cTn id="4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3" grpId="0"/>
      <p:bldP spid="30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2BD10-177E-92C2-623E-991F806DC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1755772-2853-6106-8E9A-012FC65AD3DD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95AEC36-9E5E-0766-15B0-53822D41DA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/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4D93412-3F25-B1A0-1B1C-9F9A72F7E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294868" y="1828370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/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sz="3200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sz="3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sz="3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0004073-8077-C8C8-23CC-5DF6D1A866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5496" y="2694709"/>
                <a:ext cx="3199663" cy="62709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/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i="1"/>
                        <m:t>𝑆𝑖𝑔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𝑛</m:t>
                          </m:r>
                        </m:e>
                        <m:sub>
                          <m:r>
                            <a:rPr lang="en-US" sz="3200" i="1"/>
                            <m:t>𝑆</m:t>
                          </m:r>
                          <m:sSub>
                            <m:sSubPr>
                              <m:ctrlPr>
                                <a:rPr lang="en-US" sz="3200" i="1"/>
                              </m:ctrlPr>
                            </m:sSubPr>
                            <m:e>
                              <m:r>
                                <a:rPr lang="en-US" sz="3200" i="1"/>
                                <m:t>𝐾</m:t>
                              </m:r>
                            </m:e>
                            <m:sub>
                              <m:r>
                                <a:rPr lang="en-US" sz="3200" i="1"/>
                                <m:t>𝑖</m:t>
                              </m:r>
                            </m:sub>
                          </m:sSub>
                        </m:sub>
                      </m:sSub>
                      <m:r>
                        <a:rPr lang="en-US" sz="3200" i="1"/>
                        <m:t>(</m:t>
                      </m:r>
                      <m:r>
                        <a:rPr lang="en-US" sz="3200" i="1"/>
                        <m:t>𝐻</m:t>
                      </m:r>
                      <m:d>
                        <m:dPr>
                          <m:ctrlPr>
                            <a:rPr lang="en-US" sz="3200" i="1"/>
                          </m:ctrlPr>
                        </m:dPr>
                        <m:e>
                          <m:sSub>
                            <m:sSubPr>
                              <m:ctrlPr>
                                <a:rPr lang="en-US" sz="3200" i="1"/>
                              </m:ctrlPr>
                            </m:sSubPr>
                            <m:e>
                              <m:r>
                                <a:rPr lang="en-US" sz="3200" i="1"/>
                                <m:t>𝑀</m:t>
                              </m:r>
                            </m:e>
                            <m:sub>
                              <m:r>
                                <a:rPr lang="en-US" sz="3200" i="1"/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3200" i="1"/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570D4F6-12C2-F833-DBB6-3C822C63A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3496370"/>
                <a:ext cx="3963195" cy="63267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/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rtl="1"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𝑀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i="1"/>
                        <m:t>𝐼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𝐷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∥</m:t>
                      </m:r>
                      <m:r>
                        <a:rPr lang="en-US" sz="3200" i="1"/>
                        <m:t>𝑅𝐼𝐷</m:t>
                      </m:r>
                      <m:r>
                        <a:rPr lang="en-US" sz="3200" i="1"/>
                        <m:t>∥</m:t>
                      </m:r>
                      <m:r>
                        <a:rPr lang="en-US" sz="3200" i="1"/>
                        <m:t>𝑛𝑜𝑛𝑐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𝑒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∥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∥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𝑤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FC39AC19-EF89-C4B9-C8FF-8E5DBB78FC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7102" y="4303610"/>
                <a:ext cx="6069879" cy="58477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2F8870FA-F4C6-4545-BD07-52AAAC5C9BB9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</p:spTree>
    <p:extLst>
      <p:ext uri="{BB962C8B-B14F-4D97-AF65-F5344CB8AC3E}">
        <p14:creationId xmlns:p14="http://schemas.microsoft.com/office/powerpoint/2010/main" val="41330422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E0D4-290F-3BCA-2BF2-3340B3C44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9929DE49-B382-8226-0925-17BFA0D527FA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DC64EE30-7A52-C23C-9B80-DFCBF131838B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C06C7E76-ED6E-329E-7A4E-187907A56392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E86767-B622-C8D4-ECFB-DF0B8EEA9EC6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زمانی که بسته به سرور می‌رسد، ابتدا صلاحیت پیام مورد بررسی قرار می‌گیرد.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1425352-BF6C-F305-57B6-0FE480C7D9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6859D6EF-BD7C-EA47-A5CB-C71101B855F2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/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مجاز بودن کلاینت برای ارسال به کمک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مورد ارزیابی قرار می‌گیرد.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851212C8-0F47-3B4F-69CE-6EEB24ED5F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3819976"/>
                <a:ext cx="9813882" cy="461665"/>
              </a:xfrm>
              <a:prstGeom prst="rect">
                <a:avLst/>
              </a:prstGeom>
              <a:blipFill>
                <a:blip r:embed="rId4"/>
                <a:stretch>
                  <a:fillRect t="-8000" r="-994" b="-33333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/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صلاحیت دور به کمک بررسی سه تایی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𝑅𝐼𝐷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𝑛𝑜𝑢𝑛𝑐𝑒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محقق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47554EB-29B2-AFB8-C0C9-E1018787FC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317940"/>
                <a:ext cx="9813882" cy="461665"/>
              </a:xfrm>
              <a:prstGeom prst="rect">
                <a:avLst/>
              </a:prstGeom>
              <a:blipFill>
                <a:blip r:embed="rId5"/>
                <a:stretch>
                  <a:fillRect t="-7895" r="-994" b="-31579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/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 rtl="1"/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اعتبار پیا با تابع </a:t>
                </a:r>
                <a14:m>
                  <m:oMath xmlns:m="http://schemas.openxmlformats.org/officeDocument/2006/math">
                    <m:r>
                      <a:rPr lang="en-US" i="1"/>
                      <m:t>𝑉𝑒𝑟𝑖𝑓</m:t>
                    </m:r>
                    <m:sSub>
                      <m:sSubPr>
                        <m:ctrlPr>
                          <a:rPr lang="en-US" i="1"/>
                        </m:ctrlPr>
                      </m:sSubPr>
                      <m:e>
                        <m:r>
                          <a:rPr lang="en-US" i="1"/>
                          <m:t>𝑦</m:t>
                        </m:r>
                      </m:e>
                      <m:sub>
                        <m:r>
                          <a:rPr lang="en-US" i="1"/>
                          <m:t>𝑃</m:t>
                        </m:r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𝐾</m:t>
                            </m:r>
                          </m:e>
                          <m:sub>
                            <m:r>
                              <a:rPr lang="en-US" i="1"/>
                              <m:t>𝑖</m:t>
                            </m:r>
                          </m:sub>
                        </m:sSub>
                      </m:sub>
                    </m:sSub>
                    <m:d>
                      <m:dPr>
                        <m:sepChr m:val=","/>
                        <m:ctrlPr>
                          <a:rPr lang="en-US" i="1"/>
                        </m:ctrlPr>
                      </m:dPr>
                      <m:e>
                        <m:sSub>
                          <m:sSubPr>
                            <m:ctrlPr>
                              <a:rPr lang="en-US" i="1"/>
                            </m:ctrlPr>
                          </m:sSubPr>
                          <m:e>
                            <m:r>
                              <a:rPr lang="en-US" i="1"/>
                              <m:t>𝜎</m:t>
                            </m:r>
                          </m:e>
                          <m:sub>
                            <m:r>
                              <a:rPr lang="en-US" i="1"/>
                              <m:t>𝑖</m:t>
                            </m:r>
                          </m:sub>
                        </m:sSub>
                      </m:e>
                      <m:e>
                        <m:r>
                          <a:rPr lang="en-US" i="1"/>
                          <m:t>𝐻</m:t>
                        </m:r>
                        <m:d>
                          <m:dPr>
                            <m:ctrlPr>
                              <a:rPr lang="en-US" i="1"/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/>
                                </m:ctrlPr>
                              </m:sSubPr>
                              <m:e>
                                <m:r>
                                  <a:rPr lang="en-US" i="1"/>
                                  <m:t>𝑀</m:t>
                                </m:r>
                              </m:e>
                              <m:sub>
                                <m:r>
                                  <a:rPr lang="en-US" i="1"/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fa-IR" sz="2400" dirty="0">
                    <a:solidFill>
                      <a:srgbClr val="000000"/>
                    </a:solidFill>
                    <a:latin typeface="Vazir FD" pitchFamily="2" charset="-78"/>
                    <a:cs typeface="Vazir FD" pitchFamily="2" charset="-78"/>
                  </a:rPr>
                  <a:t> بررسی می‌شود.</a:t>
                </a:r>
                <a:endParaRPr lang="fa-IR" sz="3200" dirty="0">
                  <a:solidFill>
                    <a:srgbClr val="000000"/>
                  </a:solidFill>
                  <a:latin typeface="Vazir FD" pitchFamily="2" charset="-78"/>
                  <a:cs typeface="Vazir FD" pitchFamily="2" charset="-78"/>
                </a:endParaRPr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77B4E594-8935-5D7D-8EAA-DD9A0F3A5D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8611" y="4873309"/>
                <a:ext cx="9813882" cy="461665"/>
              </a:xfrm>
              <a:prstGeom prst="rect">
                <a:avLst/>
              </a:prstGeom>
              <a:blipFill>
                <a:blip r:embed="rId6"/>
                <a:stretch>
                  <a:fillRect t="-10526" r="-994" b="-28947"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35050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9" grpId="0"/>
      <p:bldP spid="3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F3A5E-5313-A55B-3BEF-68B8F0C9B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87927384-4354-A635-B3BF-562405E7204A}"/>
              </a:ext>
            </a:extLst>
          </p:cNvPr>
          <p:cNvSpPr/>
          <p:nvPr/>
        </p:nvSpPr>
        <p:spPr>
          <a:xfrm>
            <a:off x="573692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3051BCB5-846E-8638-4A97-EB82297001A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130E04BE-4268-425D-F9C0-EFE8CCF0EA85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ABD3F5-306F-5AFB-934C-D984455AB52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A3BAAD2F-0A8C-A147-9D37-9E0C548E7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C5287B43-6F44-A58C-9F92-F7F14164D960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/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sup>
                          </m:sSubSup>
                        </m:e>
                      </m:nary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62C4FA7-B57E-12BC-28B7-DF38B99739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72896" y="3812280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/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</m:nary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sSubSup>
                        <m:sSub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bSup>
                      <m:sSup>
                        <m:sSup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×</m:t>
                      </m:r>
                      <m:sSup>
                        <m:sSup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nary>
                                <m:naryPr>
                                  <m:chr m:val="∏"/>
                                  <m:limLoc m:val="undOvr"/>
                                  <m:grow m:val="on"/>
                                  <m:supHide m:val="on"/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fa-IR" i="0">
                                      <a:latin typeface="Cambria Math" panose="02040503050406030204" pitchFamily="18" charset="0"/>
                                    </a:rPr>
                                    <m:t>𝒜</m:t>
                                  </m:r>
                                </m:sub>
                                <m:sup/>
                                <m:e>
                                  <m:sSubSup>
                                    <m:sSubSupPr>
                                      <m:ctrlP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𝑢</m:t>
                                      </m:r>
                                    </m:e>
                                    <m:sub>
                                      <m:r>
                                        <a:rPr lang="fa-I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  <m:sub>
                                          <m:r>
                                            <a:rPr lang="fa-I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sup>
                                  </m:sSubSup>
                                </m:e>
                              </m:nary>
                            </m:e>
                          </m:d>
                        </m:e>
                        <m:sup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  <m:r>
                        <a:rPr lang="fa-IR" i="0">
                          <a:latin typeface="Cambria Math" panose="02040503050406030204" pitchFamily="18" charset="0"/>
                        </a:rPr>
                        <m:t>  </m:t>
                      </m:r>
                      <m:d>
                        <m:dPr>
                          <m:ctrlPr>
                            <a:rPr lang="fa-IR" i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fa-IR" i="0">
                              <a:latin typeface="Cambria Math" panose="02040503050406030204" pitchFamily="18" charset="0"/>
                            </a:rPr>
                            <m:t>mod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F0B4D3D-776A-DD8E-5EC2-ECEBC0AF0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36" y="4576848"/>
                <a:ext cx="6435436" cy="86100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/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90B45F0-4CE1-6070-3378-FEAE765F26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77144" y="5463698"/>
                <a:ext cx="6435436" cy="82888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293240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10" grpId="0"/>
      <p:bldP spid="1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1DCDE-C734-183C-2D91-7CEFF1AE8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FF7B6B8-C757-EE23-CDFC-B52CA6B1E858}"/>
              </a:ext>
            </a:extLst>
          </p:cNvPr>
          <p:cNvSpPr/>
          <p:nvPr/>
        </p:nvSpPr>
        <p:spPr>
          <a:xfrm>
            <a:off x="625147" y="364521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A186926-F22B-5614-D40D-F3D96D9277D9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FB25C1BC-6A1D-3BC3-74D0-157CE7954E50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Vazir Light FD\"/>
              <a:cs typeface="Estedad Black" panose="02000A03000000000000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/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r"/>
                <a14:m>
                  <m:oMathPara xmlns:m="http://schemas.openxmlformats.org/officeDocument/2006/math">
                    <m:oMath>
                      <m:r>
                        <a:rPr lang="en-US" sz="3200" i="1" smtClean="0"/>
                        <m:t>𝑆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𝐶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i="1"/>
                        <m:t>=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𝐼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𝑅𝐼𝐷</m:t>
                      </m:r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𝑛𝑜𝑢𝑛𝑐𝑒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3200" i="1"/>
                          </m:ctrlPr>
                        </m:sSubPr>
                        <m:e>
                          <m:r>
                            <a:rPr lang="en-US" sz="3200" i="1"/>
                            <m:t>𝜎</m:t>
                          </m:r>
                        </m:e>
                        <m:sub>
                          <m:r>
                            <a:rPr lang="en-US" sz="3200" i="1"/>
                            <m:t>𝑖</m:t>
                          </m:r>
                        </m:sub>
                      </m:sSub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32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55AFFA8-455F-B898-4DC8-C654A193E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51351" y="2851152"/>
                <a:ext cx="9813882" cy="5847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/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fa-IR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𝑆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𝑎𝑔𝑔</m:t>
                              </m:r>
                            </m:sub>
                          </m:sSub>
                        </m:e>
                      </m:d>
                      <m:r>
                        <a:rPr lang="fa-IR" i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grow m:val="on"/>
                          <m:supHide m:val="on"/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fa-IR" i="0">
                              <a:latin typeface="Cambria Math" panose="02040503050406030204" pitchFamily="18" charset="0"/>
                            </a:rPr>
                            <m:t>𝒜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1ED5F9E-8635-EB5B-E3A8-BF7973F9DE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9455" y="4508378"/>
                <a:ext cx="6096000" cy="764568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81BE6A75-99EF-1707-5797-DCDDBA01C5A4}"/>
              </a:ext>
            </a:extLst>
          </p:cNvPr>
          <p:cNvSpPr/>
          <p:nvPr/>
        </p:nvSpPr>
        <p:spPr>
          <a:xfrm flipH="1">
            <a:off x="837112" y="565421"/>
            <a:ext cx="6852160" cy="830996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buNone/>
            </a:pPr>
            <a:r>
              <a:rPr lang="fa-IR" sz="2800" dirty="0"/>
              <a:t>Signed-Benaloh Homomorphic Encryption</a:t>
            </a:r>
            <a:endParaRPr lang="fa-IR" sz="6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878740-A271-2D3C-7807-8414500A390D}"/>
              </a:ext>
            </a:extLst>
          </p:cNvPr>
          <p:cNvSpPr txBox="1"/>
          <p:nvPr/>
        </p:nvSpPr>
        <p:spPr>
          <a:xfrm>
            <a:off x="1688611" y="1920929"/>
            <a:ext cx="98138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lang="fa-IR" sz="2400" dirty="0">
                <a:solidFill>
                  <a:srgbClr val="000000"/>
                </a:solidFill>
                <a:latin typeface="Vazir FD" pitchFamily="2" charset="-78"/>
                <a:cs typeface="Vazir FD" pitchFamily="2" charset="-78"/>
              </a:rPr>
              <a:t>بسته‌های پیامی که اعتبار آنها تایید شده باشد، جهت اجماع استفاده می‌شوند.</a:t>
            </a:r>
            <a:endParaRPr lang="fa-IR" sz="3200" dirty="0">
              <a:solidFill>
                <a:srgbClr val="000000"/>
              </a:solidFill>
              <a:latin typeface="Vazir FD" pitchFamily="2" charset="-78"/>
              <a:cs typeface="Vazir FD" pitchFamily="2" charset="-78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/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𝑎𝑔𝑔</m:t>
                          </m:r>
                        </m:sub>
                      </m:sSub>
                      <m:r>
                        <a:rPr lang="fa-I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fa-IR" i="1">
                              <a:latin typeface="Cambria Math" panose="02040503050406030204" pitchFamily="18" charset="0"/>
                            </a:rPr>
                            <m:t>𝑃</m:t>
                          </m:r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fa-I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nary>
                            <m:naryPr>
                              <m:chr m:val="∑"/>
                              <m:limLoc m:val="undOvr"/>
                              <m:grow m:val="on"/>
                              <m:supHide m:val="on"/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fa-IR" i="0">
                                  <a:latin typeface="Cambria Math" panose="02040503050406030204" pitchFamily="18" charset="0"/>
                                </a:rPr>
                                <m:t>𝒜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fa-I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𝑤</m:t>
                                  </m:r>
                                </m:e>
                                <m:sub>
                                  <m:r>
                                    <a:rPr lang="fa-I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  <m:sSub>
                            <m:sSubPr>
                              <m:ctrlPr>
                                <a:rPr lang="fa-I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fa-I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fa-IR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EF0C827-E3DB-F2EB-FDD3-11A3D08C6D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78282" y="3616082"/>
                <a:ext cx="6435436" cy="82888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47147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1B3B-84E8-67CC-9AB9-D4D0946A2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A4B235B-DEBB-15F3-B076-EF12F00F5A24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35690BA0-5AE1-DCBD-60C1-F8E1EDED64BF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AD395D77-2D6C-7B92-A956-EF31D4EB54DE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1A838510-A99A-7932-8338-8EBE1A665DA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6F57B8A6-7934-721C-DC54-99BF401349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0313" y="1508070"/>
            <a:ext cx="10731374" cy="418547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0883305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16F09-AB8B-E37C-C7F2-9861D2DDC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5113DD75-4D32-DB06-37F4-C2861472A655}"/>
              </a:ext>
            </a:extLst>
          </p:cNvPr>
          <p:cNvSpPr/>
          <p:nvPr/>
        </p:nvSpPr>
        <p:spPr>
          <a:xfrm>
            <a:off x="573692" y="357594"/>
            <a:ext cx="11044616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chemeClr val="tx1">
                <a:alpha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 dirty="0"/>
          </a:p>
        </p:txBody>
      </p:sp>
      <p:sp>
        <p:nvSpPr>
          <p:cNvPr id="4" name="Arrow: Chevron 3">
            <a:hlinkClick r:id="rId2" action="ppaction://hlinksldjump"/>
            <a:extLst>
              <a:ext uri="{FF2B5EF4-FFF2-40B4-BE49-F238E27FC236}">
                <a16:creationId xmlns:a16="http://schemas.microsoft.com/office/drawing/2014/main" id="{7983040B-9F61-352A-48CF-88742D01F972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5" name="Arrow: Chevron 4">
            <a:hlinkClick r:id="rId2" action="ppaction://hlinksldjump"/>
            <a:extLst>
              <a:ext uri="{FF2B5EF4-FFF2-40B4-BE49-F238E27FC236}">
                <a16:creationId xmlns:a16="http://schemas.microsoft.com/office/drawing/2014/main" id="{C9429F5A-EBA4-0885-A8AE-F31564BDC8F6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72A2A9DB-B5EB-2DEF-192D-6A7007F122DF}"/>
              </a:ext>
            </a:extLst>
          </p:cNvPr>
          <p:cNvSpPr txBox="1">
            <a:spLocks/>
          </p:cNvSpPr>
          <p:nvPr/>
        </p:nvSpPr>
        <p:spPr>
          <a:xfrm>
            <a:off x="1565564" y="1307515"/>
            <a:ext cx="10731374" cy="4527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r" rtl="1">
              <a:lnSpc>
                <a:spcPct val="170000"/>
              </a:lnSpc>
              <a:buFont typeface="+mj-lt"/>
              <a:buAutoNum type="arabicPeriod"/>
            </a:pPr>
            <a:endParaRPr lang="fa-IR" dirty="0">
              <a:latin typeface="Vazir FD" pitchFamily="2" charset="-78"/>
              <a:cs typeface="Vazir FD" pitchFamily="2" charset="-78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3E198-2608-E83E-C228-4F45EB73A1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3032" y="1500831"/>
            <a:ext cx="10185935" cy="385633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7535724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سوم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4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4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5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6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954018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2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2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3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10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2" name="Arrow: Chevron 11">
            <a:hlinkClick r:id="rId2" action="ppaction://hlinksldjump"/>
            <a:extLst>
              <a:ext uri="{FF2B5EF4-FFF2-40B4-BE49-F238E27FC236}">
                <a16:creationId xmlns:a16="http://schemas.microsoft.com/office/drawing/2014/main" id="{7483CB28-0A21-D4F9-E0C3-ADED8875FE8A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3" name="Arrow: Chevron 12">
            <a:hlinkClick r:id="rId2" action="ppaction://hlinksldjump"/>
            <a:extLst>
              <a:ext uri="{FF2B5EF4-FFF2-40B4-BE49-F238E27FC236}">
                <a16:creationId xmlns:a16="http://schemas.microsoft.com/office/drawing/2014/main" id="{EFDC4F8A-F85F-95BC-9386-B89D80BB72F8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C13FC5F6-23A8-5CE2-AB17-BDC6456887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8031" y="2071419"/>
            <a:ext cx="4220058" cy="4303631"/>
          </a:xfrm>
        </p:spPr>
        <p:txBody>
          <a:bodyPr>
            <a:normAutofit fontScale="70000" lnSpcReduction="20000"/>
          </a:bodyPr>
          <a:lstStyle/>
          <a:p>
            <a:pPr algn="just">
              <a:lnSpc>
                <a:spcPct val="170000"/>
              </a:lnSpc>
            </a:pPr>
            <a:r>
              <a:rPr lang="fa-IR" dirty="0"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B9449A8E-E416-AE29-7FA3-681097125CCF}"/>
              </a:ext>
            </a:extLst>
          </p:cNvPr>
          <p:cNvSpPr txBox="1">
            <a:spLocks/>
          </p:cNvSpPr>
          <p:nvPr/>
        </p:nvSpPr>
        <p:spPr>
          <a:xfrm>
            <a:off x="690321" y="2071419"/>
            <a:ext cx="4220058" cy="430363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70000"/>
              </a:lnSpc>
            </a:pPr>
            <a:r>
              <a:rPr lang="fa-IR" dirty="0"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این زمان از و این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طلبد.</a:t>
            </a:r>
          </a:p>
        </p:txBody>
      </p:sp>
    </p:spTree>
    <p:extLst>
      <p:ext uri="{BB962C8B-B14F-4D97-AF65-F5344CB8AC3E}">
        <p14:creationId xmlns:p14="http://schemas.microsoft.com/office/powerpoint/2010/main" val="5026062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چهارم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98804446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12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12195180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1291765" y="1280473"/>
            <a:ext cx="9608457" cy="4297054"/>
          </a:xfrm>
          <a:prstGeom prst="roundRect">
            <a:avLst>
              <a:gd name="adj" fmla="val 1309"/>
            </a:avLst>
          </a:prstGeom>
          <a:solidFill>
            <a:srgbClr val="262344"/>
          </a:solidFill>
          <a:ln>
            <a:solidFill>
              <a:srgbClr val="262344">
                <a:alpha val="40000"/>
              </a:srgb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8E2E3265-0067-49BB-B185-6A88ADF643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97297" y="2317953"/>
            <a:ext cx="6690269" cy="1201095"/>
          </a:xfrm>
        </p:spPr>
        <p:txBody>
          <a:bodyPr>
            <a:noAutofit/>
          </a:bodyPr>
          <a:lstStyle/>
          <a:p>
            <a:r>
              <a:rPr lang="fa-IR" sz="66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عنوان فصل پنجم</a:t>
            </a:r>
          </a:p>
        </p:txBody>
      </p:sp>
      <p:sp>
        <p:nvSpPr>
          <p:cNvPr id="38" name="Freeform: Shape 37">
            <a:extLst>
              <a:ext uri="{FF2B5EF4-FFF2-40B4-BE49-F238E27FC236}">
                <a16:creationId xmlns:a16="http://schemas.microsoft.com/office/drawing/2014/main" id="{EBBA44A2-354B-4CA5-BA07-20E9E168A8A9}"/>
              </a:ext>
            </a:extLst>
          </p:cNvPr>
          <p:cNvSpPr/>
          <p:nvPr/>
        </p:nvSpPr>
        <p:spPr>
          <a:xfrm>
            <a:off x="5554715" y="1035310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cs typeface="B Titr" panose="00000700000000000000" pitchFamily="2" charset="-78"/>
            </a:endParaRPr>
          </a:p>
        </p:txBody>
      </p:sp>
      <p:pic>
        <p:nvPicPr>
          <p:cNvPr id="21" name="Graphic 20" descr="Home">
            <a:extLst>
              <a:ext uri="{FF2B5EF4-FFF2-40B4-BE49-F238E27FC236}">
                <a16:creationId xmlns:a16="http://schemas.microsoft.com/office/drawing/2014/main" id="{445AD03F-DC12-4E8D-81B6-7B74D49A14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901400" y="1048873"/>
            <a:ext cx="389195" cy="389195"/>
          </a:xfrm>
          <a:prstGeom prst="rect">
            <a:avLst/>
          </a:prstGeom>
        </p:spPr>
      </p:pic>
      <p:sp>
        <p:nvSpPr>
          <p:cNvPr id="29" name="!!Freeform: Shape 20">
            <a:hlinkClick r:id="rId3" action="ppaction://hlinksldjump"/>
            <a:extLst>
              <a:ext uri="{FF2B5EF4-FFF2-40B4-BE49-F238E27FC236}">
                <a16:creationId xmlns:a16="http://schemas.microsoft.com/office/drawing/2014/main" id="{FF3AFF16-998E-4019-8AB5-D18BC8C43CB0}"/>
              </a:ext>
            </a:extLst>
          </p:cNvPr>
          <p:cNvSpPr/>
          <p:nvPr/>
        </p:nvSpPr>
        <p:spPr>
          <a:xfrm flipH="1">
            <a:off x="12228020" y="1348992"/>
            <a:ext cx="2127509" cy="57939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30" name="Freeform: Shape 29">
            <a:hlinkClick r:id="rId3" action="ppaction://hlinksldjump"/>
            <a:extLst>
              <a:ext uri="{FF2B5EF4-FFF2-40B4-BE49-F238E27FC236}">
                <a16:creationId xmlns:a16="http://schemas.microsoft.com/office/drawing/2014/main" id="{5E169015-33E8-4D36-9AE6-2B6696A95EB9}"/>
              </a:ext>
            </a:extLst>
          </p:cNvPr>
          <p:cNvSpPr/>
          <p:nvPr/>
        </p:nvSpPr>
        <p:spPr>
          <a:xfrm flipH="1">
            <a:off x="12228020" y="2252344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36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E06BC56-4CDB-4893-8542-BABB3D350A0C}"/>
              </a:ext>
            </a:extLst>
          </p:cNvPr>
          <p:cNvSpPr/>
          <p:nvPr/>
        </p:nvSpPr>
        <p:spPr>
          <a:xfrm flipH="1">
            <a:off x="12228020" y="3155696"/>
            <a:ext cx="2127510" cy="57939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40" name="Freeform: Shape 39">
            <a:hlinkClick r:id="rId4" action="ppaction://hlinksldjump"/>
            <a:extLst>
              <a:ext uri="{FF2B5EF4-FFF2-40B4-BE49-F238E27FC236}">
                <a16:creationId xmlns:a16="http://schemas.microsoft.com/office/drawing/2014/main" id="{AB6D9056-2C7E-4A84-9224-CA946D9C7395}"/>
              </a:ext>
            </a:extLst>
          </p:cNvPr>
          <p:cNvSpPr/>
          <p:nvPr/>
        </p:nvSpPr>
        <p:spPr>
          <a:xfrm flipH="1">
            <a:off x="12228020" y="4059048"/>
            <a:ext cx="2127509" cy="57939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41" name="!!Freeform: Shape 34">
            <a:hlinkClick r:id="rId5" action="ppaction://hlinksldjump"/>
            <a:extLst>
              <a:ext uri="{FF2B5EF4-FFF2-40B4-BE49-F238E27FC236}">
                <a16:creationId xmlns:a16="http://schemas.microsoft.com/office/drawing/2014/main" id="{04703027-9E90-45AC-8F53-1570CFC00486}"/>
              </a:ext>
            </a:extLst>
          </p:cNvPr>
          <p:cNvSpPr/>
          <p:nvPr/>
        </p:nvSpPr>
        <p:spPr>
          <a:xfrm flipH="1">
            <a:off x="12205754" y="4962400"/>
            <a:ext cx="2127509" cy="57939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39" name="Subtitle 2">
            <a:extLst>
              <a:ext uri="{FF2B5EF4-FFF2-40B4-BE49-F238E27FC236}">
                <a16:creationId xmlns:a16="http://schemas.microsoft.com/office/drawing/2014/main" id="{BE6B9C04-DB38-4FC5-933F-3F77469B36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15234" y="3764211"/>
            <a:ext cx="6772332" cy="1201095"/>
          </a:xfrm>
        </p:spPr>
        <p:txBody>
          <a:bodyPr>
            <a:normAutofit fontScale="55000" lnSpcReduction="20000"/>
          </a:bodyPr>
          <a:lstStyle/>
          <a:p>
            <a:pPr rtl="1">
              <a:lnSpc>
                <a:spcPct val="170000"/>
              </a:lnSpc>
            </a:pPr>
            <a:r>
              <a:rPr lang="fa-IR" dirty="0">
                <a:solidFill>
                  <a:schemeClr val="bg1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باشد.</a:t>
            </a:r>
          </a:p>
        </p:txBody>
      </p:sp>
      <p:sp>
        <p:nvSpPr>
          <p:cNvPr id="18" name="Arrow: Chevron 17">
            <a:hlinkClick r:id="rId3" action="ppaction://hlinksldjump"/>
            <a:extLst>
              <a:ext uri="{FF2B5EF4-FFF2-40B4-BE49-F238E27FC236}">
                <a16:creationId xmlns:a16="http://schemas.microsoft.com/office/drawing/2014/main" id="{41A475B3-8E5C-4641-BAFC-7F8BC4ECF8A8}"/>
              </a:ext>
            </a:extLst>
          </p:cNvPr>
          <p:cNvSpPr/>
          <p:nvPr/>
        </p:nvSpPr>
        <p:spPr>
          <a:xfrm>
            <a:off x="6595552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9" name="Arrow: Chevron 18">
            <a:hlinkClick r:id="rId3" action="ppaction://hlinksldjump"/>
            <a:extLst>
              <a:ext uri="{FF2B5EF4-FFF2-40B4-BE49-F238E27FC236}">
                <a16:creationId xmlns:a16="http://schemas.microsoft.com/office/drawing/2014/main" id="{CE860113-49CB-4A22-8158-531621CFB468}"/>
              </a:ext>
            </a:extLst>
          </p:cNvPr>
          <p:cNvSpPr/>
          <p:nvPr/>
        </p:nvSpPr>
        <p:spPr>
          <a:xfrm flipH="1">
            <a:off x="5249766" y="103531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28" name="Freeform: Shape 27">
            <a:extLst>
              <a:ext uri="{FF2B5EF4-FFF2-40B4-BE49-F238E27FC236}">
                <a16:creationId xmlns:a16="http://schemas.microsoft.com/office/drawing/2014/main" id="{DDFE6EF0-0437-48F0-A5BB-EB56C47D268F}"/>
              </a:ext>
            </a:extLst>
          </p:cNvPr>
          <p:cNvSpPr/>
          <p:nvPr/>
        </p:nvSpPr>
        <p:spPr>
          <a:xfrm>
            <a:off x="5554818" y="5337033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FFD966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91440" tIns="91440" rIns="91440" bIns="0" numCol="1" spcCol="1270" anchor="ctr" anchorCtr="0">
            <a:no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fa-IR" sz="2000" kern="12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1E9C925-628A-B7FE-8B77-5494D21C5CAF}"/>
              </a:ext>
            </a:extLst>
          </p:cNvPr>
          <p:cNvSpPr txBox="1"/>
          <p:nvPr/>
        </p:nvSpPr>
        <p:spPr>
          <a:xfrm>
            <a:off x="5742961" y="5419805"/>
            <a:ext cx="706272" cy="433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400" kern="1200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260751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>
            <a:alpha val="4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A9F2FE93-2B41-43B8-A4BB-8CC1767501DD}"/>
              </a:ext>
            </a:extLst>
          </p:cNvPr>
          <p:cNvSpPr/>
          <p:nvPr/>
        </p:nvSpPr>
        <p:spPr>
          <a:xfrm>
            <a:off x="304800" y="357594"/>
            <a:ext cx="10580914" cy="6142812"/>
          </a:xfrm>
          <a:prstGeom prst="roundRect">
            <a:avLst>
              <a:gd name="adj" fmla="val 1309"/>
            </a:avLst>
          </a:prstGeom>
          <a:solidFill>
            <a:schemeClr val="bg1"/>
          </a:solidFill>
          <a:ln>
            <a:solidFill>
              <a:srgbClr val="26234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48" name="!!Freeform: Shape 20">
            <a:hlinkClick r:id="rId2" action="ppaction://hlinksldjump"/>
            <a:extLst>
              <a:ext uri="{FF2B5EF4-FFF2-40B4-BE49-F238E27FC236}">
                <a16:creationId xmlns:a16="http://schemas.microsoft.com/office/drawing/2014/main" id="{0D5DBB3B-CB48-4BC6-B242-8CAFEBB0290C}"/>
              </a:ext>
            </a:extLst>
          </p:cNvPr>
          <p:cNvSpPr/>
          <p:nvPr/>
        </p:nvSpPr>
        <p:spPr>
          <a:xfrm flipH="1">
            <a:off x="10105805" y="1292694"/>
            <a:ext cx="2551805" cy="694944"/>
          </a:xfrm>
          <a:custGeom>
            <a:avLst/>
            <a:gdLst>
              <a:gd name="connsiteX0" fmla="*/ 3876375 w 4307610"/>
              <a:gd name="connsiteY0" fmla="*/ 0 h 765434"/>
              <a:gd name="connsiteX1" fmla="*/ 2676576 w 4307610"/>
              <a:gd name="connsiteY1" fmla="*/ 0 h 765434"/>
              <a:gd name="connsiteX2" fmla="*/ 1631034 w 4307610"/>
              <a:gd name="connsiteY2" fmla="*/ 0 h 765434"/>
              <a:gd name="connsiteX3" fmla="*/ 431235 w 4307610"/>
              <a:gd name="connsiteY3" fmla="*/ 0 h 765434"/>
              <a:gd name="connsiteX4" fmla="*/ 0 w 4307610"/>
              <a:gd name="connsiteY4" fmla="*/ 382717 h 765434"/>
              <a:gd name="connsiteX5" fmla="*/ 431235 w 4307610"/>
              <a:gd name="connsiteY5" fmla="*/ 765434 h 765434"/>
              <a:gd name="connsiteX6" fmla="*/ 1631034 w 4307610"/>
              <a:gd name="connsiteY6" fmla="*/ 765434 h 765434"/>
              <a:gd name="connsiteX7" fmla="*/ 2676576 w 4307610"/>
              <a:gd name="connsiteY7" fmla="*/ 765434 h 765434"/>
              <a:gd name="connsiteX8" fmla="*/ 3876375 w 4307610"/>
              <a:gd name="connsiteY8" fmla="*/ 765434 h 765434"/>
              <a:gd name="connsiteX9" fmla="*/ 4307610 w 4307610"/>
              <a:gd name="connsiteY9" fmla="*/ 382717 h 7654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4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7"/>
                </a:lnTo>
                <a:lnTo>
                  <a:pt x="431235" y="765434"/>
                </a:lnTo>
                <a:lnTo>
                  <a:pt x="1631034" y="765434"/>
                </a:lnTo>
                <a:lnTo>
                  <a:pt x="2676576" y="765434"/>
                </a:lnTo>
                <a:lnTo>
                  <a:pt x="3876375" y="765434"/>
                </a:lnTo>
                <a:lnTo>
                  <a:pt x="4307610" y="382717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اول</a:t>
            </a:r>
          </a:p>
        </p:txBody>
      </p:sp>
      <p:sp>
        <p:nvSpPr>
          <p:cNvPr id="49" name="Freeform: Shape 48">
            <a:hlinkClick r:id="rId3" action="ppaction://hlinksldjump"/>
            <a:extLst>
              <a:ext uri="{FF2B5EF4-FFF2-40B4-BE49-F238E27FC236}">
                <a16:creationId xmlns:a16="http://schemas.microsoft.com/office/drawing/2014/main" id="{77D69F18-4B5C-40D6-8116-250D04FED27C}"/>
              </a:ext>
            </a:extLst>
          </p:cNvPr>
          <p:cNvSpPr/>
          <p:nvPr/>
        </p:nvSpPr>
        <p:spPr>
          <a:xfrm flipH="1">
            <a:off x="10105805" y="2196046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دوم</a:t>
            </a:r>
          </a:p>
        </p:txBody>
      </p:sp>
      <p:sp>
        <p:nvSpPr>
          <p:cNvPr id="50" name="!!Freeform: Shape 32">
            <a:hlinkClick r:id="rId3" action="ppaction://hlinksldjump"/>
            <a:extLst>
              <a:ext uri="{FF2B5EF4-FFF2-40B4-BE49-F238E27FC236}">
                <a16:creationId xmlns:a16="http://schemas.microsoft.com/office/drawing/2014/main" id="{75FA1A5F-92D2-461A-A986-FB3376117D7B}"/>
              </a:ext>
            </a:extLst>
          </p:cNvPr>
          <p:cNvSpPr/>
          <p:nvPr/>
        </p:nvSpPr>
        <p:spPr>
          <a:xfrm flipH="1">
            <a:off x="10105804" y="3099398"/>
            <a:ext cx="2551806" cy="694944"/>
          </a:xfrm>
          <a:custGeom>
            <a:avLst/>
            <a:gdLst>
              <a:gd name="connsiteX0" fmla="*/ 3876376 w 4307611"/>
              <a:gd name="connsiteY0" fmla="*/ 0 h 765433"/>
              <a:gd name="connsiteX1" fmla="*/ 2676577 w 4307611"/>
              <a:gd name="connsiteY1" fmla="*/ 0 h 765433"/>
              <a:gd name="connsiteX2" fmla="*/ 1631034 w 4307611"/>
              <a:gd name="connsiteY2" fmla="*/ 0 h 765433"/>
              <a:gd name="connsiteX3" fmla="*/ 431235 w 4307611"/>
              <a:gd name="connsiteY3" fmla="*/ 0 h 765433"/>
              <a:gd name="connsiteX4" fmla="*/ 0 w 4307611"/>
              <a:gd name="connsiteY4" fmla="*/ 382716 h 765433"/>
              <a:gd name="connsiteX5" fmla="*/ 431235 w 4307611"/>
              <a:gd name="connsiteY5" fmla="*/ 765433 h 765433"/>
              <a:gd name="connsiteX6" fmla="*/ 1631034 w 4307611"/>
              <a:gd name="connsiteY6" fmla="*/ 765433 h 765433"/>
              <a:gd name="connsiteX7" fmla="*/ 2676577 w 4307611"/>
              <a:gd name="connsiteY7" fmla="*/ 765433 h 765433"/>
              <a:gd name="connsiteX8" fmla="*/ 3876376 w 4307611"/>
              <a:gd name="connsiteY8" fmla="*/ 765433 h 765433"/>
              <a:gd name="connsiteX9" fmla="*/ 4307611 w 4307611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1" h="765433">
                <a:moveTo>
                  <a:pt x="3876376" y="0"/>
                </a:moveTo>
                <a:lnTo>
                  <a:pt x="2676577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7" y="765433"/>
                </a:lnTo>
                <a:lnTo>
                  <a:pt x="3876376" y="765433"/>
                </a:lnTo>
                <a:lnTo>
                  <a:pt x="4307611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سوم</a:t>
            </a:r>
          </a:p>
        </p:txBody>
      </p:sp>
      <p:sp>
        <p:nvSpPr>
          <p:cNvPr id="51" name="Freeform: Shape 50">
            <a:hlinkClick r:id="rId4" action="ppaction://hlinksldjump"/>
            <a:extLst>
              <a:ext uri="{FF2B5EF4-FFF2-40B4-BE49-F238E27FC236}">
                <a16:creationId xmlns:a16="http://schemas.microsoft.com/office/drawing/2014/main" id="{B9830256-9CC9-4B27-AC6A-ED612AFBC1ED}"/>
              </a:ext>
            </a:extLst>
          </p:cNvPr>
          <p:cNvSpPr/>
          <p:nvPr/>
        </p:nvSpPr>
        <p:spPr>
          <a:xfrm flipH="1">
            <a:off x="10105805" y="4002750"/>
            <a:ext cx="2551805" cy="694944"/>
          </a:xfrm>
          <a:custGeom>
            <a:avLst/>
            <a:gdLst>
              <a:gd name="connsiteX0" fmla="*/ 3876375 w 4307610"/>
              <a:gd name="connsiteY0" fmla="*/ 0 h 765433"/>
              <a:gd name="connsiteX1" fmla="*/ 2676576 w 4307610"/>
              <a:gd name="connsiteY1" fmla="*/ 0 h 765433"/>
              <a:gd name="connsiteX2" fmla="*/ 1631034 w 4307610"/>
              <a:gd name="connsiteY2" fmla="*/ 0 h 765433"/>
              <a:gd name="connsiteX3" fmla="*/ 431235 w 4307610"/>
              <a:gd name="connsiteY3" fmla="*/ 0 h 765433"/>
              <a:gd name="connsiteX4" fmla="*/ 0 w 4307610"/>
              <a:gd name="connsiteY4" fmla="*/ 382716 h 765433"/>
              <a:gd name="connsiteX5" fmla="*/ 431235 w 4307610"/>
              <a:gd name="connsiteY5" fmla="*/ 765433 h 765433"/>
              <a:gd name="connsiteX6" fmla="*/ 1631034 w 4307610"/>
              <a:gd name="connsiteY6" fmla="*/ 765433 h 765433"/>
              <a:gd name="connsiteX7" fmla="*/ 2676576 w 4307610"/>
              <a:gd name="connsiteY7" fmla="*/ 765433 h 765433"/>
              <a:gd name="connsiteX8" fmla="*/ 3876375 w 4307610"/>
              <a:gd name="connsiteY8" fmla="*/ 765433 h 765433"/>
              <a:gd name="connsiteX9" fmla="*/ 4307610 w 4307610"/>
              <a:gd name="connsiteY9" fmla="*/ 382716 h 765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3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3"/>
                </a:lnTo>
                <a:lnTo>
                  <a:pt x="1631034" y="765433"/>
                </a:lnTo>
                <a:lnTo>
                  <a:pt x="2676576" y="765433"/>
                </a:lnTo>
                <a:lnTo>
                  <a:pt x="3876375" y="765433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a-IR" dirty="0">
                <a:solidFill>
                  <a:prstClr val="white"/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چهارم</a:t>
            </a:r>
          </a:p>
        </p:txBody>
      </p:sp>
      <p:sp>
        <p:nvSpPr>
          <p:cNvPr id="52" name="!!Freeform: Shape 34">
            <a:hlinkClick r:id="rId4" action="ppaction://hlinksldjump"/>
            <a:extLst>
              <a:ext uri="{FF2B5EF4-FFF2-40B4-BE49-F238E27FC236}">
                <a16:creationId xmlns:a16="http://schemas.microsoft.com/office/drawing/2014/main" id="{837A91C8-1B0B-4D45-8687-D24DC1EB7D28}"/>
              </a:ext>
            </a:extLst>
          </p:cNvPr>
          <p:cNvSpPr/>
          <p:nvPr/>
        </p:nvSpPr>
        <p:spPr>
          <a:xfrm flipH="1">
            <a:off x="10083539" y="4906102"/>
            <a:ext cx="2551805" cy="694944"/>
          </a:xfrm>
          <a:custGeom>
            <a:avLst/>
            <a:gdLst>
              <a:gd name="connsiteX0" fmla="*/ 3876375 w 4307610"/>
              <a:gd name="connsiteY0" fmla="*/ 0 h 765432"/>
              <a:gd name="connsiteX1" fmla="*/ 2676576 w 4307610"/>
              <a:gd name="connsiteY1" fmla="*/ 0 h 765432"/>
              <a:gd name="connsiteX2" fmla="*/ 1631034 w 4307610"/>
              <a:gd name="connsiteY2" fmla="*/ 0 h 765432"/>
              <a:gd name="connsiteX3" fmla="*/ 431235 w 4307610"/>
              <a:gd name="connsiteY3" fmla="*/ 0 h 765432"/>
              <a:gd name="connsiteX4" fmla="*/ 0 w 4307610"/>
              <a:gd name="connsiteY4" fmla="*/ 382716 h 765432"/>
              <a:gd name="connsiteX5" fmla="*/ 431235 w 4307610"/>
              <a:gd name="connsiteY5" fmla="*/ 765432 h 765432"/>
              <a:gd name="connsiteX6" fmla="*/ 1631034 w 4307610"/>
              <a:gd name="connsiteY6" fmla="*/ 765432 h 765432"/>
              <a:gd name="connsiteX7" fmla="*/ 2676576 w 4307610"/>
              <a:gd name="connsiteY7" fmla="*/ 765432 h 765432"/>
              <a:gd name="connsiteX8" fmla="*/ 3876375 w 4307610"/>
              <a:gd name="connsiteY8" fmla="*/ 765432 h 765432"/>
              <a:gd name="connsiteX9" fmla="*/ 4307610 w 4307610"/>
              <a:gd name="connsiteY9" fmla="*/ 382716 h 7654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307610" h="765432">
                <a:moveTo>
                  <a:pt x="3876375" y="0"/>
                </a:moveTo>
                <a:lnTo>
                  <a:pt x="2676576" y="0"/>
                </a:lnTo>
                <a:lnTo>
                  <a:pt x="1631034" y="0"/>
                </a:lnTo>
                <a:lnTo>
                  <a:pt x="431235" y="0"/>
                </a:lnTo>
                <a:lnTo>
                  <a:pt x="0" y="382716"/>
                </a:lnTo>
                <a:lnTo>
                  <a:pt x="431235" y="765432"/>
                </a:lnTo>
                <a:lnTo>
                  <a:pt x="1631034" y="765432"/>
                </a:lnTo>
                <a:lnTo>
                  <a:pt x="2676576" y="765432"/>
                </a:lnTo>
                <a:lnTo>
                  <a:pt x="3876375" y="765432"/>
                </a:lnTo>
                <a:lnTo>
                  <a:pt x="4307610" y="382716"/>
                </a:lnTo>
                <a:close/>
              </a:path>
            </a:pathLst>
          </a:custGeom>
          <a:solidFill>
            <a:srgbClr val="FFD966"/>
          </a:solidFill>
          <a:ln w="12700" cap="flat" cmpd="sng" algn="ctr">
            <a:noFill/>
            <a:prstDash val="dash"/>
            <a:miter lim="800000"/>
          </a:ln>
          <a:effectLst/>
        </p:spPr>
        <p:txBody>
          <a:bodyPr rtlCol="0" anchor="ctr"/>
          <a:lstStyle/>
          <a:p>
            <a:pPr algn="ctr" rtl="1"/>
            <a:r>
              <a:rPr lang="fa-IR" sz="220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Shabnam" panose="020B0603030804020204" pitchFamily="34" charset="-78"/>
                <a:cs typeface="Shabnam" panose="020B0603030804020204" pitchFamily="34" charset="-78"/>
              </a:rPr>
              <a:t>فصل پنجم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5A2D88F4-0E7B-422B-87C7-316B14DAB4E5}"/>
              </a:ext>
            </a:extLst>
          </p:cNvPr>
          <p:cNvSpPr/>
          <p:nvPr/>
        </p:nvSpPr>
        <p:spPr>
          <a:xfrm>
            <a:off x="9888033" y="1366297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01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E24BAFFA-6F88-422B-8424-E4093D100426}"/>
              </a:ext>
            </a:extLst>
          </p:cNvPr>
          <p:cNvSpPr/>
          <p:nvPr/>
        </p:nvSpPr>
        <p:spPr>
          <a:xfrm>
            <a:off x="9888033" y="2269649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02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4984405-D8F0-4808-9B59-F52CAA8A28FD}"/>
              </a:ext>
            </a:extLst>
          </p:cNvPr>
          <p:cNvSpPr/>
          <p:nvPr/>
        </p:nvSpPr>
        <p:spPr>
          <a:xfrm>
            <a:off x="9888033" y="3173001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03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433A6DEA-5D76-4A65-AABA-14DD687794EA}"/>
              </a:ext>
            </a:extLst>
          </p:cNvPr>
          <p:cNvSpPr/>
          <p:nvPr/>
        </p:nvSpPr>
        <p:spPr>
          <a:xfrm>
            <a:off x="9888033" y="4076354"/>
            <a:ext cx="547737" cy="547737"/>
          </a:xfrm>
          <a:prstGeom prst="ellipse">
            <a:avLst/>
          </a:prstGeom>
          <a:solidFill>
            <a:srgbClr val="FFD966"/>
          </a:solidFill>
          <a:ln>
            <a:solidFill>
              <a:srgbClr val="262344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262344"/>
                </a:solidFill>
                <a:latin typeface="Vazir Light FD" pitchFamily="2" charset="-78"/>
                <a:cs typeface="Vazir Light FD" pitchFamily="2" charset="-78"/>
              </a:rPr>
              <a:t>04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1A5E9DA8-4560-46C3-9999-52D81640B523}"/>
              </a:ext>
            </a:extLst>
          </p:cNvPr>
          <p:cNvSpPr/>
          <p:nvPr/>
        </p:nvSpPr>
        <p:spPr>
          <a:xfrm>
            <a:off x="9888033" y="4979706"/>
            <a:ext cx="547737" cy="547737"/>
          </a:xfrm>
          <a:prstGeom prst="ellipse">
            <a:avLst/>
          </a:prstGeom>
          <a:solidFill>
            <a:srgbClr val="262344"/>
          </a:solidFill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tint val="50000"/>
              <a:hueOff val="0"/>
              <a:satOff val="0"/>
              <a:lumOff val="0"/>
              <a:alphaOff val="0"/>
            </a:schemeClr>
          </a:fillRef>
          <a:effectRef idx="3">
            <a:schemeClr val="accent1">
              <a:tint val="50000"/>
              <a:hueOff val="0"/>
              <a:satOff val="0"/>
              <a:lumOff val="0"/>
              <a:alphaOff val="0"/>
            </a:schemeClr>
          </a:effectRef>
          <a:fontRef idx="minor">
            <a:schemeClr val="lt1">
              <a:hueOff val="0"/>
              <a:satOff val="0"/>
              <a:lumOff val="0"/>
              <a:alphaOff val="0"/>
            </a:schemeClr>
          </a:fontRef>
        </p:style>
        <p:txBody>
          <a:bodyPr lIns="0" rIns="0"/>
          <a:lstStyle/>
          <a:p>
            <a:pPr algn="ctr" rtl="1"/>
            <a:r>
              <a:rPr lang="fa-IR" sz="2000" b="1" dirty="0">
                <a:solidFill>
                  <a:srgbClr val="FFD966"/>
                </a:solidFill>
                <a:latin typeface="Vazir Light FD" pitchFamily="2" charset="-78"/>
                <a:cs typeface="Vazir Light FD" pitchFamily="2" charset="-78"/>
              </a:rPr>
              <a:t>05</a:t>
            </a:r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63683828-7D17-A2ED-77F8-38088A584FED}"/>
              </a:ext>
            </a:extLst>
          </p:cNvPr>
          <p:cNvSpPr/>
          <p:nvPr/>
        </p:nvSpPr>
        <p:spPr>
          <a:xfrm>
            <a:off x="11498811" y="6010082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EE50F63E-B1AA-07CD-8F6C-C39ABE5850DB}"/>
              </a:ext>
            </a:extLst>
          </p:cNvPr>
          <p:cNvSpPr/>
          <p:nvPr/>
        </p:nvSpPr>
        <p:spPr>
          <a:xfrm>
            <a:off x="11459054" y="354516"/>
            <a:ext cx="1082559" cy="490325"/>
          </a:xfrm>
          <a:custGeom>
            <a:avLst/>
            <a:gdLst>
              <a:gd name="connsiteX0" fmla="*/ 953469 w 1082559"/>
              <a:gd name="connsiteY0" fmla="*/ 0 h 490325"/>
              <a:gd name="connsiteX1" fmla="*/ 801232 w 1082559"/>
              <a:gd name="connsiteY1" fmla="*/ 0 h 490325"/>
              <a:gd name="connsiteX2" fmla="*/ 281327 w 1082559"/>
              <a:gd name="connsiteY2" fmla="*/ 0 h 490325"/>
              <a:gd name="connsiteX3" fmla="*/ 129090 w 1082559"/>
              <a:gd name="connsiteY3" fmla="*/ 0 h 490325"/>
              <a:gd name="connsiteX4" fmla="*/ 0 w 1082559"/>
              <a:gd name="connsiteY4" fmla="*/ 245162 h 490325"/>
              <a:gd name="connsiteX5" fmla="*/ 129090 w 1082559"/>
              <a:gd name="connsiteY5" fmla="*/ 490325 h 490325"/>
              <a:gd name="connsiteX6" fmla="*/ 281327 w 1082559"/>
              <a:gd name="connsiteY6" fmla="*/ 490325 h 490325"/>
              <a:gd name="connsiteX7" fmla="*/ 801232 w 1082559"/>
              <a:gd name="connsiteY7" fmla="*/ 490325 h 490325"/>
              <a:gd name="connsiteX8" fmla="*/ 953469 w 1082559"/>
              <a:gd name="connsiteY8" fmla="*/ 490325 h 490325"/>
              <a:gd name="connsiteX9" fmla="*/ 1082559 w 1082559"/>
              <a:gd name="connsiteY9" fmla="*/ 245162 h 4903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2559" h="490325">
                <a:moveTo>
                  <a:pt x="953469" y="0"/>
                </a:moveTo>
                <a:lnTo>
                  <a:pt x="801232" y="0"/>
                </a:lnTo>
                <a:lnTo>
                  <a:pt x="281327" y="0"/>
                </a:lnTo>
                <a:lnTo>
                  <a:pt x="129090" y="0"/>
                </a:lnTo>
                <a:lnTo>
                  <a:pt x="0" y="245162"/>
                </a:lnTo>
                <a:lnTo>
                  <a:pt x="129090" y="490325"/>
                </a:lnTo>
                <a:lnTo>
                  <a:pt x="281327" y="490325"/>
                </a:lnTo>
                <a:lnTo>
                  <a:pt x="801232" y="490325"/>
                </a:lnTo>
                <a:lnTo>
                  <a:pt x="953469" y="490325"/>
                </a:lnTo>
                <a:lnTo>
                  <a:pt x="1082559" y="245162"/>
                </a:lnTo>
                <a:close/>
              </a:path>
            </a:pathLst>
          </a:custGeom>
          <a:solidFill>
            <a:srgbClr val="262344"/>
          </a:solidFill>
          <a:ln w="28575">
            <a:noFill/>
            <a:prstDash val="sysDot"/>
          </a:ln>
          <a:effectLst>
            <a:outerShdw blurRad="127000" dist="508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a-IR" dirty="0">
              <a:solidFill>
                <a:prstClr val="white"/>
              </a:solidFill>
              <a:cs typeface="Arial"/>
            </a:endParaRPr>
          </a:p>
        </p:txBody>
      </p:sp>
      <p:pic>
        <p:nvPicPr>
          <p:cNvPr id="4" name="Graphic 3" descr="Home">
            <a:extLst>
              <a:ext uri="{FF2B5EF4-FFF2-40B4-BE49-F238E27FC236}">
                <a16:creationId xmlns:a16="http://schemas.microsoft.com/office/drawing/2014/main" id="{8A3786AC-F4BE-B4BD-A1C8-5442AE7CAE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686471" y="405081"/>
            <a:ext cx="389195" cy="38919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231082-5B2E-40E5-A7AC-A5E0C8B07B57}"/>
              </a:ext>
            </a:extLst>
          </p:cNvPr>
          <p:cNvSpPr txBox="1"/>
          <p:nvPr/>
        </p:nvSpPr>
        <p:spPr>
          <a:xfrm>
            <a:off x="11498811" y="6112895"/>
            <a:ext cx="806054" cy="377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0" indent="0" algn="ctr" defTabSz="14668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fa-IR" sz="2000" kern="1200" dirty="0">
                <a:solidFill>
                  <a:schemeClr val="bg1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14</a:t>
            </a:r>
          </a:p>
        </p:txBody>
      </p:sp>
      <p:sp>
        <p:nvSpPr>
          <p:cNvPr id="6" name="Arrow: Chevron 5">
            <a:hlinkClick r:id="rId2" action="ppaction://hlinksldjump"/>
            <a:extLst>
              <a:ext uri="{FF2B5EF4-FFF2-40B4-BE49-F238E27FC236}">
                <a16:creationId xmlns:a16="http://schemas.microsoft.com/office/drawing/2014/main" id="{4689C099-17EE-6D0D-37B0-DA901262D0A1}"/>
              </a:ext>
            </a:extLst>
          </p:cNvPr>
          <p:cNvSpPr/>
          <p:nvPr/>
        </p:nvSpPr>
        <p:spPr>
          <a:xfrm>
            <a:off x="6595552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7" name="Arrow: Chevron 6">
            <a:hlinkClick r:id="rId2" action="ppaction://hlinksldjump"/>
            <a:extLst>
              <a:ext uri="{FF2B5EF4-FFF2-40B4-BE49-F238E27FC236}">
                <a16:creationId xmlns:a16="http://schemas.microsoft.com/office/drawing/2014/main" id="{9F3279E9-9571-27F5-F6A9-FB0218BC100A}"/>
              </a:ext>
            </a:extLst>
          </p:cNvPr>
          <p:cNvSpPr/>
          <p:nvPr/>
        </p:nvSpPr>
        <p:spPr>
          <a:xfrm flipH="1">
            <a:off x="5249766" y="-1555490"/>
            <a:ext cx="346677" cy="490325"/>
          </a:xfrm>
          <a:prstGeom prst="chevron">
            <a:avLst>
              <a:gd name="adj" fmla="val 35959"/>
            </a:avLst>
          </a:prstGeom>
          <a:solidFill>
            <a:srgbClr val="FFD966"/>
          </a:solidFill>
          <a:ln>
            <a:solidFill>
              <a:srgbClr val="FFD966"/>
            </a:solidFill>
          </a:ln>
        </p:spPr>
        <p:style>
          <a:lnRef idx="0">
            <a:schemeClr val="lt1">
              <a:hueOff val="0"/>
              <a:satOff val="0"/>
              <a:lumOff val="0"/>
              <a:alphaOff val="0"/>
            </a:schemeClr>
          </a:lnRef>
          <a:fillRef idx="3">
            <a:schemeClr val="accent1">
              <a:hueOff val="0"/>
              <a:satOff val="0"/>
              <a:lumOff val="0"/>
              <a:alphaOff val="0"/>
            </a:schemeClr>
          </a:fillRef>
          <a:effectRef idx="3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0" tIns="121921" rIns="182880" bIns="121920" numCol="1" spcCol="1270" anchor="ctr" anchorCtr="0">
            <a:noAutofit/>
          </a:bodyPr>
          <a:lstStyle/>
          <a:p>
            <a:pPr algn="ctr" defTabSz="1422400" rtl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endParaRPr lang="fa-IR" sz="2400" dirty="0">
              <a:latin typeface="Estedad Black" panose="02000A03000000000000" pitchFamily="2" charset="-78"/>
              <a:cs typeface="Estedad Black" panose="02000A03000000000000" pitchFamily="2" charset="-78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895F7F24-D5C6-AD90-CA4D-F6B5182E65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6876" y="974936"/>
            <a:ext cx="8839082" cy="774676"/>
          </a:xfrm>
        </p:spPr>
        <p:txBody>
          <a:bodyPr>
            <a:noAutofit/>
          </a:bodyPr>
          <a:lstStyle/>
          <a:p>
            <a:r>
              <a:rPr lang="fa-IR" sz="4800" b="1" dirty="0">
                <a:solidFill>
                  <a:srgbClr val="262344"/>
                </a:solidFill>
                <a:latin typeface="Estedad Black" panose="02000A03000000000000" pitchFamily="2" charset="-78"/>
                <a:cs typeface="Estedad Black" panose="02000A03000000000000" pitchFamily="2" charset="-78"/>
              </a:rPr>
              <a:t>تیتر خود را وارد کنید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284821-3DE8-C6A9-E164-F7E4353BF3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6876" y="2071419"/>
            <a:ext cx="8839082" cy="3512127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70000"/>
              </a:lnSpc>
            </a:pPr>
            <a:r>
              <a:rPr lang="fa-IR" dirty="0">
                <a:solidFill>
                  <a:srgbClr val="000000"/>
                </a:solidFill>
                <a:effectLst/>
                <a:latin typeface="Shabnam" panose="020B0603030804020204" pitchFamily="34" charset="-78"/>
                <a:cs typeface="Shabnam" panose="020B0603030804020204" pitchFamily="34" charset="-78"/>
              </a:rPr>
              <a:t>لورم ایپسوم متن ساختگی با تولید سادگی نامفهوم از صنعت چاپ، و با استفاده از طراحان گرافیک است، چاپگرها و متون بلکه روزنامه و مجله در ستون و سطرآنچنان که لازم است، و برای شرایط فعلی تکنولوژی مورد نیاز، و کاربردهای متنوع با هدف بهبود ابزارهای کاربردی می باشد، کتابهای زیادی در شصت و سه درصد گذشته حال و آینده، شناخت فراوان جامعه و متخصصان را می طلبد، تا با نرم افزارها شناخت بیشتری را برای طراحان رایانه ای علی الخصوص طراحان خلاقی، و فرهنگ پیشرو در زبان فارسی ایجاد کرد، در این صورت می توان امید داشت که تمام و دشواری موجود در ارائه راهکارها، و شرایط سخت تایپ به پایان رسد و زمان مورد نیاز شامل حروفچینی دستاوردهای اصلی، و جوابگوی سوالات پیوسته اهل دنیای موجود طراحی اساسا مورد استفاده قرار گیرد.</a:t>
            </a:r>
          </a:p>
        </p:txBody>
      </p:sp>
    </p:spTree>
    <p:extLst>
      <p:ext uri="{BB962C8B-B14F-4D97-AF65-F5344CB8AC3E}">
        <p14:creationId xmlns:p14="http://schemas.microsoft.com/office/powerpoint/2010/main" val="5566421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hlinkClick r:id="rId2"/>
            <a:extLst>
              <a:ext uri="{FF2B5EF4-FFF2-40B4-BE49-F238E27FC236}">
                <a16:creationId xmlns:a16="http://schemas.microsoft.com/office/drawing/2014/main" id="{A771FEFC-1FEE-48CC-95ED-8B444D136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8200" y="1781792"/>
            <a:ext cx="3399344" cy="2158933"/>
          </a:xfrm>
          <a:prstGeom prst="rect">
            <a:avLst/>
          </a:prstGeom>
        </p:spPr>
      </p:pic>
      <p:pic>
        <p:nvPicPr>
          <p:cNvPr id="7" name="Picture 6">
            <a:hlinkClick r:id="rId4"/>
            <a:extLst>
              <a:ext uri="{FF2B5EF4-FFF2-40B4-BE49-F238E27FC236}">
                <a16:creationId xmlns:a16="http://schemas.microsoft.com/office/drawing/2014/main" id="{FAFD8D5F-04A3-43CB-8077-9C8FC4C62B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4379" y="4107063"/>
            <a:ext cx="3398960" cy="2158933"/>
          </a:xfrm>
          <a:prstGeom prst="rect">
            <a:avLst/>
          </a:prstGeom>
        </p:spPr>
      </p:pic>
      <p:pic>
        <p:nvPicPr>
          <p:cNvPr id="8" name="Picture 7">
            <a:hlinkClick r:id="rId6"/>
            <a:extLst>
              <a:ext uri="{FF2B5EF4-FFF2-40B4-BE49-F238E27FC236}">
                <a16:creationId xmlns:a16="http://schemas.microsoft.com/office/drawing/2014/main" id="{6B940E76-254C-4012-8BCF-2FF08BCAFBE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043791" y="1781792"/>
            <a:ext cx="3400140" cy="2158933"/>
          </a:xfrm>
          <a:prstGeom prst="rect">
            <a:avLst/>
          </a:prstGeom>
        </p:spPr>
      </p:pic>
      <p:pic>
        <p:nvPicPr>
          <p:cNvPr id="9" name="Picture 8">
            <a:hlinkClick r:id="rId8"/>
            <a:extLst>
              <a:ext uri="{FF2B5EF4-FFF2-40B4-BE49-F238E27FC236}">
                <a16:creationId xmlns:a16="http://schemas.microsoft.com/office/drawing/2014/main" id="{C2D43386-69DD-4358-A6D4-54A364F61C8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6169" y="1781791"/>
            <a:ext cx="3399671" cy="2158933"/>
          </a:xfrm>
          <a:prstGeom prst="rect">
            <a:avLst/>
          </a:prstGeom>
        </p:spPr>
      </p:pic>
      <p:pic>
        <p:nvPicPr>
          <p:cNvPr id="10" name="Picture 9">
            <a:hlinkClick r:id="rId10"/>
            <a:extLst>
              <a:ext uri="{FF2B5EF4-FFF2-40B4-BE49-F238E27FC236}">
                <a16:creationId xmlns:a16="http://schemas.microsoft.com/office/drawing/2014/main" id="{DC02DD8C-7132-4402-8AD7-31DD2296A2EE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7711" y="4107063"/>
            <a:ext cx="3400320" cy="2158933"/>
          </a:xfrm>
          <a:prstGeom prst="rect">
            <a:avLst/>
          </a:prstGeom>
        </p:spPr>
      </p:pic>
      <p:pic>
        <p:nvPicPr>
          <p:cNvPr id="11" name="Picture 10">
            <a:hlinkClick r:id="rId12"/>
            <a:extLst>
              <a:ext uri="{FF2B5EF4-FFF2-40B4-BE49-F238E27FC236}">
                <a16:creationId xmlns:a16="http://schemas.microsoft.com/office/drawing/2014/main" id="{C60200ED-EE58-4973-8133-A3DDB3D827D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395881" y="4107063"/>
            <a:ext cx="3400065" cy="2158933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4AF9597-3A53-491B-A20F-3D0B9BC3C600}"/>
              </a:ext>
            </a:extLst>
          </p:cNvPr>
          <p:cNvSpPr txBox="1"/>
          <p:nvPr/>
        </p:nvSpPr>
        <p:spPr>
          <a:xfrm>
            <a:off x="2253730" y="379266"/>
            <a:ext cx="7684540" cy="1191095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32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قالب های بیشتر از ایران پاورپوینت</a:t>
            </a:r>
          </a:p>
          <a:p>
            <a:pPr marL="0" marR="0" lvl="0" indent="0" algn="ctr" defTabSz="121911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fa-IR" sz="2000" b="1" i="0" u="none" strike="noStrike" kern="0" cap="none" spc="0" normalizeH="0" baseline="0" noProof="0" dirty="0">
                <a:ln w="3175">
                  <a:noFill/>
                </a:ln>
                <a:solidFill>
                  <a:srgbClr val="FFFFFF"/>
                </a:solidFill>
                <a:effectLst>
                  <a:outerShdw blurRad="88900" sx="102000" sy="102000" algn="ctr" rotWithShape="0">
                    <a:prstClr val="black">
                      <a:alpha val="20000"/>
                    </a:prstClr>
                  </a:outerShdw>
                </a:effectLst>
                <a:uLnTx/>
                <a:uFillTx/>
                <a:latin typeface="Arial" panose="020B0604020202020204" pitchFamily="34" charset="0"/>
                <a:ea typeface="+mn-ea"/>
                <a:cs typeface="B Titr" panose="00000700000000000000" pitchFamily="2" charset="-78"/>
                <a:sym typeface="Arial"/>
              </a:rPr>
              <a:t> (بر روی قالب کلیک  کنید)</a:t>
            </a:r>
            <a:endParaRPr kumimoji="0" lang="en-US" sz="2000" b="1" i="0" u="none" strike="noStrike" kern="0" cap="none" spc="0" normalizeH="0" baseline="0" noProof="0" dirty="0">
              <a:ln w="3175">
                <a:noFill/>
              </a:ln>
              <a:solidFill>
                <a:srgbClr val="FFFFFF"/>
              </a:solidFill>
              <a:effectLst>
                <a:outerShdw blurRad="889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Arial" panose="020B0604020202020204" pitchFamily="34" charset="0"/>
              <a:ea typeface="+mn-ea"/>
              <a:cs typeface="B Titr" panose="00000700000000000000" pitchFamily="2" charset="-78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1400694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>
            <a:hlinkClick r:id="rId3"/>
            <a:extLst>
              <a:ext uri="{FF2B5EF4-FFF2-40B4-BE49-F238E27FC236}">
                <a16:creationId xmlns:a16="http://schemas.microsoft.com/office/drawing/2014/main" id="{BA8E790F-618F-42BB-BC0C-25AC4BFD3A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6" y="0"/>
            <a:ext cx="12188389" cy="6858000"/>
          </a:xfrm>
          <a:prstGeom prst="rect">
            <a:avLst/>
          </a:prstGeom>
        </p:spPr>
      </p:pic>
      <p:sp>
        <p:nvSpPr>
          <p:cNvPr id="34" name="TextBox 33">
            <a:hlinkClick r:id="rId3"/>
            <a:extLst>
              <a:ext uri="{FF2B5EF4-FFF2-40B4-BE49-F238E27FC236}">
                <a16:creationId xmlns:a16="http://schemas.microsoft.com/office/drawing/2014/main" id="{3B39D572-A2A9-4F7C-977D-263A2BB52D6D}"/>
              </a:ext>
            </a:extLst>
          </p:cNvPr>
          <p:cNvSpPr txBox="1"/>
          <p:nvPr/>
        </p:nvSpPr>
        <p:spPr>
          <a:xfrm>
            <a:off x="6725749" y="638016"/>
            <a:ext cx="4373177" cy="465305"/>
          </a:xfrm>
          <a:prstGeom prst="roundRect">
            <a:avLst/>
          </a:prstGeom>
          <a:solidFill>
            <a:srgbClr val="FFC000"/>
          </a:solidFill>
        </p:spPr>
        <p:txBody>
          <a:bodyPr wrap="square" rtlCol="0" anchor="ctr">
            <a:spAutoFit/>
          </a:bodyPr>
          <a:lstStyle/>
          <a:p>
            <a:pPr marL="0" marR="0" lvl="0" indent="0" algn="ctr" defTabSz="914400" rtl="1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دکمه </a:t>
            </a:r>
            <a:r>
              <a:rPr kumimoji="0" lang="en-US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Ctrl</a:t>
            </a:r>
            <a:r>
              <a:rPr kumimoji="0" lang="fa-IR" sz="21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Samim FD" panose="020B0603030804020204" pitchFamily="34" charset="0"/>
                <a:ea typeface="Samim FD" panose="020B0603030804020204" pitchFamily="34" charset="0"/>
                <a:cs typeface="Samim FD" panose="020B0603030804020204" pitchFamily="34" charset="0"/>
              </a:rPr>
              <a:t> را نگه داشته و کلیک کنید</a:t>
            </a:r>
            <a:endParaRPr kumimoji="0" lang="id-ID" sz="2133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amim FD" panose="020B0603030804020204" pitchFamily="34" charset="0"/>
              <a:ea typeface="Samim FD" panose="020B0603030804020204" pitchFamily="34" charset="0"/>
              <a:cs typeface="Samim FD" panose="020B06030308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59979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Nova">
      <a:dk1>
        <a:srgbClr val="172144"/>
      </a:dk1>
      <a:lt1>
        <a:srgbClr val="FFFFFF"/>
      </a:lt1>
      <a:dk2>
        <a:srgbClr val="4956E4"/>
      </a:dk2>
      <a:lt2>
        <a:srgbClr val="4D3FBD"/>
      </a:lt2>
      <a:accent1>
        <a:srgbClr val="807AF2"/>
      </a:accent1>
      <a:accent2>
        <a:srgbClr val="799CEA"/>
      </a:accent2>
      <a:accent3>
        <a:srgbClr val="FF4041"/>
      </a:accent3>
      <a:accent4>
        <a:srgbClr val="FF0A0B"/>
      </a:accent4>
      <a:accent5>
        <a:srgbClr val="8694FD"/>
      </a:accent5>
      <a:accent6>
        <a:srgbClr val="4D61FC"/>
      </a:accent6>
      <a:hlink>
        <a:srgbClr val="2F8299"/>
      </a:hlink>
      <a:folHlink>
        <a:srgbClr val="8C8C8C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jeebstore theme">
  <a:themeElements>
    <a:clrScheme name="Custom 12">
      <a:dk1>
        <a:srgbClr val="2D324F"/>
      </a:dk1>
      <a:lt1>
        <a:srgbClr val="FFFFFF"/>
      </a:lt1>
      <a:dk2>
        <a:srgbClr val="121926"/>
      </a:dk2>
      <a:lt2>
        <a:srgbClr val="FFFFFF"/>
      </a:lt2>
      <a:accent1>
        <a:srgbClr val="F8B07E"/>
      </a:accent1>
      <a:accent2>
        <a:srgbClr val="FFFFFF"/>
      </a:accent2>
      <a:accent3>
        <a:srgbClr val="F8B07E"/>
      </a:accent3>
      <a:accent4>
        <a:srgbClr val="FFFFFF"/>
      </a:accent4>
      <a:accent5>
        <a:srgbClr val="F8B07E"/>
      </a:accent5>
      <a:accent6>
        <a:srgbClr val="FFFFFF"/>
      </a:accent6>
      <a:hlink>
        <a:srgbClr val="F33B48"/>
      </a:hlink>
      <a:folHlink>
        <a:srgbClr val="FFC00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1860</TotalTime>
  <Words>2670</Words>
  <Application>Microsoft Office PowerPoint</Application>
  <PresentationFormat>Widescreen</PresentationFormat>
  <Paragraphs>575</Paragraphs>
  <Slides>58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58</vt:i4>
      </vt:variant>
    </vt:vector>
  </HeadingPairs>
  <TitlesOfParts>
    <vt:vector size="73" baseType="lpstr">
      <vt:lpstr>Cambria Math</vt:lpstr>
      <vt:lpstr>Vazir Light FD</vt:lpstr>
      <vt:lpstr>S Besmellah 1</vt:lpstr>
      <vt:lpstr>Arial</vt:lpstr>
      <vt:lpstr>B Titr</vt:lpstr>
      <vt:lpstr>Shabnam</vt:lpstr>
      <vt:lpstr>Samim FD</vt:lpstr>
      <vt:lpstr>inherit</vt:lpstr>
      <vt:lpstr>Calibri Light</vt:lpstr>
      <vt:lpstr>Vazir FD</vt:lpstr>
      <vt:lpstr>Estedad Black</vt:lpstr>
      <vt:lpstr>Calibri</vt:lpstr>
      <vt:lpstr>Vazir Light FD\</vt:lpstr>
      <vt:lpstr>Office Theme</vt:lpstr>
      <vt:lpstr>jeebstore theme</vt:lpstr>
      <vt:lpstr>PowerPoint Presentation</vt:lpstr>
      <vt:lpstr>PowerPoint Presentation</vt:lpstr>
      <vt:lpstr>فهرست مطالب</vt:lpstr>
      <vt:lpstr>فصل اول</vt:lpstr>
      <vt:lpstr>جایی که جان‌ها نبودن را بر بودن ترجیح می‌دهند</vt:lpstr>
      <vt:lpstr>جایی که جان‌ها نبودن را بر بودن ترجیح می‌دهند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مجموعه داده</vt:lpstr>
      <vt:lpstr>PowerPoint Presentation</vt:lpstr>
      <vt:lpstr>PowerPoint Presentation</vt:lpstr>
      <vt:lpstr>PowerPoint Presentation</vt:lpstr>
      <vt:lpstr>فصل سوم</vt:lpstr>
      <vt:lpstr>PowerPoint Presentation</vt:lpstr>
      <vt:lpstr>PowerPoint Presentation</vt:lpstr>
      <vt:lpstr>PowerPoint Presentation</vt:lpstr>
      <vt:lpstr>فصل چهارم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فصل پنجم</vt:lpstr>
      <vt:lpstr>قفل محکمی ساختیم، اما کلید را زیر گلدان گذاشتیم!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عنوان فصل سوم</vt:lpstr>
      <vt:lpstr>تیتر خود را وارد کنید</vt:lpstr>
      <vt:lpstr>عنوان فصل چهارم</vt:lpstr>
      <vt:lpstr>تیتر خود را وارد کنید</vt:lpstr>
      <vt:lpstr>عنوان فصل پنجم</vt:lpstr>
      <vt:lpstr>تیتر خود را وارد کنید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</dc:creator>
  <cp:lastModifiedBy>Plus</cp:lastModifiedBy>
  <cp:revision>46</cp:revision>
  <dcterms:created xsi:type="dcterms:W3CDTF">2023-11-11T09:29:25Z</dcterms:created>
  <dcterms:modified xsi:type="dcterms:W3CDTF">2026-10-17T21:14:54Z</dcterms:modified>
</cp:coreProperties>
</file>