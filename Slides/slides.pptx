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59"/>
  </p:notesMasterIdLst>
  <p:sldIdLst>
    <p:sldId id="457" r:id="rId2"/>
    <p:sldId id="459" r:id="rId3"/>
    <p:sldId id="264" r:id="rId4"/>
    <p:sldId id="455" r:id="rId5"/>
    <p:sldId id="456" r:id="rId6"/>
    <p:sldId id="462" r:id="rId7"/>
    <p:sldId id="463" r:id="rId8"/>
    <p:sldId id="464" r:id="rId9"/>
    <p:sldId id="465" r:id="rId10"/>
    <p:sldId id="466" r:id="rId11"/>
    <p:sldId id="467" r:id="rId12"/>
    <p:sldId id="468" r:id="rId13"/>
    <p:sldId id="469" r:id="rId14"/>
    <p:sldId id="470" r:id="rId15"/>
    <p:sldId id="471" r:id="rId16"/>
    <p:sldId id="472" r:id="rId17"/>
    <p:sldId id="473" r:id="rId18"/>
    <p:sldId id="439" r:id="rId19"/>
    <p:sldId id="460" r:id="rId20"/>
    <p:sldId id="461" r:id="rId21"/>
    <p:sldId id="499" r:id="rId22"/>
    <p:sldId id="504" r:id="rId23"/>
    <p:sldId id="443" r:id="rId24"/>
    <p:sldId id="441" r:id="rId25"/>
    <p:sldId id="500" r:id="rId26"/>
    <p:sldId id="442" r:id="rId27"/>
    <p:sldId id="447" r:id="rId28"/>
    <p:sldId id="448" r:id="rId29"/>
    <p:sldId id="449" r:id="rId30"/>
    <p:sldId id="450" r:id="rId31"/>
    <p:sldId id="505" r:id="rId32"/>
    <p:sldId id="501" r:id="rId33"/>
    <p:sldId id="506" r:id="rId34"/>
    <p:sldId id="430" r:id="rId35"/>
    <p:sldId id="480" r:id="rId36"/>
    <p:sldId id="482" r:id="rId37"/>
    <p:sldId id="483" r:id="rId38"/>
    <p:sldId id="484" r:id="rId39"/>
    <p:sldId id="485" r:id="rId40"/>
    <p:sldId id="486" r:id="rId41"/>
    <p:sldId id="487" r:id="rId42"/>
    <p:sldId id="488" r:id="rId43"/>
    <p:sldId id="489" r:id="rId44"/>
    <p:sldId id="490" r:id="rId45"/>
    <p:sldId id="491" r:id="rId46"/>
    <p:sldId id="492" r:id="rId47"/>
    <p:sldId id="493" r:id="rId48"/>
    <p:sldId id="496" r:id="rId49"/>
    <p:sldId id="497" r:id="rId50"/>
    <p:sldId id="495" r:id="rId51"/>
    <p:sldId id="502" r:id="rId52"/>
    <p:sldId id="503" r:id="rId53"/>
    <p:sldId id="431" r:id="rId54"/>
    <p:sldId id="508" r:id="rId55"/>
    <p:sldId id="435" r:id="rId56"/>
    <p:sldId id="507" r:id="rId57"/>
    <p:sldId id="432" r:id="rId58"/>
  </p:sldIdLst>
  <p:sldSz cx="12192000" cy="6858000"/>
  <p:notesSz cx="6858000" cy="9144000"/>
  <p:embeddedFontLst>
    <p:embeddedFont>
      <p:font typeface="B Titr" panose="00000700000000000000" pitchFamily="2" charset="-78"/>
      <p:bold r:id="rId60"/>
    </p:embeddedFont>
    <p:embeddedFont>
      <p:font typeface="Cambria Math" panose="02040503050406030204" pitchFamily="18" charset="0"/>
      <p:regular r:id="rId61"/>
    </p:embeddedFont>
    <p:embeddedFont>
      <p:font typeface="Estedad Black" panose="020B0604020202020204" charset="-78"/>
      <p:bold r:id="rId62"/>
    </p:embeddedFont>
    <p:embeddedFont>
      <p:font typeface="S Besmellah 1" panose="020B0604020202020204" charset="0"/>
      <p:regular r:id="rId63"/>
    </p:embeddedFont>
    <p:embeddedFont>
      <p:font typeface="Shabnam" panose="020B0604020202020204" charset="-78"/>
      <p:regular r:id="rId64"/>
      <p:bold r:id="rId65"/>
    </p:embeddedFont>
    <p:embeddedFont>
      <p:font typeface="Vazir FD" charset="-78"/>
      <p:regular r:id="rId66"/>
      <p:bold r:id="rId67"/>
    </p:embeddedFont>
    <p:embeddedFont>
      <p:font typeface="Vazir Light FD" charset="-78"/>
      <p:regular r:id="rId68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ebp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مهر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بنیان‌های نظری پردازش زبان طبیعی در جستجوی افکار خودکشی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C49A4-8A4D-49BB-2544-99C39F051BC6}"/>
              </a:ext>
            </a:extLst>
          </p:cNvPr>
          <p:cNvSpPr txBox="1"/>
          <p:nvPr/>
        </p:nvSpPr>
        <p:spPr>
          <a:xfrm>
            <a:off x="542593" y="836085"/>
            <a:ext cx="1010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sz="2000" b="0" i="0" dirty="0">
                <a:solidFill>
                  <a:schemeClr val="tx1"/>
                </a:solidFill>
                <a:effectLst/>
                <a:latin typeface="+mn-lt"/>
              </a:rPr>
              <a:t>K. Nikhileswar, D. Vishal, L. Sphoorthi and S. Fathimabi</a:t>
            </a:r>
            <a:br>
              <a:rPr lang="fa-IR" sz="2000" dirty="0"/>
            </a:br>
            <a:r>
              <a:rPr lang="fa-IR" sz="2000" b="1" i="0" dirty="0">
                <a:solidFill>
                  <a:schemeClr val="tx1"/>
                </a:solidFill>
                <a:effectLst/>
                <a:latin typeface="+mn-lt"/>
              </a:rPr>
              <a:t>Suicide Ideation Detection in Social Media Forums 2021 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2000" dirty="0"/>
              <a:t>seco</a:t>
            </a:r>
            <a:r>
              <a:rPr lang="fa-IR" sz="2000" b="0" i="1" dirty="0">
                <a:solidFill>
                  <a:schemeClr val="tx1"/>
                </a:solidFill>
                <a:effectLst/>
                <a:latin typeface="+mn-lt"/>
              </a:rPr>
              <a:t>nd International Conference on Smart Electronics and Communication </a:t>
            </a:r>
            <a:endParaRPr lang="fa-IR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242689B-EE70-A351-A8A1-7E36D67F7150}"/>
              </a:ext>
            </a:extLst>
          </p:cNvPr>
          <p:cNvGraphicFramePr>
            <a:graphicFrameLocks noGrp="1"/>
          </p:cNvGraphicFramePr>
          <p:nvPr/>
        </p:nvGraphicFramePr>
        <p:xfrm>
          <a:off x="542594" y="1947197"/>
          <a:ext cx="4708278" cy="23689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62606">
                  <a:extLst>
                    <a:ext uri="{9D8B030D-6E8A-4147-A177-3AD203B41FA5}">
                      <a16:colId xmlns:a16="http://schemas.microsoft.com/office/drawing/2014/main" val="3122007869"/>
                    </a:ext>
                  </a:extLst>
                </a:gridCol>
                <a:gridCol w="1745672">
                  <a:extLst>
                    <a:ext uri="{9D8B030D-6E8A-4147-A177-3AD203B41FA5}">
                      <a16:colId xmlns:a16="http://schemas.microsoft.com/office/drawing/2014/main" val="1629120992"/>
                    </a:ext>
                  </a:extLst>
                </a:gridCol>
              </a:tblGrid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br>
                        <a:rPr lang="fa-IR" sz="1600" dirty="0">
                          <a:effectLst/>
                        </a:rPr>
                      </a:b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2000" dirty="0">
                          <a:effectLst/>
                        </a:rPr>
                        <a:t>Rows</a:t>
                      </a:r>
                      <a:endParaRPr lang="fa-IR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703200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loaded_rows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232074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31619767"/>
                  </a:ext>
                </a:extLst>
              </a:tr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invalid_or_empty_text_rows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65562524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missing_label_rows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9891789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raw_duplicate_rows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93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65810553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remaining_rows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231981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08164357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C1655AD4-A531-1619-8060-D41175E65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92231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مجموعه داده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9F1C201-380F-2953-B4EB-EAB0A36B1927}"/>
              </a:ext>
            </a:extLst>
          </p:cNvPr>
          <p:cNvGraphicFramePr>
            <a:graphicFrameLocks noGrp="1"/>
          </p:cNvGraphicFramePr>
          <p:nvPr/>
        </p:nvGraphicFramePr>
        <p:xfrm>
          <a:off x="542592" y="4507032"/>
          <a:ext cx="11024259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7283">
                  <a:extLst>
                    <a:ext uri="{9D8B030D-6E8A-4147-A177-3AD203B41FA5}">
                      <a16:colId xmlns:a16="http://schemas.microsoft.com/office/drawing/2014/main" val="2425967841"/>
                    </a:ext>
                  </a:extLst>
                </a:gridCol>
                <a:gridCol w="1722392">
                  <a:extLst>
                    <a:ext uri="{9D8B030D-6E8A-4147-A177-3AD203B41FA5}">
                      <a16:colId xmlns:a16="http://schemas.microsoft.com/office/drawing/2014/main" val="398677569"/>
                    </a:ext>
                  </a:extLst>
                </a:gridCol>
                <a:gridCol w="2421582">
                  <a:extLst>
                    <a:ext uri="{9D8B030D-6E8A-4147-A177-3AD203B41FA5}">
                      <a16:colId xmlns:a16="http://schemas.microsoft.com/office/drawing/2014/main" val="514636108"/>
                    </a:ext>
                  </a:extLst>
                </a:gridCol>
                <a:gridCol w="3001397">
                  <a:extLst>
                    <a:ext uri="{9D8B030D-6E8A-4147-A177-3AD203B41FA5}">
                      <a16:colId xmlns:a16="http://schemas.microsoft.com/office/drawing/2014/main" val="3385795756"/>
                    </a:ext>
                  </a:extLst>
                </a:gridCol>
                <a:gridCol w="2261605">
                  <a:extLst>
                    <a:ext uri="{9D8B030D-6E8A-4147-A177-3AD203B41FA5}">
                      <a16:colId xmlns:a16="http://schemas.microsoft.com/office/drawing/2014/main" val="22353551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split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before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empty_after_cleaning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duplicates_of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after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6053888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train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148467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62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148385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2804489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validation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37117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37086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1835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test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46397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5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50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46342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5224050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0AEEB22-E0B4-8ABB-86FE-CA6C323D6761}"/>
              </a:ext>
            </a:extLst>
          </p:cNvPr>
          <p:cNvGraphicFramePr>
            <a:graphicFrameLocks noGrp="1"/>
          </p:cNvGraphicFramePr>
          <p:nvPr/>
        </p:nvGraphicFramePr>
        <p:xfrm>
          <a:off x="5423104" y="1954124"/>
          <a:ext cx="6143748" cy="23620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3551">
                  <a:extLst>
                    <a:ext uri="{9D8B030D-6E8A-4147-A177-3AD203B41FA5}">
                      <a16:colId xmlns:a16="http://schemas.microsoft.com/office/drawing/2014/main" val="3128215241"/>
                    </a:ext>
                  </a:extLst>
                </a:gridCol>
                <a:gridCol w="1318323">
                  <a:extLst>
                    <a:ext uri="{9D8B030D-6E8A-4147-A177-3AD203B41FA5}">
                      <a16:colId xmlns:a16="http://schemas.microsoft.com/office/drawing/2014/main" val="3413357795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855344140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705517707"/>
                    </a:ext>
                  </a:extLst>
                </a:gridCol>
              </a:tblGrid>
              <a:tr h="78733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800" dirty="0">
                          <a:effectLst/>
                        </a:rPr>
                        <a:t>label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train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validation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test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5416105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non-suicide (0)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74133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18525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23145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42343644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suicide (1)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74247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18561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23197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83986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02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F218-832D-4042-240A-7DC9F4FE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7BC-6B61-3E18-3119-585EE025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D0F0F8-92DD-2890-7F32-0D22EE32FD16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1EA74059-6F3E-B394-48FF-44627396A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391580"/>
              </p:ext>
            </p:extLst>
          </p:nvPr>
        </p:nvGraphicFramePr>
        <p:xfrm>
          <a:off x="838200" y="721270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92.32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83.55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82.53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1F9DA086-7152-F0DD-778A-A4C1D6A97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626498"/>
              </p:ext>
            </p:extLst>
          </p:nvPr>
        </p:nvGraphicFramePr>
        <p:xfrm>
          <a:off x="838200" y="3655129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91.46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91.38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0.88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0.85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886305"/>
      </p:ext>
    </p:extLst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545F9-0B35-A8B8-244D-DA870AE8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745D8B4-1660-CBB0-91CC-F95A29A6AD5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5CF6150-700B-F50B-4275-E77D962DAC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328" y="2381804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راه حل؟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66488D64-5D41-4E05-5D6C-5A5E202D5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58" y="612725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دسترسی به داده‌ها تجمیع شده بسیار دشوار است.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تجمیع داده‌های حساس در یک سرور مخاطرات زیادی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3EF323D-2E0F-E2C7-92CB-41A0BE6BC78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01B0FBC-A618-4098-0DDF-5C178E244BA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47721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9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526982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098403" y="1925161"/>
            <a:ext cx="1276878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16606" y="3598236"/>
            <a:ext cx="1668750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1965442" y="1259378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>
            <a:off x="3393721" y="1515322"/>
            <a:ext cx="4998011" cy="3406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679581" y="299345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>
            <a:off x="4107860" y="3249400"/>
            <a:ext cx="42817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1965442" y="3249400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393720" y="511940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>
            <a:off x="4821999" y="5375350"/>
            <a:ext cx="360692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75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525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6231558" y="164935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6229417" y="336241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6229416" y="552871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5630535" y="1817038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4628044" y="2729263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flipH="1">
            <a:off x="1965442" y="3217932"/>
            <a:ext cx="2662602" cy="31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2ABBF7A-B4EE-644C-0134-7C267705B2C5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FD219A2-80BC-B848-9F6B-EB113970F941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D96F78-C4CC-22C7-631B-BE63A7FDBFEA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3BF5C32-94D8-8748-C329-DDEEE6C63139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2319FA-FDB4-3555-0754-2A5E4B12364A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C5890F0-B706-DFF5-CCAC-FAF669735321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84A0119-BBF6-2A75-42F7-235436A28FF5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08FF220-841A-C56F-1934-E3C6AA447870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4EE0C8F-7B51-2176-1068-7ACFE0098AE4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F0ED79-115C-E454-2B55-5BC62400A9FE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EB00-2F09-1AE7-AF18-E130BFB5D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5A781E-D32D-0E79-9C52-C464E9E753FC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271970E-E025-9701-07BA-C1F275BD36D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27BC052C-BC6D-A44D-3E7A-55141A5E8FE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8C0548-D320-0C90-9A04-A26B12891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862178"/>
              </p:ext>
            </p:extLst>
          </p:nvPr>
        </p:nvGraphicFramePr>
        <p:xfrm>
          <a:off x="815686" y="962473"/>
          <a:ext cx="10366664" cy="2164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751">
                  <a:extLst>
                    <a:ext uri="{9D8B030D-6E8A-4147-A177-3AD203B41FA5}">
                      <a16:colId xmlns:a16="http://schemas.microsoft.com/office/drawing/2014/main" val="1662298749"/>
                    </a:ext>
                  </a:extLst>
                </a:gridCol>
                <a:gridCol w="2304020">
                  <a:extLst>
                    <a:ext uri="{9D8B030D-6E8A-4147-A177-3AD203B41FA5}">
                      <a16:colId xmlns:a16="http://schemas.microsoft.com/office/drawing/2014/main" val="888279007"/>
                    </a:ext>
                  </a:extLst>
                </a:gridCol>
                <a:gridCol w="2029937">
                  <a:extLst>
                    <a:ext uri="{9D8B030D-6E8A-4147-A177-3AD203B41FA5}">
                      <a16:colId xmlns:a16="http://schemas.microsoft.com/office/drawing/2014/main" val="3012104143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3929668421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1959490191"/>
                    </a:ext>
                  </a:extLst>
                </a:gridCol>
              </a:tblGrid>
              <a:tr h="56478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n_clients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  <a:p>
                      <a:pPr marL="0" marR="0" algn="ctr" fontAlgn="ctr">
                        <a:buNone/>
                      </a:pP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test_accuracy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test_precision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test_recal</a:t>
                      </a:r>
                      <a:r>
                        <a:rPr lang="en-US" sz="1600" b="1" dirty="0">
                          <a:effectLst/>
                        </a:rPr>
                        <a:t>l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test_f1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60016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0.9135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0.9199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425063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0.9092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0.9050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0.9146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27564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50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0.8923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0.8857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0.9010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0.8933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792662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0.8700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0.8578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0.8874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dirty="0">
                          <a:effectLst/>
                        </a:rPr>
                        <a:t>0.8724</a:t>
                      </a:r>
                      <a:endParaRPr lang="fa-IR" sz="1600" b="0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4579519"/>
                  </a:ext>
                </a:extLst>
              </a:tr>
            </a:tbl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32548242-BE02-C90F-179E-0ACC38A1A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976" y="3310260"/>
            <a:ext cx="10731374" cy="3006438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امنیت اطلاات در این روش بسیار وابسته به امنیت کانال است. و هیچ تضمینی بر وجود کانال امن وجود ندارد.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2427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855" y="3764211"/>
            <a:ext cx="9102435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57709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5469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6605478" y="1975387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6595551" y="3643745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6605478" y="579953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A2CDEB-CE32-B3E1-577F-31D4638E5D89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0E33DF0-005B-C845-6626-8E874CCC406D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19BF31-EA04-E9CE-BADD-54B59815E8EF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F17B54C-3422-52A0-ED53-C92101A11B0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0569828-2A98-DFEE-0F38-5CEF23397F8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E70745-2B03-FF32-A329-374A2F972A38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A808F4-03A8-B4E7-9175-6CF46FD39DA8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6E06BDB-CC55-5508-4810-D10E5663906B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8696C7E-D55D-13D2-CE37-990FF27E29B2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6082B-710E-2815-FA27-F412E30826A5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5D3BE1-3EA4-591D-D28F-4EC64BB5B80F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12A9B-F9D3-93A5-A11F-3800295AB731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13127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2EFE29-7D35-A628-100B-0505827EFE6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6676C03-C7F5-04B9-06A0-4EB0F38F5C46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DC56FA1-C33E-E35B-AA2F-8224451C6650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7F654E3-EF00-4246-3A11-36DC84B67C2B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D22C67F-5A5B-FE53-97E5-F9D7466D9EA7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0536D73-A7E7-F2CC-15F6-4779C6130019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D8FA8E-99E9-5119-AF80-67BE7B6A2294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F4F7D9-398C-41BE-4624-7CC5C5288C2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CF12125-10CA-7CE6-40E3-9DB76AAA8356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6516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5007630" y="3507452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4092278" y="4067356"/>
            <a:ext cx="1562409" cy="127557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2582718" y="523706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3"/>
            <a:ext cx="994831" cy="154653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3D94D7-1A13-72F0-4879-46ABA59D9980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4C5B434-6AD2-5720-46C6-8A59C689B7EB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87E4E6-1933-C9B1-ADEC-FEF8A20AB2FE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AD02AE0-A3D4-644F-5B5E-3E783FEF8A29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FCB8596-43DC-3526-56D5-7F701AA42AEE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B25CA6-56B3-8233-2516-E5F42F24CBF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99CECA9-0B50-8319-1B3F-8A3AF0725D02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7D7A3E1-1A56-C72E-5BDB-B5C5FCB86CC1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5666D11-D48D-1C50-ADDF-3174892BC26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B98E1D0-EE72-13B2-D1B5-0AE3DC3169DC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DD0A9D-158C-6D62-6928-2AADA7EE0E53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375CCE5-A8EF-78A8-F555-34CBD380294B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18EE2E6-69FD-84F7-3CF4-D42EF00CEF1E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26984CF-5CFD-D524-ABFD-D3839D52588A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B82BB-B87E-009B-6F59-FC7357E0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9446D0-2B1F-A193-3079-A04BAFB6E13D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7F7B4FA-4B16-C73E-2E36-7AEB137E648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C21C7CA-E075-BF4F-A244-761B0FB4C01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7128095-50DB-4E69-0020-0FD4D02678E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𝑟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sSup>
                                      <m:sSupPr>
                                        <m:ctrlP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𝑠</m:t>
                                        </m:r>
                                      </m:sup>
                                    </m:sSup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00000" r="-100275" b="-5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00000" r="-100275" b="-4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405128" r="-100275" b="-38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33898" r="-100275" b="-15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89266" r="-100275" b="-11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97491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2D54D-D1B6-0D54-CE7F-18B55D95C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C254F6-B633-127B-0CA9-C88BDFBB6FDE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A3E9CEC-92AE-0961-8D8E-08EEA1AB42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E555E67-EF78-AC60-6F24-701BA7FE8E8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7ED0672-AD97-B82D-B7D3-713088767799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3C997B-D4A7-460B-EED2-FADF8EB32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471" y="735333"/>
            <a:ext cx="9507057" cy="53873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1309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070A9-AE05-978D-3BF0-105EDC90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8A45339-0A56-0D4A-735E-D9C956A62213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F037924-140D-938D-FB17-0722F509A8F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FA6C56FC-FFD1-8892-3DB8-C56A5DBB4D3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804260D-32F3-A207-8AAD-1C5EB9DAA1B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BC1551-E23D-1DB2-A6A0-A52FF20AC7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414" y="757887"/>
            <a:ext cx="9443171" cy="53422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8487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8374-B54B-07C9-448B-D0D33121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8ECE2C3-BADC-BD09-257D-25EC0B165637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92A76633-3B72-61BF-7925-F30C0FBF516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7757D84B-DD91-F9A0-EB77-BAA9C4CF7A2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/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هر کلاینت به جای ارسال صرفاً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، یک بسته‌ی داده</a:t>
                </a:r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 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به نام 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 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را برای سرور ارسال می‌کند که ساختار آن به صورت زیر است: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blipFill>
                <a:blip r:embed="rId3"/>
                <a:stretch>
                  <a:fillRect l="-311" t="-4412" r="-994" b="-16176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/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B718F30-F507-099B-7C44-0A88BB2DD24D}"/>
              </a:ext>
            </a:extLst>
          </p:cNvPr>
          <p:cNvSpPr txBox="1"/>
          <p:nvPr/>
        </p:nvSpPr>
        <p:spPr>
          <a:xfrm>
            <a:off x="1648324" y="5401619"/>
            <a:ext cx="156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4E8C7-E70D-0566-1955-45DA7592BB3F}"/>
              </a:ext>
            </a:extLst>
          </p:cNvPr>
          <p:cNvSpPr txBox="1"/>
          <p:nvPr/>
        </p:nvSpPr>
        <p:spPr>
          <a:xfrm>
            <a:off x="3420292" y="5754201"/>
            <a:ext cx="2399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دور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سرور)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2D8784-3198-4AEA-5B8C-123A4BE3C6D9}"/>
              </a:ext>
            </a:extLst>
          </p:cNvPr>
          <p:cNvSpPr txBox="1"/>
          <p:nvPr/>
        </p:nvSpPr>
        <p:spPr>
          <a:xfrm>
            <a:off x="7571797" y="5672088"/>
            <a:ext cx="2568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عدد تصادفی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کلاینت)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1BE147-ED01-2385-1145-14E2568D8D51}"/>
              </a:ext>
            </a:extLst>
          </p:cNvPr>
          <p:cNvSpPr txBox="1"/>
          <p:nvPr/>
        </p:nvSpPr>
        <p:spPr>
          <a:xfrm>
            <a:off x="6483501" y="3077910"/>
            <a:ext cx="139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وزن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31F713-C3A0-6C74-771C-C4706C590DC1}"/>
              </a:ext>
            </a:extLst>
          </p:cNvPr>
          <p:cNvSpPr txBox="1"/>
          <p:nvPr/>
        </p:nvSpPr>
        <p:spPr>
          <a:xfrm>
            <a:off x="8714509" y="3482154"/>
            <a:ext cx="26622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امضا کلاینت روی بسته پیام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5C5E07-CC67-021D-C946-FB3406453F30}"/>
              </a:ext>
            </a:extLst>
          </p:cNvPr>
          <p:cNvSpPr txBox="1"/>
          <p:nvPr/>
        </p:nvSpPr>
        <p:spPr>
          <a:xfrm>
            <a:off x="2545745" y="3157463"/>
            <a:ext cx="2568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پیام رمزگذاری شده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FDAEB5F-BDDC-362E-C1A5-48260EF032FD}"/>
              </a:ext>
            </a:extLst>
          </p:cNvPr>
          <p:cNvCxnSpPr>
            <a:cxnSpLocks/>
            <a:endCxn id="10" idx="3"/>
          </p:cNvCxnSpPr>
          <p:nvPr/>
        </p:nvCxnSpPr>
        <p:spPr>
          <a:xfrm rot="10800000" flipV="1">
            <a:off x="3212356" y="4842011"/>
            <a:ext cx="1327456" cy="744274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EE3198C-5D85-0DFA-3584-02E585FB3511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5004753" y="5262005"/>
            <a:ext cx="1213198" cy="417526"/>
          </a:xfrm>
          <a:prstGeom prst="bentConnector4">
            <a:avLst>
              <a:gd name="adj1" fmla="val 36681"/>
              <a:gd name="adj2" fmla="val 154751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9C6AC8C-74F1-D905-DC3D-EC911E7BDED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6564681" y="4988138"/>
            <a:ext cx="1131086" cy="883146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BD53DF0-936B-2DCC-FA8C-7D41A3788D71}"/>
              </a:ext>
            </a:extLst>
          </p:cNvPr>
          <p:cNvCxnSpPr>
            <a:cxnSpLocks/>
            <a:endCxn id="30" idx="3"/>
          </p:cNvCxnSpPr>
          <p:nvPr/>
        </p:nvCxnSpPr>
        <p:spPr>
          <a:xfrm rot="10800000">
            <a:off x="5113815" y="3342129"/>
            <a:ext cx="2457982" cy="1159142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5BDF586-7FD6-6ED9-AB76-BF6A1B794B05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V="1">
            <a:off x="7415326" y="3728560"/>
            <a:ext cx="1238695" cy="306727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0B72892-18D8-53D3-6E8A-45245B50EDD5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8755639" y="3851486"/>
            <a:ext cx="1289999" cy="599465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DF3DF205-F4C7-78E3-7CB5-D5ADA8B12AC0}"/>
              </a:ext>
            </a:extLst>
          </p:cNvPr>
          <p:cNvSpPr/>
          <p:nvPr/>
        </p:nvSpPr>
        <p:spPr>
          <a:xfrm flipH="1">
            <a:off x="837112" y="579276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1201193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3" grpId="0"/>
      <p:bldP spid="3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2BD10-177E-92C2-623E-991F806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1755772-2853-6106-8E9A-012FC65AD3D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95AEC36-9E5E-0766-15B0-53822D41DA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/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/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/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𝑆𝑖𝑔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/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𝑛𝑜𝑛𝑐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2F8870FA-F4C6-4545-BD07-52AAAC5C9BB9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4133042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E0D4-290F-3BCA-2BF2-3340B3C4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929DE49-B382-8226-0925-17BFA0D527FA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C64EE30-7A52-C23C-9B80-DFCBF13183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C06C7E76-ED6E-329E-7A4E-187907A5639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E86767-B622-C8D4-ECFB-DF0B8EEA9EC6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زمانی که بسته به سرور می‌رسد، ابتدا صلاحیت پیام مورد بررسی قرار می‌گیرد.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6859D6EF-BD7C-EA47-A5CB-C71101B855F2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/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مجاز بودن کلاینت برای ارسال به کمک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مورد ارزیابی قرار می‌گیرد.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blipFill>
                <a:blip r:embed="rId4"/>
                <a:stretch>
                  <a:fillRect t="-8000" r="-994" b="-3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/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صلاحیت دور به کمک بررسی سه تایی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𝑅𝐼𝐷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𝑛𝑜𝑢𝑛𝑐𝑒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محقق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blipFill>
                <a:blip r:embed="rId5"/>
                <a:stretch>
                  <a:fillRect t="-7895" r="-994" b="-31579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/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اعتبار پیا با تابع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𝑉𝑒𝑟𝑖𝑓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بررسی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blipFill>
                <a:blip r:embed="rId6"/>
                <a:stretch>
                  <a:fillRect t="-10526" r="-994" b="-28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505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3A5E-5313-A55B-3BEF-68B8F0C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7927384-4354-A635-B3BF-562405E7204A}"/>
              </a:ext>
            </a:extLst>
          </p:cNvPr>
          <p:cNvSpPr/>
          <p:nvPr/>
        </p:nvSpPr>
        <p:spPr>
          <a:xfrm>
            <a:off x="573692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051BCB5-846E-8638-4A97-EB82297001A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30E04BE-4268-425D-F9C0-EFE8CCF0EA8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ABD3F5-306F-5AFB-934C-D984455AB52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C5287B43-6F44-A58C-9F92-F7F14164D960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/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/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sSubSup>
                        <m:sSub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sSup>
                        <m:sSup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n"/>
                                  <m:supHide m:val="on"/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𝒜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/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324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DCDE-C734-183C-2D91-7CEFF1AE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F7B6B8-C757-EE23-CDFC-B52CA6B1E8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A186926-F22B-5614-D40D-F3D96D9277D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FB25C1BC-6A1D-3BC3-74D0-157CE7954E5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/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𝑎𝑔𝑔</m:t>
                              </m:r>
                            </m:sub>
                          </m:sSub>
                        </m:e>
                      </m:d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81BE6A75-99EF-1707-5797-DCDDBA01C5A4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78740-A271-2D3C-7807-8414500A390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/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1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1B3B-84E8-67CC-9AB9-D4D0946A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4B235B-DEBB-15F3-B076-EF12F00F5A2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5690BA0-5AE1-DCBD-60C1-F8E1EDED64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D395D77-2D6C-7B92-A956-EF31D4EB54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A838510-A99A-7932-8338-8EBE1A665DA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F57B8A6-7934-721C-DC54-99BF401349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3" y="1508070"/>
            <a:ext cx="10731374" cy="41854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330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16F09-AB8B-E37C-C7F2-9861D2DD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13DD75-4D32-DB06-37F4-C2861472A655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983040B-9F61-352A-48CF-88742D01F9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9429F5A-EBA4-0885-A8AE-F31564BDC8F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A2A9DB-B5EB-2DEF-192D-6A7007F122D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3E198-2608-E83E-C228-4F45EB73A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32" y="1500831"/>
            <a:ext cx="10185935" cy="3856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5357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54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دستاوردها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1BF98D-14FD-8EA9-D495-A46C64E86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3EA0-96A5-BDD4-1503-92F29F4B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2FA3434-A5E0-5616-2EE9-5EB31B4AD179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0E891A6-48A1-8F60-2249-89BF2CD7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0189" y="66626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چه کردیم؟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272F625D-85DD-8558-C615-104AF7B7DDB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3CFCF5BC-F621-44D5-3716-16C89EA282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1D8C8D6-CCD3-FD41-6761-64275DBEA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455" y="1749612"/>
            <a:ext cx="11002532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بررسی و ارا</a:t>
            </a:r>
            <a:r>
              <a:rPr lang="fa-IR" sz="2000" dirty="0">
                <a:latin typeface="Vazir FD" charset="-78"/>
                <a:cs typeface="Vazir FD" charset="-78"/>
              </a:rPr>
              <a:t>ئه بیس‌لاینی از مدل‌های یادگیری ماشین مناسب برای تحلیل متن‌های روانشناختی.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آموزش </a:t>
            </a:r>
            <a:r>
              <a:rPr lang="fa-IR" sz="2000" dirty="0">
                <a:effectLst/>
                <a:latin typeface="Vazir FD" charset="-78"/>
                <a:cs typeface="Vazir FD" charset="-78"/>
              </a:rPr>
              <a:t>مدل‌های یادگیری ماشین به صورت مشارکتی جهت بررسی احتمال وقوع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استفاده از متدهای رمزنگاری همریخت جهت افزایش امنیت مدل‌های پیشبینی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ارائه طرح امنیتی </a:t>
            </a:r>
            <a:r>
              <a:rPr lang="en-US" sz="2000" dirty="0">
                <a:latin typeface="Vazir FD" charset="-78"/>
                <a:cs typeface="Vazir FD" charset="-78"/>
              </a:rPr>
              <a:t>Signed-</a:t>
            </a:r>
            <a:r>
              <a:rPr lang="en-US" sz="2000" dirty="0" err="1">
                <a:latin typeface="Vazir FD" charset="-78"/>
                <a:cs typeface="Vazir FD" charset="-78"/>
              </a:rPr>
              <a:t>Benaloh</a:t>
            </a:r>
            <a:r>
              <a:rPr lang="en-US" sz="2000" dirty="0">
                <a:latin typeface="Vazir FD" charset="-78"/>
                <a:cs typeface="Vazir FD" charset="-78"/>
              </a:rPr>
              <a:t> Homomorphic Encryption</a:t>
            </a:r>
            <a:r>
              <a:rPr lang="fa-IR" sz="2000" dirty="0">
                <a:latin typeface="Vazir FD" charset="-78"/>
                <a:cs typeface="Vazir FD" charset="-78"/>
              </a:rPr>
              <a:t> جهت تضمین امنیت مدل یادگیری مشارکتی.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52005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5861" y="65089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فرصت‌های پیش رو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2229" y="1749612"/>
            <a:ext cx="4683758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در یادگیری مشارکتی، وزن تمام کلاینت‌ها را برابر فرض کرده‌ایم.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مدل هیچ واکنشی به خروجی‌های پرت از سوی کلاینت‌ها ندارد.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صرفا روی داده‌های فضای مجازی دو کلاسه آموزش دیده و داده‌های کلینیکال در آن لحاظ نشده‌اند.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1467674" y="1749612"/>
            <a:ext cx="46837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مدل‌های یادگیری ماشین کاملا کلاسیک هستند.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 در برابر حملات کوانتومی آسیب‌پذیر است.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سناریوهایی که در آنها کلاینت رفتار خصمانه داشته باشد در نظر گرفته نشده است.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0075A-2831-DFC8-871B-ADCBF339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8DE86B8-A041-9B1C-167F-9D3AB03DD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4951" y="369731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فرصت‌های عملیاتی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EDFF6518-0ABA-2030-933B-36F1466C71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6BF6C942-8742-A894-BB54-FD5337ABBCB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8FFEA2E-B07B-C33E-8642-6473B548B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51432" y="4128655"/>
            <a:ext cx="5474555" cy="1924588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دنا، پکیج کلمات پربسامد فارسی.</a:t>
            </a:r>
          </a:p>
          <a:p>
            <a:pPr>
              <a:lnSpc>
                <a:spcPct val="170000"/>
              </a:lnSpc>
            </a:pPr>
            <a:r>
              <a:rPr lang="en-US" sz="1400" dirty="0">
                <a:latin typeface="Vazir FD" charset="-78"/>
                <a:cs typeface="+mj-cs"/>
              </a:rPr>
              <a:t>sajjadranjbaryazdi.me/blogs/104_Dena_stopwords.php</a:t>
            </a:r>
            <a:endParaRPr lang="fa-IR" sz="1400" dirty="0">
              <a:effectLst/>
              <a:latin typeface="Vazir FD" charset="-78"/>
              <a:cs typeface="+mj-cs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5667A730-4886-8B45-3188-D4C2D28E34CD}"/>
              </a:ext>
            </a:extLst>
          </p:cNvPr>
          <p:cNvSpPr txBox="1">
            <a:spLocks/>
          </p:cNvSpPr>
          <p:nvPr/>
        </p:nvSpPr>
        <p:spPr>
          <a:xfrm>
            <a:off x="817418" y="4128655"/>
            <a:ext cx="5334014" cy="192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سیستم کنترل و رصد مخاطرات مربروط به خودکشی در نرم‌افزار مدیریت سالن‌مطالعه.</a:t>
            </a:r>
          </a:p>
          <a:p>
            <a:pPr rtl="1">
              <a:lnSpc>
                <a:spcPct val="170000"/>
              </a:lnSpc>
            </a:pPr>
            <a:r>
              <a:rPr lang="en-US" sz="2000" dirty="0">
                <a:latin typeface="Vazir FD" charset="-78"/>
                <a:cs typeface="Vazir FD" charset="-78"/>
              </a:rPr>
              <a:t>salonmotalee.ir</a:t>
            </a:r>
            <a:endParaRPr lang="fa-IR" sz="2000" dirty="0">
              <a:latin typeface="Vazir FD" charset="-78"/>
              <a:cs typeface="Vazir FD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D47848-CD06-EFDD-9BF9-680CFC71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106" y="1777976"/>
            <a:ext cx="2395126" cy="23951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2B033E-1002-C222-5114-858123E19C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954" y="2110160"/>
            <a:ext cx="2062942" cy="206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60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836" y="2317953"/>
            <a:ext cx="9033163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از توجه شما سپاسگزارم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BADFCF-3974-2359-3632-148C34B4EB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1954</TotalTime>
  <Words>2097</Words>
  <Application>Microsoft Office PowerPoint</Application>
  <PresentationFormat>Widescreen</PresentationFormat>
  <Paragraphs>534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1" baseType="lpstr">
      <vt:lpstr>Shabnam</vt:lpstr>
      <vt:lpstr>Calibri Light</vt:lpstr>
      <vt:lpstr>inherit</vt:lpstr>
      <vt:lpstr>Calibri</vt:lpstr>
      <vt:lpstr>Vazir FD</vt:lpstr>
      <vt:lpstr>Cambria Math</vt:lpstr>
      <vt:lpstr>Vazir Light FD\</vt:lpstr>
      <vt:lpstr>B Titr</vt:lpstr>
      <vt:lpstr>Arial</vt:lpstr>
      <vt:lpstr>Wingdings</vt:lpstr>
      <vt:lpstr>Vazir Light FD</vt:lpstr>
      <vt:lpstr>Estedad Black</vt:lpstr>
      <vt:lpstr>S Besmellah 1</vt:lpstr>
      <vt:lpstr>Office Theme</vt:lpstr>
      <vt:lpstr>PowerPoint Presentation</vt:lpstr>
      <vt:lpstr>PowerPoint Presentation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دوم</vt:lpstr>
      <vt:lpstr>مجموعه داده</vt:lpstr>
      <vt:lpstr>PowerPoint Presentation</vt:lpstr>
      <vt:lpstr>PowerPoint Presentation</vt:lpstr>
      <vt:lpstr>PowerPoint Presentation</vt:lpstr>
      <vt:lpstr>راه حل؟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چهارم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چالش‌ها و دستاوردها</vt:lpstr>
      <vt:lpstr>چه کردیم؟</vt:lpstr>
      <vt:lpstr>چالش‌ها و فرصت‌های پیش رو</vt:lpstr>
      <vt:lpstr>فرصت‌های عملیاتی</vt:lpstr>
      <vt:lpstr>از توجه شما سپاسگزارم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47</cp:revision>
  <dcterms:created xsi:type="dcterms:W3CDTF">2023-11-11T09:29:25Z</dcterms:created>
  <dcterms:modified xsi:type="dcterms:W3CDTF">2026-10-18T08:13:53Z</dcterms:modified>
</cp:coreProperties>
</file>