
<file path=[Content_Types].xml><?xml version="1.0" encoding="utf-8"?>
<Types xmlns="http://schemas.openxmlformats.org/package/2006/content-types">
  <Default Extension="fntdata" ContentType="application/x-fontdata"/>
  <Default Extension="jfif" ContentType="image/jpeg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59"/>
  </p:notesMasterIdLst>
  <p:sldIdLst>
    <p:sldId id="457" r:id="rId2"/>
    <p:sldId id="459" r:id="rId3"/>
    <p:sldId id="264" r:id="rId4"/>
    <p:sldId id="455" r:id="rId5"/>
    <p:sldId id="456" r:id="rId6"/>
    <p:sldId id="462" r:id="rId7"/>
    <p:sldId id="463" r:id="rId8"/>
    <p:sldId id="464" r:id="rId9"/>
    <p:sldId id="465" r:id="rId10"/>
    <p:sldId id="466" r:id="rId11"/>
    <p:sldId id="467" r:id="rId12"/>
    <p:sldId id="468" r:id="rId13"/>
    <p:sldId id="469" r:id="rId14"/>
    <p:sldId id="470" r:id="rId15"/>
    <p:sldId id="471" r:id="rId16"/>
    <p:sldId id="472" r:id="rId17"/>
    <p:sldId id="473" r:id="rId18"/>
    <p:sldId id="439" r:id="rId19"/>
    <p:sldId id="460" r:id="rId20"/>
    <p:sldId id="461" r:id="rId21"/>
    <p:sldId id="499" r:id="rId22"/>
    <p:sldId id="504" r:id="rId23"/>
    <p:sldId id="443" r:id="rId24"/>
    <p:sldId id="441" r:id="rId25"/>
    <p:sldId id="500" r:id="rId26"/>
    <p:sldId id="442" r:id="rId27"/>
    <p:sldId id="447" r:id="rId28"/>
    <p:sldId id="448" r:id="rId29"/>
    <p:sldId id="449" r:id="rId30"/>
    <p:sldId id="450" r:id="rId31"/>
    <p:sldId id="505" r:id="rId32"/>
    <p:sldId id="501" r:id="rId33"/>
    <p:sldId id="506" r:id="rId34"/>
    <p:sldId id="430" r:id="rId35"/>
    <p:sldId id="480" r:id="rId36"/>
    <p:sldId id="482" r:id="rId37"/>
    <p:sldId id="483" r:id="rId38"/>
    <p:sldId id="484" r:id="rId39"/>
    <p:sldId id="485" r:id="rId40"/>
    <p:sldId id="486" r:id="rId41"/>
    <p:sldId id="487" r:id="rId42"/>
    <p:sldId id="488" r:id="rId43"/>
    <p:sldId id="489" r:id="rId44"/>
    <p:sldId id="490" r:id="rId45"/>
    <p:sldId id="491" r:id="rId46"/>
    <p:sldId id="492" r:id="rId47"/>
    <p:sldId id="493" r:id="rId48"/>
    <p:sldId id="496" r:id="rId49"/>
    <p:sldId id="497" r:id="rId50"/>
    <p:sldId id="495" r:id="rId51"/>
    <p:sldId id="502" r:id="rId52"/>
    <p:sldId id="503" r:id="rId53"/>
    <p:sldId id="431" r:id="rId54"/>
    <p:sldId id="508" r:id="rId55"/>
    <p:sldId id="435" r:id="rId56"/>
    <p:sldId id="507" r:id="rId57"/>
    <p:sldId id="432" r:id="rId58"/>
  </p:sldIdLst>
  <p:sldSz cx="12192000" cy="6858000"/>
  <p:notesSz cx="6858000" cy="9144000"/>
  <p:embeddedFontLst>
    <p:embeddedFont>
      <p:font typeface="B Titr" panose="00000700000000000000" pitchFamily="2" charset="-78"/>
      <p:bold r:id="rId60"/>
    </p:embeddedFont>
    <p:embeddedFont>
      <p:font typeface="Cambria Math" panose="02040503050406030204" pitchFamily="18" charset="0"/>
      <p:regular r:id="rId61"/>
    </p:embeddedFont>
    <p:embeddedFont>
      <p:font typeface="Estedad Black" panose="020B0604020202020204" charset="-78"/>
      <p:bold r:id="rId62"/>
    </p:embeddedFont>
    <p:embeddedFont>
      <p:font typeface="S Besmellah 1" panose="020B0604020202020204" charset="0"/>
      <p:regular r:id="rId63"/>
    </p:embeddedFont>
    <p:embeddedFont>
      <p:font typeface="Shabnam" panose="020B0604020202020204" charset="-78"/>
      <p:regular r:id="rId64"/>
      <p:bold r:id="rId65"/>
    </p:embeddedFont>
    <p:embeddedFont>
      <p:font typeface="Vazir FD" charset="-78"/>
      <p:regular r:id="rId66"/>
      <p:bold r:id="rId67"/>
    </p:embeddedFont>
    <p:embeddedFont>
      <p:font typeface="Vazir Light FD" charset="-78"/>
      <p:regular r:id="rId68"/>
    </p:embeddedFont>
  </p:embeddedFontLst>
  <p:defaultTextStyle>
    <a:defPPr>
      <a:defRPr lang="fa-I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lus" initials="P" lastIdx="1" clrIdx="0">
    <p:extLst>
      <p:ext uri="{19B8F6BF-5375-455C-9EA6-DF929625EA0E}">
        <p15:presenceInfo xmlns:p15="http://schemas.microsoft.com/office/powerpoint/2012/main" userId="Plus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60A500"/>
    <a:srgbClr val="FFD966"/>
    <a:srgbClr val="807AF2"/>
    <a:srgbClr val="388600"/>
    <a:srgbClr val="262344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352" autoAdjust="0"/>
    <p:restoredTop sz="94660"/>
  </p:normalViewPr>
  <p:slideViewPr>
    <p:cSldViewPr snapToGrid="0">
      <p:cViewPr varScale="1">
        <p:scale>
          <a:sx n="69" d="100"/>
          <a:sy n="69" d="100"/>
        </p:scale>
        <p:origin x="93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4.fntdata"/><Relationship Id="rId68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font" Target="fonts/font7.fntdata"/><Relationship Id="rId5" Type="http://schemas.openxmlformats.org/officeDocument/2006/relationships/slide" Target="slides/slide4.xml"/><Relationship Id="rId61" Type="http://schemas.openxmlformats.org/officeDocument/2006/relationships/font" Target="fonts/font2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font" Target="fonts/font5.fntdata"/><Relationship Id="rId69" Type="http://schemas.openxmlformats.org/officeDocument/2006/relationships/commentAuthors" Target="commentAuthor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67" Type="http://schemas.openxmlformats.org/officeDocument/2006/relationships/font" Target="fonts/font8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font" Target="fonts/font3.fntdata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1.fntdata"/><Relationship Id="rId65" Type="http://schemas.openxmlformats.org/officeDocument/2006/relationships/font" Target="fonts/font6.fntdata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491A606E-C30F-41E2-A6FE-2CBDA183F185}" type="datetimeFigureOut">
              <a:rPr lang="fa-IR" smtClean="0"/>
              <a:t>07/05/1448</a:t>
            </a:fld>
            <a:endParaRPr lang="fa-I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a-I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24C98080-FADA-4EED-8236-4142F46010A9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64262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199A7-4D7F-48FC-B9CB-D78A4D4F32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168BE1-FDAA-4A2C-B64A-91538170FB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B826DD-AB57-42A7-80F4-00A9E72D8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07/05/1448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739906-FCA0-4361-836A-FCAA57C1B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CF5C0A-C251-49BB-90AC-62A38F352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10189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5B9BD-7E96-4FA4-8EE4-E96361128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00133-91FC-4F5C-8FE5-F904BFDC3A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2D5044-41B5-4690-A94C-F1A3BBBB6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07/05/1448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FB23B3-9258-496D-A8CC-0E64C74AD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330858-70BF-4859-870B-699D3867F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127134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0A2BC-E1D5-40C0-BE08-06088BD75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6EFBC4-8998-4D04-8008-66934A50D5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F809E0-0C06-4E66-8735-673815238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07/05/1448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C8590B-57D3-4969-B932-2751A1096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23E59F-AE73-4EBC-AB02-0B40AD409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4096267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3736B-5D3C-4F9F-9801-562E1C58C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265525-EF91-401B-A114-A1B512E9F5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2D15F1-369A-4866-A710-256D923A92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A1D201-8E0F-4181-AC20-EA4E87552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07/05/1448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0AF6EA-75BF-4855-9689-883D484A71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67942E-3DE9-4FEC-9DEF-79B42CA74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70705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27C2B-7067-4ACB-8C1B-E2FC7F493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F654A0-C004-4E92-8107-0D26940935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9522B5-D356-4BAD-8EF2-8C580B65BC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7F680A6-86CB-46D9-9ED5-38A9908982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0A975D-99B0-4E9E-8382-705EE9DB27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0908A8-7A81-4CD0-9FA3-267F48196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07/05/1448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1136155-98AC-44DD-8672-3667D2CBB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9D19F12-6834-45F4-A98A-BD7383F5E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6827475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F70B1-87CD-4FA7-B162-32FC47167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12D66C-C5AE-455D-AE60-0BEBE14B4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07/05/1448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E0E86E-7F7D-4342-9C3F-DB8FB2ACAE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CCEA41-2F25-43B4-9E36-581564173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8496654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C6C159-70F4-47A6-AD2E-429940B06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07/05/1448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F85042-09BF-48FF-A15B-56FD7E86D0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902A0-3A6B-4511-9D9B-165F63275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260811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8526B-968D-45DD-B170-9388ADAA6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BD6463-BC8F-4F5E-84D1-9898C4AEEE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6D5448-5688-44FC-91B4-68FDC98476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B6CCB0-4512-4416-9143-963C62DAB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07/05/1448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2B1292-9426-4848-B38D-2F6CF26BB4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DAC500-F225-4ED6-807D-589A3B39C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864072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6CFB1-963D-4534-B189-2022479CB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47FB949-A1A3-4D1F-96C2-B5094650C4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EDE676-A637-4D00-B576-CFE2D366D9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CD3186-342D-4E34-BB34-774DE602F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07/05/1448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828BB6-FD34-41A3-BC30-93B824CAB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51DF70-A674-45C4-BF1D-E4D59BEF58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1615594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6A65E-94E1-4F87-ABD6-B8BF51E57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48DF7F-D0E8-47C4-A4EC-EE443B0BE1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2C7293-9600-4868-A087-911DF2BE90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07/05/1448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55D2F5-AE12-4337-8792-60EB051EE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E028D1-08E9-4AE8-9D2A-D81B3B9A4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3226083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C12BB4-6CB8-45B7-92B4-E81494690B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AE9093-558F-4F40-A699-B8844AD1BF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271B48-8C67-4665-BC28-2B52C9DCE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07/05/1448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70232C-51A3-486D-9FBF-30739B559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BDC378-AEAB-4DE9-BFA5-E694F38A4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2128396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F0C5ED1-C1D8-44A1-AA33-FFF55040C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053CFA-D95D-40B7-B1E9-E38EC169AD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C46B78-EA3A-44CA-AEE8-005C36066B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ABABBB-BE2D-4C76-88AB-17C6495DD6E9}" type="datetimeFigureOut">
              <a:rPr lang="fa-IR" smtClean="0"/>
              <a:t>07/05/1448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B6751E-9282-49EA-9CEE-45F0EA072F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924D9E-E536-44E0-BD93-4143A1E843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548665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53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fif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fif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" Target="slide53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" Target="slide56.xml"/><Relationship Id="rId5" Type="http://schemas.openxmlformats.org/officeDocument/2006/relationships/slide" Target="slide54.xml"/><Relationship Id="rId4" Type="http://schemas.openxmlformats.org/officeDocument/2006/relationships/slide" Target="slide5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" Target="slide55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slide" Target="slide55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8.png"/><Relationship Id="rId7" Type="http://schemas.openxmlformats.org/officeDocument/2006/relationships/image" Target="../media/image9.png"/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0.png"/><Relationship Id="rId5" Type="http://schemas.openxmlformats.org/officeDocument/2006/relationships/image" Target="../media/image70.png"/><Relationship Id="rId4" Type="http://schemas.openxmlformats.org/officeDocument/2006/relationships/image" Target="../media/image60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8.png"/><Relationship Id="rId7" Type="http://schemas.openxmlformats.org/officeDocument/2006/relationships/image" Target="../media/image13.png"/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6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slide" Target="slide55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webp"/><Relationship Id="rId2" Type="http://schemas.openxmlformats.org/officeDocument/2006/relationships/slide" Target="slide5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slide" Target="slide57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F137134-E599-D44E-5F7E-859C1D00229B}"/>
              </a:ext>
            </a:extLst>
          </p:cNvPr>
          <p:cNvSpPr txBox="1">
            <a:spLocks/>
          </p:cNvSpPr>
          <p:nvPr/>
        </p:nvSpPr>
        <p:spPr>
          <a:xfrm>
            <a:off x="4772025" y="886790"/>
            <a:ext cx="7588959" cy="40995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9600" dirty="0">
                <a:solidFill>
                  <a:srgbClr val="262344"/>
                </a:solidFill>
                <a:latin typeface="S Besmellah 1" pitchFamily="2" charset="0"/>
                <a:cs typeface="Estedad Black" panose="02000A03000000000000" pitchFamily="2" charset="-78"/>
              </a:rPr>
              <a:t>s</a:t>
            </a:r>
            <a:endParaRPr lang="fa-IR" sz="59500" dirty="0">
              <a:solidFill>
                <a:srgbClr val="262344"/>
              </a:solidFill>
              <a:latin typeface="S Besmellah 1" pitchFamily="2" charset="0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354774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B687E-666E-787C-82A4-370FA6457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F93CA00-C629-A62E-EFF4-6689ED3E7E2C}"/>
              </a:ext>
            </a:extLst>
          </p:cNvPr>
          <p:cNvSpPr/>
          <p:nvPr/>
        </p:nvSpPr>
        <p:spPr>
          <a:xfrm>
            <a:off x="5219803" y="350667"/>
            <a:ext cx="6501143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A07B819-CEDB-9863-7C62-777900A9725E}"/>
              </a:ext>
            </a:extLst>
          </p:cNvPr>
          <p:cNvSpPr txBox="1">
            <a:spLocks/>
          </p:cNvSpPr>
          <p:nvPr/>
        </p:nvSpPr>
        <p:spPr>
          <a:xfrm>
            <a:off x="6198910" y="554379"/>
            <a:ext cx="5419124" cy="211556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600">
                <a:solidFill>
                  <a:srgbClr val="262344"/>
                </a:solidFill>
                <a:latin typeface="S Besmellah 1" pitchFamily="2" charset="0"/>
                <a:cs typeface="Estedad Black" panose="02000A03000000000000" pitchFamily="2" charset="-78"/>
              </a:rPr>
              <a:t>s</a:t>
            </a:r>
            <a:endParaRPr lang="fa-IR" sz="16600" dirty="0">
              <a:solidFill>
                <a:srgbClr val="262344"/>
              </a:solidFill>
              <a:latin typeface="S Besmellah 1" pitchFamily="2" charset="0"/>
              <a:cs typeface="Estedad Black" panose="02000A03000000000000" pitchFamily="2" charset="-78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A16D797-8A48-5ADE-2EC1-71304A53210A}"/>
              </a:ext>
            </a:extLst>
          </p:cNvPr>
          <p:cNvSpPr txBox="1">
            <a:spLocks/>
          </p:cNvSpPr>
          <p:nvPr/>
        </p:nvSpPr>
        <p:spPr>
          <a:xfrm>
            <a:off x="6013263" y="2882737"/>
            <a:ext cx="5419124" cy="77467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حفظ امنیت داده‌های حساس در پیش‌بینی خودکشی با رویکردی مبتنی بر یادگیری مشارکتی و رمزنگاری هم‌ریخت در پردازش زبان طبیعی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DEF1434-800C-B0A3-1293-63DCF45C9C6C}"/>
              </a:ext>
            </a:extLst>
          </p:cNvPr>
          <p:cNvSpPr/>
          <p:nvPr/>
        </p:nvSpPr>
        <p:spPr>
          <a:xfrm flipH="1">
            <a:off x="1892852" y="5782712"/>
            <a:ext cx="2041131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Vazir Light FD" panose="020B0604020202020204" charset="-78"/>
                <a:cs typeface="Vazir Light FD" panose="020B0604020202020204" charset="-78"/>
              </a:rPr>
              <a:t>مهر 1405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59147A5-33AE-AF62-742A-685092E4966D}"/>
              </a:ext>
            </a:extLst>
          </p:cNvPr>
          <p:cNvSpPr/>
          <p:nvPr/>
        </p:nvSpPr>
        <p:spPr>
          <a:xfrm>
            <a:off x="2290952" y="350667"/>
            <a:ext cx="1781730" cy="1781730"/>
          </a:xfrm>
          <a:prstGeom prst="ellipse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endParaRPr lang="fa-IR" dirty="0">
              <a:solidFill>
                <a:schemeClr val="bg2">
                  <a:lumMod val="75000"/>
                </a:schemeClr>
              </a:solidFill>
              <a:cs typeface="B Titr" panose="00000700000000000000" pitchFamily="2" charset="-78"/>
            </a:endParaRPr>
          </a:p>
        </p:txBody>
      </p:sp>
      <p:sp>
        <p:nvSpPr>
          <p:cNvPr id="12" name="!!Freeform: Shape 20">
            <a:extLst>
              <a:ext uri="{FF2B5EF4-FFF2-40B4-BE49-F238E27FC236}">
                <a16:creationId xmlns:a16="http://schemas.microsoft.com/office/drawing/2014/main" id="{DA50200E-07EF-6483-4E92-A4408E45D7C2}"/>
              </a:ext>
            </a:extLst>
          </p:cNvPr>
          <p:cNvSpPr/>
          <p:nvPr/>
        </p:nvSpPr>
        <p:spPr>
          <a:xfrm flipH="1">
            <a:off x="759613" y="2373632"/>
            <a:ext cx="4307610" cy="76543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سجاد رنجبر یزدی</a:t>
            </a:r>
          </a:p>
        </p:txBody>
      </p:sp>
      <p:sp>
        <p:nvSpPr>
          <p:cNvPr id="13" name="Freeform: Shape 12">
            <a:hlinkClick r:id="rId2" action="ppaction://hlinksldjump"/>
            <a:extLst>
              <a:ext uri="{FF2B5EF4-FFF2-40B4-BE49-F238E27FC236}">
                <a16:creationId xmlns:a16="http://schemas.microsoft.com/office/drawing/2014/main" id="{9A2093C3-6649-09BD-6CC5-9FC187B622E1}"/>
              </a:ext>
            </a:extLst>
          </p:cNvPr>
          <p:cNvSpPr/>
          <p:nvPr/>
        </p:nvSpPr>
        <p:spPr>
          <a:xfrm flipH="1">
            <a:off x="4225022" y="2530397"/>
            <a:ext cx="1684402" cy="455923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دانشجو</a:t>
            </a:r>
          </a:p>
        </p:txBody>
      </p:sp>
      <p:sp>
        <p:nvSpPr>
          <p:cNvPr id="14" name="!!Freeform: Shape 32">
            <a:extLst>
              <a:ext uri="{FF2B5EF4-FFF2-40B4-BE49-F238E27FC236}">
                <a16:creationId xmlns:a16="http://schemas.microsoft.com/office/drawing/2014/main" id="{C529F141-C54F-F75C-DE74-BF4E0BD3EE9F}"/>
              </a:ext>
            </a:extLst>
          </p:cNvPr>
          <p:cNvSpPr/>
          <p:nvPr/>
        </p:nvSpPr>
        <p:spPr>
          <a:xfrm flipH="1">
            <a:off x="759613" y="3462498"/>
            <a:ext cx="4307610" cy="76543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خانم</a:t>
            </a:r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 دکتر زیبا اسلامی</a:t>
            </a:r>
          </a:p>
        </p:txBody>
      </p:sp>
      <p:sp>
        <p:nvSpPr>
          <p:cNvPr id="15" name="Freeform: Shape 14">
            <a:hlinkClick r:id="rId2" action="ppaction://hlinksldjump"/>
            <a:extLst>
              <a:ext uri="{FF2B5EF4-FFF2-40B4-BE49-F238E27FC236}">
                <a16:creationId xmlns:a16="http://schemas.microsoft.com/office/drawing/2014/main" id="{6FB0B4D3-9D43-1108-0455-D9D58B46D444}"/>
              </a:ext>
            </a:extLst>
          </p:cNvPr>
          <p:cNvSpPr/>
          <p:nvPr/>
        </p:nvSpPr>
        <p:spPr>
          <a:xfrm flipH="1">
            <a:off x="4225022" y="3619263"/>
            <a:ext cx="1684402" cy="455923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استاد راهنما</a:t>
            </a:r>
          </a:p>
        </p:txBody>
      </p:sp>
      <p:sp>
        <p:nvSpPr>
          <p:cNvPr id="16" name="!!Freeform: Shape 34">
            <a:extLst>
              <a:ext uri="{FF2B5EF4-FFF2-40B4-BE49-F238E27FC236}">
                <a16:creationId xmlns:a16="http://schemas.microsoft.com/office/drawing/2014/main" id="{216A8102-4C71-1C58-619F-75E272A96D8D}"/>
              </a:ext>
            </a:extLst>
          </p:cNvPr>
          <p:cNvSpPr/>
          <p:nvPr/>
        </p:nvSpPr>
        <p:spPr>
          <a:xfrm flipH="1">
            <a:off x="759613" y="4551364"/>
            <a:ext cx="4307610" cy="76543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علوم ریاضی</a:t>
            </a:r>
          </a:p>
        </p:txBody>
      </p:sp>
      <p:sp>
        <p:nvSpPr>
          <p:cNvPr id="17" name="Freeform: Shape 16">
            <a:hlinkClick r:id="rId2" action="ppaction://hlinksldjump"/>
            <a:extLst>
              <a:ext uri="{FF2B5EF4-FFF2-40B4-BE49-F238E27FC236}">
                <a16:creationId xmlns:a16="http://schemas.microsoft.com/office/drawing/2014/main" id="{C9044A2B-FB30-2A6A-8234-338F27A29334}"/>
              </a:ext>
            </a:extLst>
          </p:cNvPr>
          <p:cNvSpPr/>
          <p:nvPr/>
        </p:nvSpPr>
        <p:spPr>
          <a:xfrm flipH="1">
            <a:off x="4225022" y="4708129"/>
            <a:ext cx="1684402" cy="455923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دانشکده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167A64B-22FB-D38F-8F7E-371737A6EE1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2408" y="358945"/>
            <a:ext cx="1781730" cy="178173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40366870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فصل اول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طرح موضوع و بررسی پیشینه پژوهش</a:t>
            </a:r>
            <a:endParaRPr lang="fa-IR" dirty="0">
              <a:solidFill>
                <a:schemeClr val="bg1"/>
              </a:solidFill>
              <a:effectLst/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7257663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B84A6-3D2C-7C3D-FB8F-443C42A4A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C844503-C73A-0EFB-C41B-E5E460224BAD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AE352091-7D56-7E8D-C1BC-E77684B8F9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65564" y="350667"/>
            <a:ext cx="10001289" cy="774676"/>
          </a:xfrm>
        </p:spPr>
        <p:txBody>
          <a:bodyPr>
            <a:noAutofit/>
          </a:bodyPr>
          <a:lstStyle/>
          <a:p>
            <a:pPr algn="r"/>
            <a:r>
              <a:rPr lang="fa-IR" sz="36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جایی که جان‌ها نبودن را بر بودن ترجیح می‌دهند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EAE26BF4-64C5-6876-F0D7-6472DB0FF9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8" y="1125343"/>
            <a:ext cx="10731374" cy="4527312"/>
          </a:xfrm>
        </p:spPr>
        <p:txBody>
          <a:bodyPr>
            <a:normAutofit/>
          </a:bodyPr>
          <a:lstStyle/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طبق داده‌های سازمان جهانی بهداشت سالانه </a:t>
            </a:r>
            <a:r>
              <a:rPr lang="fa-IR" dirty="0">
                <a:effectLst/>
                <a:latin typeface="Vazir FD" pitchFamily="2" charset="-78"/>
                <a:cs typeface="Vazir FD" pitchFamily="2" charset="-78"/>
              </a:rPr>
              <a:t>بیش از ۰.۷ میلیون انسان، جان خود را بر اثر خودکشی از دست می‌دهند.</a:t>
            </a: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خودکشی در زمره 10 عامل اصلی مرگ و میر در تمامی گروه‌های سنی قرار دارد.</a:t>
            </a: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به گزارش مرکز کنترل و پیشگیری از بیماری‌های ایالات متحده خودکشی دومین علت مرگ و میر در بازه سنی 10 الی 34 سال می‌باشد.</a:t>
            </a: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این آمار در کشور ما چگونه است؟</a:t>
            </a:r>
            <a:endParaRPr lang="fa-IR" dirty="0">
              <a:effectLst/>
              <a:latin typeface="Vazir FD" pitchFamily="2" charset="-78"/>
              <a:cs typeface="Vazir FD" pitchFamily="2" charset="-78"/>
            </a:endParaRP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effectLst/>
              <a:latin typeface="Vazir FD" pitchFamily="2" charset="-78"/>
              <a:cs typeface="Vazir FD" pitchFamily="2" charset="-78"/>
            </a:endParaRP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effectLst/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A25907E2-5CD8-AAFF-0875-3A3F0D8FFCC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EB2C5065-B237-11DA-8C1C-A56354FCB890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79E3223-1E72-BA96-4DC1-1FDE1DEE07A8}"/>
              </a:ext>
            </a:extLst>
          </p:cNvPr>
          <p:cNvSpPr/>
          <p:nvPr/>
        </p:nvSpPr>
        <p:spPr>
          <a:xfrm>
            <a:off x="4849091" y="4714791"/>
            <a:ext cx="1924398" cy="57764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b="1" dirty="0">
                <a:latin typeface="Vazir Light FD" panose="020B0604020202020204" charset="-78"/>
                <a:cs typeface="Vazir Light FD" panose="020B0604020202020204" charset="-78"/>
              </a:rPr>
              <a:t>نمی‌دانیم</a:t>
            </a:r>
            <a:endParaRPr lang="en-US" b="1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7832736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50"/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50"/>
                                        <p:tgtEl>
                                          <p:spTgt spid="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50"/>
                                        <p:tgtEl>
                                          <p:spTgt spid="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uiExpand="1" build="p"/>
      <p:bldP spid="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F80F5C-578E-DBCB-6BBD-679BC8D34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EC338EB-564D-1642-EEB2-9F3C8578E71D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6AABB693-7E70-AFD5-184D-2C17FFF7DC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65564" y="350667"/>
            <a:ext cx="10001289" cy="774676"/>
          </a:xfrm>
        </p:spPr>
        <p:txBody>
          <a:bodyPr>
            <a:noAutofit/>
          </a:bodyPr>
          <a:lstStyle/>
          <a:p>
            <a:pPr algn="r"/>
            <a:r>
              <a:rPr lang="fa-IR" sz="36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جایی که جان‌ها نبودن را بر بودن ترجیح می‌دهند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2642128-3E3E-22CA-615B-43BE6B0EE322}"/>
              </a:ext>
            </a:extLst>
          </p:cNvPr>
          <p:cNvSpPr/>
          <p:nvPr/>
        </p:nvSpPr>
        <p:spPr>
          <a:xfrm>
            <a:off x="9058360" y="1717963"/>
            <a:ext cx="1094509" cy="1094509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4AA6ADD9-5EB1-69D3-8FFC-1288DF8E8A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8" y="1125343"/>
            <a:ext cx="10731374" cy="4527312"/>
          </a:xfrm>
        </p:spPr>
        <p:txBody>
          <a:bodyPr>
            <a:normAutofit/>
          </a:bodyPr>
          <a:lstStyle/>
          <a:p>
            <a:pPr algn="r" rtl="1">
              <a:lnSpc>
                <a:spcPct val="170000"/>
              </a:lnSpc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بسیاری از قربانیان، ماه‌ها پیش از اقدام، نشانه‌های هشدارد هنده‌ای از خود بروز میدهند.</a:t>
            </a:r>
          </a:p>
          <a:p>
            <a:pPr algn="r" rtl="1">
              <a:lnSpc>
                <a:spcPct val="170000"/>
              </a:lnSpc>
            </a:pPr>
            <a:r>
              <a:rPr lang="fa-IR" b="1" dirty="0">
                <a:solidFill>
                  <a:srgbClr val="00B050"/>
                </a:solidFill>
                <a:latin typeface="Vazir FD" pitchFamily="2" charset="-78"/>
                <a:cs typeface="Vazir FD" pitchFamily="2" charset="-78"/>
              </a:rPr>
              <a:t>در صورت تشخیص به‌موقع، قابل مداخله است.</a:t>
            </a: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1B86DDB9-807F-8248-6199-1ADB3DCBEAC3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A6A7A347-EBCC-35CC-32B7-B249230738B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C8AEBCE2-34AC-29A4-BDF4-BE9B7E59DEB3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9804375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37028-D223-FCB3-622B-4DEEF8302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BC6C89D-E8FF-A490-779C-E2F1D2C3CBFB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02FD3FAA-BD9A-06B1-A26E-2F1C30E8B10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76A2A72C-DC4A-B9F6-1B67-4BDB759FD423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72CD9CDB-44D3-3E30-4A42-2AE43D056ADC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C8E2DF-F3D8-D529-CDD3-1BEF4E3172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4A6F1CE-6E27-5806-576F-7FE7F7440650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802B1B5F-7F5F-1E0F-8AA4-7BB69932402D}"/>
              </a:ext>
            </a:extLst>
          </p:cNvPr>
          <p:cNvSpPr/>
          <p:nvPr/>
        </p:nvSpPr>
        <p:spPr>
          <a:xfrm>
            <a:off x="915656" y="4452750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61E5BE29-C51C-420C-EF64-DAC317485AF4}"/>
              </a:ext>
            </a:extLst>
          </p:cNvPr>
          <p:cNvSpPr txBox="1">
            <a:spLocks/>
          </p:cNvSpPr>
          <p:nvPr/>
        </p:nvSpPr>
        <p:spPr>
          <a:xfrm>
            <a:off x="4921411" y="1052945"/>
            <a:ext cx="3694958" cy="157629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نخستین نمومه‌های پردازش طبیعی زبان با هدف ترجمه و خلاصه‌‌سازی ماشینی.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D6F791B-6A57-0B27-1255-3652D7CAF6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6133" y="1209696"/>
            <a:ext cx="1926457" cy="1926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5475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A6F7D-B54E-6DD4-DA55-9EF161322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28BDE58-3D2A-DCFC-82BE-61A2D225181D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ACAC1495-31E0-7991-5811-EF38E7BE9D94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9BA8EE3E-B482-BD92-196B-5A31E56B36A6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241D3A64-683F-76C1-FF44-9B9ADA135E3E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ACF676-BDD1-FA84-4503-641B7516FD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02E7E32-9EF2-3B26-01B5-FE2897C46C1B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FF9663E5-DCDB-9E8D-2BE0-5791CC3E7E03}"/>
              </a:ext>
            </a:extLst>
          </p:cNvPr>
          <p:cNvSpPr/>
          <p:nvPr/>
        </p:nvSpPr>
        <p:spPr>
          <a:xfrm>
            <a:off x="1447798" y="4396198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92165EE5-AC47-9FE0-E708-DE280EECBBB4}"/>
              </a:ext>
            </a:extLst>
          </p:cNvPr>
          <p:cNvSpPr txBox="1">
            <a:spLocks/>
          </p:cNvSpPr>
          <p:nvPr/>
        </p:nvSpPr>
        <p:spPr>
          <a:xfrm>
            <a:off x="719617" y="529597"/>
            <a:ext cx="7466442" cy="149629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rtl="1">
              <a:lnSpc>
                <a:spcPct val="170000"/>
              </a:lnSpc>
            </a:pPr>
            <a:r>
              <a:rPr lang="en-US" sz="2000" b="1" dirty="0">
                <a:latin typeface="Vazir FD" pitchFamily="2" charset="-78"/>
                <a:cs typeface="Vazir FD" pitchFamily="2" charset="-78"/>
              </a:rPr>
              <a:t>The General Inquirer: A Computer Approach to Content Analysis</a:t>
            </a:r>
            <a:br>
              <a:rPr lang="fa-IR" sz="2000" b="1" dirty="0">
                <a:latin typeface="Vazir FD" pitchFamily="2" charset="-78"/>
                <a:cs typeface="Vazir FD" pitchFamily="2" charset="-78"/>
              </a:rPr>
            </a:b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FCE0B9F7-D670-D2BC-11EA-A3DF4EBD8585}"/>
              </a:ext>
            </a:extLst>
          </p:cNvPr>
          <p:cNvSpPr txBox="1">
            <a:spLocks/>
          </p:cNvSpPr>
          <p:nvPr/>
        </p:nvSpPr>
        <p:spPr>
          <a:xfrm>
            <a:off x="4049779" y="1143002"/>
            <a:ext cx="3989531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از نخستین نمونه‌های مستند استفاده از تحلیل رایانه‌ای واژگان برای تمایز میان یادداشت‌های واقعی و ساختگی است.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5F42138-7EAC-056A-F5E8-61176F46D0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3990" y="1288472"/>
            <a:ext cx="1888734" cy="2830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460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63AF1-A602-3322-FFB3-B03D5DC93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B77E9EE-07A6-8FA4-F621-45A8E8AC695F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2E4B578A-A50E-CEF1-AD13-9C2273F49DD6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48640E38-2B1F-6A42-917A-09735C64B21B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EC0FF3A-D0F8-E43A-2438-3D575042AA62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79C6BF-6338-28F2-C061-D1DC095225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8136769-32F2-B6B1-85F2-C64E19AFFE02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AB64D46E-DB7E-6E06-C45D-763D3D0F46E5}"/>
              </a:ext>
            </a:extLst>
          </p:cNvPr>
          <p:cNvSpPr/>
          <p:nvPr/>
        </p:nvSpPr>
        <p:spPr>
          <a:xfrm>
            <a:off x="4530437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C262E84C-29F9-FAFE-72A3-5695CB5E85EC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پژوهشگران با نرم‌افزار </a:t>
            </a:r>
            <a:r>
              <a:rPr lang="en-US" sz="2000" dirty="0">
                <a:latin typeface="Vazir FD" pitchFamily="2" charset="-78"/>
                <a:cs typeface="Vazir FD" pitchFamily="2" charset="-78"/>
              </a:rPr>
              <a:t>LIWC </a:t>
            </a:r>
            <a:r>
              <a:rPr lang="fa-IR" sz="2000" dirty="0">
                <a:latin typeface="Vazir FD" pitchFamily="2" charset="-78"/>
                <a:cs typeface="Vazir FD" pitchFamily="2" charset="-78"/>
              </a:rPr>
              <a:t>حدود ۳۰۰ شعر از ۹ شاعر که بر اثر خودکشی فوت کرده بودند و ۹ شاعر گروه مقایسه را تحلیل کردند. نتایج نشان داد استفاده بیشتر از واژگان خودارجاع و استفاده کمتر از واژگان جمعی با گروه نخست همراه بود. این مطالعه یکی از پل‌های مهم میان روان‌شناسی زبان و تحلیل متن رایانه‌ای است.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28F2A24-3624-3A52-A103-60308A98AA44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</p:spTree>
    <p:extLst>
      <p:ext uri="{BB962C8B-B14F-4D97-AF65-F5344CB8AC3E}">
        <p14:creationId xmlns:p14="http://schemas.microsoft.com/office/powerpoint/2010/main" val="25241097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4645B-F965-BCA1-60B3-E7E4B0864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ED489E4-3C7B-9C5E-194E-306188DFDC42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1482392F-50C6-8022-F823-603244A45672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D6265B88-D902-EBCB-15DA-B9ACDA3AF465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760979BD-5B7D-68A8-5405-01D18D2CAE35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C3A9C94-5573-55B7-8BFD-A7C056B3C9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2C1F826-3A8E-E044-6174-AB389EEB873F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27672379-2DBE-A634-486C-4045CBAE1733}"/>
              </a:ext>
            </a:extLst>
          </p:cNvPr>
          <p:cNvSpPr/>
          <p:nvPr/>
        </p:nvSpPr>
        <p:spPr>
          <a:xfrm>
            <a:off x="5596443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8930F3DB-46EF-B606-174B-86CAB82DDFE6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دقت مدل کامپیوتری در پیش‌‌بینی خودکشی به حدود 78% رسید و برای نخستین بار از دقت متخصص انسانی(حدود 71% به صورت میانگین) پیشی گرفت.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32A76F1-B003-2EAA-A8A0-9C331AFF48C6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F3BC160-6952-A7A6-5EC7-6B5D89E4199C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</p:spTree>
    <p:extLst>
      <p:ext uri="{BB962C8B-B14F-4D97-AF65-F5344CB8AC3E}">
        <p14:creationId xmlns:p14="http://schemas.microsoft.com/office/powerpoint/2010/main" val="22424920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457A7-39C1-E175-D409-AB57165EC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7BE9B50-26BE-0096-6DE1-FAC4B9D0800C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EFFFA3A0-98BD-71FB-18C3-70A18CBA78AB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55719364-F859-23AA-CA61-83AC521EE144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4E896445-7C42-5987-3471-B2BE530E85B8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DF5E4B-70A0-8AA2-5884-251C821140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F1C1A13-87DB-B624-D430-4106448AB982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277926A4-9241-E763-DEFE-2E33121D5DD6}"/>
              </a:ext>
            </a:extLst>
          </p:cNvPr>
          <p:cNvSpPr/>
          <p:nvPr/>
        </p:nvSpPr>
        <p:spPr>
          <a:xfrm>
            <a:off x="6329886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D5D99D43-442D-E3CF-B27D-AEB0622CB290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افزایش چشمگیر مجموعه داده با جمع‌آوری مجموعه‌ای از یادداشت‌های 1319 شرکت‌کننده. با حضور ۲۴ تیم پژوهشی و 102 پژوهش‌‌گر.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52D147D5-B661-58A2-424C-49339CA9CA9F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A89FFEDF-805F-DEE4-35AA-B4AAC3BF4945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D7D35C9-F222-16F2-8310-4CAB60F67469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</p:spTree>
    <p:extLst>
      <p:ext uri="{BB962C8B-B14F-4D97-AF65-F5344CB8AC3E}">
        <p14:creationId xmlns:p14="http://schemas.microsoft.com/office/powerpoint/2010/main" val="23007119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D0126-9497-F757-4AAE-E1A9DCCA6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70AADCA-B4A7-6606-6E2E-2179823985B1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A50215B7-785B-AF50-2CEA-D19CEDD982E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ED0BB40E-09B3-B7F4-4770-AEAE4F4ADF70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AD06C446-474A-BD05-50FB-1CE164034991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CBFBFA-535C-1678-A5FF-A6054F351E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EDB1B68-2228-C251-E1A7-488B4E7590A0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18B80E38-7B18-43AD-24D4-4CBE4C1BC130}"/>
              </a:ext>
            </a:extLst>
          </p:cNvPr>
          <p:cNvSpPr/>
          <p:nvPr/>
        </p:nvSpPr>
        <p:spPr>
          <a:xfrm>
            <a:off x="6942229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435D37E1-EF49-A79F-58BA-3B04E65DFF43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شروع نخستین بررسی‌ها روی شبکه‌های اجتماعی. افزایش بسیار چشمگیر در تعداد مقالات چاپ شده طی بازه 2014 تا 2016.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B78F117-01DF-A778-C43D-3BEAA1519A8A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032FA0E3-37BF-48C6-FA59-D5048EECBF5F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B506F65-402B-1B81-824F-6D53FBC6A116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3B4F3B74-E1DC-65CE-C177-BE76A290039F}"/>
              </a:ext>
            </a:extLst>
          </p:cNvPr>
          <p:cNvSpPr txBox="1">
            <a:spLocks/>
          </p:cNvSpPr>
          <p:nvPr/>
        </p:nvSpPr>
        <p:spPr>
          <a:xfrm>
            <a:off x="6691745" y="5580401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</p:spTree>
    <p:extLst>
      <p:ext uri="{BB962C8B-B14F-4D97-AF65-F5344CB8AC3E}">
        <p14:creationId xmlns:p14="http://schemas.microsoft.com/office/powerpoint/2010/main" val="19488804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6A47F-52DE-6AE6-990F-A4D60D239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F4EF559-ABC5-426F-5E7F-129179C54DF5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324DC6C1-059F-50DA-900C-F06468055567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98D748D6-D215-FD8B-BCBF-DC2C1A779BA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3C7A8005-44E3-AD88-58DF-5274A03600DF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9272ED-AC50-BD9D-D1B4-CDEB5E2D27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8DDF211-A22C-CF6E-CEF9-A676314AA86C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27BDB194-1535-E9FB-B889-12108CC2830A}"/>
              </a:ext>
            </a:extLst>
          </p:cNvPr>
          <p:cNvSpPr/>
          <p:nvPr/>
        </p:nvSpPr>
        <p:spPr>
          <a:xfrm>
            <a:off x="7571453" y="4396197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64089951-4FE0-6ABA-602B-0FC5321A485C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پس از معرفی یادگیری مشارکتی توسط تیم گوگل در سال 2016 این حوزه کمک شایانی به پیشرفت حوزه تشخیص خودکشی از روی متن داشت.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2A493F12-2F77-5ECF-1432-F906D737B8CF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622ED566-5EE1-4857-FDEE-0CB12297BC1A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2AE3B850-4CC0-8A3B-7D32-9E22F6E5B250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C1E3F58E-479C-6626-08E4-62A16768A98E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DD72318A-A766-1348-A055-D166F6E39453}"/>
              </a:ext>
            </a:extLst>
          </p:cNvPr>
          <p:cNvSpPr txBox="1">
            <a:spLocks/>
          </p:cNvSpPr>
          <p:nvPr/>
        </p:nvSpPr>
        <p:spPr>
          <a:xfrm>
            <a:off x="7267501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2017</a:t>
            </a:r>
          </a:p>
        </p:txBody>
      </p:sp>
    </p:spTree>
    <p:extLst>
      <p:ext uri="{BB962C8B-B14F-4D97-AF65-F5344CB8AC3E}">
        <p14:creationId xmlns:p14="http://schemas.microsoft.com/office/powerpoint/2010/main" val="5175529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50959-B919-5075-480B-F3008E389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5C6C38C-E944-3D40-582B-856D143C6093}"/>
              </a:ext>
            </a:extLst>
          </p:cNvPr>
          <p:cNvSpPr/>
          <p:nvPr/>
        </p:nvSpPr>
        <p:spPr>
          <a:xfrm>
            <a:off x="541805" y="357594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FD951B4D-8D8D-8145-8222-7B1F410AF73E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895364CB-0AB2-289B-4BBE-619B24CE6E41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5E3BD8B-D798-B4D6-0AB9-2C51A019C3EE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CA4E7D-1557-6880-5BEE-9BD7BE32C8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21264A9-5587-E3BA-A7BD-8B679DFA9F93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484C5BF0-50F5-5801-5D35-5DACDE2B6D02}"/>
              </a:ext>
            </a:extLst>
          </p:cNvPr>
          <p:cNvSpPr/>
          <p:nvPr/>
        </p:nvSpPr>
        <p:spPr>
          <a:xfrm>
            <a:off x="7875095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0AAE773D-78F9-A4B2-B9EC-0E27D15C7621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ایجاد نمونه‌های عملیاتی در بیمارستان‌ها و کیلینیک‌های مخصوص سلامت روان.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BC61B431-F1D8-DBCA-C6BC-1D5B3ED78CFF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582C7416-F809-6ED7-E05B-48C44555CDDA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E91D899A-2553-0003-E18F-802FB6B4E3D7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B516942A-6794-688D-0094-4EFC0754C3E1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E1721C72-710C-EE2B-1780-BC9C26D80876}"/>
              </a:ext>
            </a:extLst>
          </p:cNvPr>
          <p:cNvSpPr txBox="1">
            <a:spLocks/>
          </p:cNvSpPr>
          <p:nvPr/>
        </p:nvSpPr>
        <p:spPr>
          <a:xfrm>
            <a:off x="7571141" y="55695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2020</a:t>
            </a:r>
          </a:p>
        </p:txBody>
      </p:sp>
    </p:spTree>
    <p:extLst>
      <p:ext uri="{BB962C8B-B14F-4D97-AF65-F5344CB8AC3E}">
        <p14:creationId xmlns:p14="http://schemas.microsoft.com/office/powerpoint/2010/main" val="13943777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FFA50-213D-739F-9973-C9EEF6E61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5198A36-94C6-5216-8093-2F7E02174831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27F8B6A1-2BBE-66C2-940C-11C1276F1FA8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AB4CEFEC-56A7-ECD1-DA0F-3B94FBD5BAF7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AA0B442A-4B73-0D73-894E-094BFB8F8F72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F9B0BF-3713-060E-0DEC-69217EA9F0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864A304-F1FF-3BCE-76B7-68A83E06110B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D4E540AD-0243-379E-2297-FD0CD01D0320}"/>
              </a:ext>
            </a:extLst>
          </p:cNvPr>
          <p:cNvSpPr/>
          <p:nvPr/>
        </p:nvSpPr>
        <p:spPr>
          <a:xfrm>
            <a:off x="8166040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8FC957F2-A941-454A-3615-0513F7199691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استفاده از یادگیری مشارکتی در حداقل‌سازی حجم دیتابیس با حفظ عملکرد مدل‌ها.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C4F7B75-157C-AC3B-7489-856C719017F1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15202BDB-34BD-8CFB-33A7-52D64471785C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F29BF13D-A1CE-1EE5-92A2-3D8803019A88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261011FE-5DF6-FD17-60FC-925A42ADC6E5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B9849130-AB0F-F527-130B-4E23B4AA1A18}"/>
              </a:ext>
            </a:extLst>
          </p:cNvPr>
          <p:cNvSpPr txBox="1">
            <a:spLocks/>
          </p:cNvSpPr>
          <p:nvPr/>
        </p:nvSpPr>
        <p:spPr>
          <a:xfrm>
            <a:off x="7862086" y="55695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2021</a:t>
            </a:r>
          </a:p>
        </p:txBody>
      </p:sp>
    </p:spTree>
    <p:extLst>
      <p:ext uri="{BB962C8B-B14F-4D97-AF65-F5344CB8AC3E}">
        <p14:creationId xmlns:p14="http://schemas.microsoft.com/office/powerpoint/2010/main" val="26164539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37015-AC79-4A35-648A-FC3D8CAB2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FB582E2-CEDC-D91D-19BF-1E8C0109D9D5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9E818A85-7D5E-E46A-C7D6-0A553ED7E344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2DD2FD5E-B646-7DAD-C680-B6F831C037C7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64868BC2-63CC-A78D-2F6B-F0075BAAB0DD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43AC59-E82A-2B26-D38E-BD3A8B1165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0D5A5EC-DF97-4404-E39D-15504C44B210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6D863B7B-CCB6-FAA5-4284-8E0949217B33}"/>
              </a:ext>
            </a:extLst>
          </p:cNvPr>
          <p:cNvSpPr/>
          <p:nvPr/>
        </p:nvSpPr>
        <p:spPr>
          <a:xfrm>
            <a:off x="8623240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6E1FF657-E47C-6276-C419-06519EE072EF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ورود مدل‌های زبانی بزرگ در پژوهش‌های مربوط به سلامت روان و تشخیص خودکشی از روی متن.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6F446D5C-6795-AA53-98A1-B0F50429F439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D723D1C2-0A94-F5EF-54BB-03505C4E89F8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BA61EC78-FD7E-DE93-A0B9-D777099A9E48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8ED70B98-3355-A40D-D216-ABDD1D00AF2B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DEED0F72-4770-DEE6-537A-E325D6C7EB8B}"/>
              </a:ext>
            </a:extLst>
          </p:cNvPr>
          <p:cNvSpPr txBox="1">
            <a:spLocks/>
          </p:cNvSpPr>
          <p:nvPr/>
        </p:nvSpPr>
        <p:spPr>
          <a:xfrm>
            <a:off x="7571141" y="55695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2020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5612493F-C994-F42C-1A3D-625A5FD2E759}"/>
              </a:ext>
            </a:extLst>
          </p:cNvPr>
          <p:cNvSpPr txBox="1">
            <a:spLocks/>
          </p:cNvSpPr>
          <p:nvPr/>
        </p:nvSpPr>
        <p:spPr>
          <a:xfrm>
            <a:off x="8319286" y="55695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2024</a:t>
            </a:r>
          </a:p>
        </p:txBody>
      </p:sp>
    </p:spTree>
    <p:extLst>
      <p:ext uri="{BB962C8B-B14F-4D97-AF65-F5344CB8AC3E}">
        <p14:creationId xmlns:p14="http://schemas.microsoft.com/office/powerpoint/2010/main" val="38819623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42835-5FE5-4197-1233-A2047819C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2F6AFC4-DB1C-29A9-5803-043B43EBECBB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5F4C0AAA-F8BE-B394-280E-DE946AF20E8D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861B794D-3637-AA4A-301D-3DC2A3D8615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3FD410F6-0060-661F-194F-C3D1463A6975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9F3926-62F8-C6B1-78DD-9032FE3005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814F967-F1B4-91C7-6E1D-13A5656B25A0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94AD448E-57AD-0C71-3ADE-22D3E858F633}"/>
              </a:ext>
            </a:extLst>
          </p:cNvPr>
          <p:cNvSpPr/>
          <p:nvPr/>
        </p:nvSpPr>
        <p:spPr>
          <a:xfrm>
            <a:off x="9260549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150BD257-C661-B90D-2978-65C68806DD70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ظهور روش‌هایی نوین همانند </a:t>
            </a:r>
            <a:r>
              <a:rPr lang="en-US" sz="2000" dirty="0">
                <a:latin typeface="Vazir FD" pitchFamily="2" charset="-78"/>
                <a:cs typeface="Vazir FD" pitchFamily="2" charset="-78"/>
              </a:rPr>
              <a:t>Lexicon</a:t>
            </a:r>
            <a:r>
              <a:rPr lang="fa-IR" sz="2000" dirty="0">
                <a:latin typeface="Vazir FD" pitchFamily="2" charset="-78"/>
                <a:cs typeface="Vazir FD" pitchFamily="2" charset="-78"/>
              </a:rPr>
              <a:t> در بهینه‌سازی مدل‌های زبانی بزرگ برای تشخیص خودکشی از روی متن.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06B43EF0-F8CB-21E7-FFDA-E0F59909DC3C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3D93241E-19D2-E76F-485C-F3D0B69B8B22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BE4E2F-183F-EBAF-90C3-07E4E5DFC2D9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FD455C2D-33D5-1129-FF92-F7725576382B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A7FAE97F-FD7B-958D-49E0-492D5DBEE660}"/>
              </a:ext>
            </a:extLst>
          </p:cNvPr>
          <p:cNvSpPr txBox="1">
            <a:spLocks/>
          </p:cNvSpPr>
          <p:nvPr/>
        </p:nvSpPr>
        <p:spPr>
          <a:xfrm>
            <a:off x="7571141" y="55695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2020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6818EB1C-E5D4-36E7-94CE-B6A9D8B75521}"/>
              </a:ext>
            </a:extLst>
          </p:cNvPr>
          <p:cNvSpPr txBox="1">
            <a:spLocks/>
          </p:cNvSpPr>
          <p:nvPr/>
        </p:nvSpPr>
        <p:spPr>
          <a:xfrm>
            <a:off x="8319286" y="55695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2024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FA9C7340-2B53-1A0E-B7CA-72E68F66BBDB}"/>
              </a:ext>
            </a:extLst>
          </p:cNvPr>
          <p:cNvSpPr txBox="1">
            <a:spLocks/>
          </p:cNvSpPr>
          <p:nvPr/>
        </p:nvSpPr>
        <p:spPr>
          <a:xfrm>
            <a:off x="8990385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14391127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18FA7-1ACA-FD51-3E03-401EA1224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8693A6D-BC2D-C8B9-C3F3-6A6005BB581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C86DAF9B-19CB-65D1-25B3-A3F57ECF6E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فصل دوم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C40F1E5D-527C-0ACA-11EA-C5A3BEBC2DE7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FD7145C3-90D4-3659-9FCA-2798D0D5FE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891A26FC-7C2B-619D-DE0C-3854FC06B8EE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4" action="ppaction://hlinksldjump"/>
            <a:extLst>
              <a:ext uri="{FF2B5EF4-FFF2-40B4-BE49-F238E27FC236}">
                <a16:creationId xmlns:a16="http://schemas.microsoft.com/office/drawing/2014/main" id="{8A32C0E0-E403-9514-1CDD-6607ADD44043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4" action="ppaction://hlinksldjump"/>
            <a:extLst>
              <a:ext uri="{FF2B5EF4-FFF2-40B4-BE49-F238E27FC236}">
                <a16:creationId xmlns:a16="http://schemas.microsoft.com/office/drawing/2014/main" id="{71D35C43-F7DA-9C0A-94AD-08BFB5B1E8B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5" action="ppaction://hlinksldjump"/>
            <a:extLst>
              <a:ext uri="{FF2B5EF4-FFF2-40B4-BE49-F238E27FC236}">
                <a16:creationId xmlns:a16="http://schemas.microsoft.com/office/drawing/2014/main" id="{207D0209-9883-C32F-68EA-6FAB5E6D7799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6" action="ppaction://hlinksldjump"/>
            <a:extLst>
              <a:ext uri="{FF2B5EF4-FFF2-40B4-BE49-F238E27FC236}">
                <a16:creationId xmlns:a16="http://schemas.microsoft.com/office/drawing/2014/main" id="{7C51C8B0-AB57-47B0-F7BC-810DAB492107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57840443-18AB-FC2D-0D69-090CC3853C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70364" y="3764211"/>
            <a:ext cx="8603671" cy="1201095"/>
          </a:xfrm>
        </p:spPr>
        <p:txBody>
          <a:bodyPr>
            <a:normAutofit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بنیان‌های نظری پردازش زبان طبیعی در جستجوی افکار خودکشی</a:t>
            </a:r>
            <a:endParaRPr lang="fa-IR" dirty="0">
              <a:solidFill>
                <a:schemeClr val="bg1"/>
              </a:solidFill>
              <a:effectLst/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534B957F-DE6A-74E7-E97E-DEB8B5A78911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23BE17C6-AD97-883D-3328-4BE7E5A88301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78E93C75-2190-9AFA-A216-077D95D56B63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0F6332-E62E-748F-16E3-2995E9B6353A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1518627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99158"/>
            <a:ext cx="1154083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>
              <a:latin typeface="Vazir Light FD\"/>
            </a:endParaRP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13926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13926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5C49A4-8A4D-49BB-2544-99C39F051BC6}"/>
              </a:ext>
            </a:extLst>
          </p:cNvPr>
          <p:cNvSpPr txBox="1"/>
          <p:nvPr/>
        </p:nvSpPr>
        <p:spPr>
          <a:xfrm>
            <a:off x="542593" y="836085"/>
            <a:ext cx="1010532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a-IR" sz="2000" b="0" i="0" dirty="0">
                <a:solidFill>
                  <a:schemeClr val="tx1"/>
                </a:solidFill>
                <a:effectLst/>
                <a:latin typeface="+mn-lt"/>
              </a:rPr>
              <a:t>K. Nikhileswar, D. Vishal, L. Sphoorthi and S. Fathimabi</a:t>
            </a:r>
            <a:br>
              <a:rPr lang="fa-IR" sz="2000" dirty="0"/>
            </a:br>
            <a:r>
              <a:rPr lang="fa-IR" sz="2000" b="1" i="0" dirty="0">
                <a:solidFill>
                  <a:schemeClr val="tx1"/>
                </a:solidFill>
                <a:effectLst/>
                <a:latin typeface="+mn-lt"/>
              </a:rPr>
              <a:t>Suicide Ideation Detection in Social Media Forums 2021 </a:t>
            </a:r>
            <a:r>
              <a:rPr lang="en-US" sz="2000" b="1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US" sz="2000" dirty="0"/>
              <a:t>seco</a:t>
            </a:r>
            <a:r>
              <a:rPr lang="fa-IR" sz="2000" b="0" i="1" dirty="0">
                <a:solidFill>
                  <a:schemeClr val="tx1"/>
                </a:solidFill>
                <a:effectLst/>
                <a:latin typeface="+mn-lt"/>
              </a:rPr>
              <a:t>nd International Conference on Smart Electronics and Communication </a:t>
            </a:r>
            <a:endParaRPr lang="fa-IR" sz="2000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8242689B-EE70-A351-A8A1-7E36D67F7150}"/>
              </a:ext>
            </a:extLst>
          </p:cNvPr>
          <p:cNvGraphicFramePr>
            <a:graphicFrameLocks noGrp="1"/>
          </p:cNvGraphicFramePr>
          <p:nvPr/>
        </p:nvGraphicFramePr>
        <p:xfrm>
          <a:off x="542594" y="1947197"/>
          <a:ext cx="4708278" cy="236893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62606">
                  <a:extLst>
                    <a:ext uri="{9D8B030D-6E8A-4147-A177-3AD203B41FA5}">
                      <a16:colId xmlns:a16="http://schemas.microsoft.com/office/drawing/2014/main" val="3122007869"/>
                    </a:ext>
                  </a:extLst>
                </a:gridCol>
                <a:gridCol w="1745672">
                  <a:extLst>
                    <a:ext uri="{9D8B030D-6E8A-4147-A177-3AD203B41FA5}">
                      <a16:colId xmlns:a16="http://schemas.microsoft.com/office/drawing/2014/main" val="1629120992"/>
                    </a:ext>
                  </a:extLst>
                </a:gridCol>
              </a:tblGrid>
              <a:tr h="524897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br>
                        <a:rPr lang="fa-IR" sz="1600" dirty="0">
                          <a:effectLst/>
                        </a:rPr>
                      </a:b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fa-IR" sz="2000" dirty="0">
                          <a:effectLst/>
                        </a:rPr>
                        <a:t>Rows</a:t>
                      </a:r>
                      <a:endParaRPr lang="fa-IR" sz="4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6703200"/>
                  </a:ext>
                </a:extLst>
              </a:tr>
              <a:tr h="291995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loaded_rows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232074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3731619767"/>
                  </a:ext>
                </a:extLst>
              </a:tr>
              <a:tr h="524897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invalid_or_empty_text_rows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0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465562524"/>
                  </a:ext>
                </a:extLst>
              </a:tr>
              <a:tr h="291995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missing_label_rows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0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079891789"/>
                  </a:ext>
                </a:extLst>
              </a:tr>
              <a:tr h="291995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raw_duplicate_rows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93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765810553"/>
                  </a:ext>
                </a:extLst>
              </a:tr>
              <a:tr h="291995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remaining_rows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231981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008164357"/>
                  </a:ext>
                </a:extLst>
              </a:tr>
            </a:tbl>
          </a:graphicData>
        </a:graphic>
      </p:graphicFrame>
      <p:sp>
        <p:nvSpPr>
          <p:cNvPr id="15" name="Title 1">
            <a:extLst>
              <a:ext uri="{FF2B5EF4-FFF2-40B4-BE49-F238E27FC236}">
                <a16:creationId xmlns:a16="http://schemas.microsoft.com/office/drawing/2014/main" id="{C1655AD4-A531-1619-8060-D41175E655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65564" y="392231"/>
            <a:ext cx="10001289" cy="774676"/>
          </a:xfrm>
        </p:spPr>
        <p:txBody>
          <a:bodyPr>
            <a:noAutofit/>
          </a:bodyPr>
          <a:lstStyle/>
          <a:p>
            <a:pPr algn="r"/>
            <a:r>
              <a:rPr lang="fa-IR" sz="36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مجموعه داده</a:t>
            </a: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C9F1C201-380F-2953-B4EB-EAB0A36B1927}"/>
              </a:ext>
            </a:extLst>
          </p:cNvPr>
          <p:cNvGraphicFramePr>
            <a:graphicFrameLocks noGrp="1"/>
          </p:cNvGraphicFramePr>
          <p:nvPr/>
        </p:nvGraphicFramePr>
        <p:xfrm>
          <a:off x="542592" y="4507032"/>
          <a:ext cx="11024259" cy="1280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7283">
                  <a:extLst>
                    <a:ext uri="{9D8B030D-6E8A-4147-A177-3AD203B41FA5}">
                      <a16:colId xmlns:a16="http://schemas.microsoft.com/office/drawing/2014/main" val="2425967841"/>
                    </a:ext>
                  </a:extLst>
                </a:gridCol>
                <a:gridCol w="1722392">
                  <a:extLst>
                    <a:ext uri="{9D8B030D-6E8A-4147-A177-3AD203B41FA5}">
                      <a16:colId xmlns:a16="http://schemas.microsoft.com/office/drawing/2014/main" val="398677569"/>
                    </a:ext>
                  </a:extLst>
                </a:gridCol>
                <a:gridCol w="2421582">
                  <a:extLst>
                    <a:ext uri="{9D8B030D-6E8A-4147-A177-3AD203B41FA5}">
                      <a16:colId xmlns:a16="http://schemas.microsoft.com/office/drawing/2014/main" val="514636108"/>
                    </a:ext>
                  </a:extLst>
                </a:gridCol>
                <a:gridCol w="3001397">
                  <a:extLst>
                    <a:ext uri="{9D8B030D-6E8A-4147-A177-3AD203B41FA5}">
                      <a16:colId xmlns:a16="http://schemas.microsoft.com/office/drawing/2014/main" val="3385795756"/>
                    </a:ext>
                  </a:extLst>
                </a:gridCol>
                <a:gridCol w="2261605">
                  <a:extLst>
                    <a:ext uri="{9D8B030D-6E8A-4147-A177-3AD203B41FA5}">
                      <a16:colId xmlns:a16="http://schemas.microsoft.com/office/drawing/2014/main" val="2235355103"/>
                    </a:ext>
                  </a:extLst>
                </a:gridCol>
              </a:tblGrid>
              <a:tr h="213360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split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before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empty_after_cleaning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duplicates_of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after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860538881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train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148467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20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b="0" i="0" dirty="0">
                          <a:solidFill>
                            <a:srgbClr val="3C4043"/>
                          </a:solidFill>
                          <a:effectLst/>
                          <a:latin typeface="inherit"/>
                        </a:rPr>
                        <a:t>62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148385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072804489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validation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37117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1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b="0" i="0" dirty="0">
                          <a:solidFill>
                            <a:srgbClr val="3C4043"/>
                          </a:solidFill>
                          <a:effectLst/>
                          <a:latin typeface="inherit"/>
                        </a:rPr>
                        <a:t>30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37086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1018354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test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46397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5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b="0" i="0" dirty="0">
                          <a:solidFill>
                            <a:srgbClr val="3C4043"/>
                          </a:solidFill>
                          <a:effectLst/>
                          <a:latin typeface="inherit"/>
                        </a:rPr>
                        <a:t>50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46342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195224050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80AEEB22-E0B4-8ABB-86FE-CA6C323D6761}"/>
              </a:ext>
            </a:extLst>
          </p:cNvPr>
          <p:cNvGraphicFramePr>
            <a:graphicFrameLocks noGrp="1"/>
          </p:cNvGraphicFramePr>
          <p:nvPr/>
        </p:nvGraphicFramePr>
        <p:xfrm>
          <a:off x="5423104" y="1954124"/>
          <a:ext cx="6143748" cy="236201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53551">
                  <a:extLst>
                    <a:ext uri="{9D8B030D-6E8A-4147-A177-3AD203B41FA5}">
                      <a16:colId xmlns:a16="http://schemas.microsoft.com/office/drawing/2014/main" val="3128215241"/>
                    </a:ext>
                  </a:extLst>
                </a:gridCol>
                <a:gridCol w="1318323">
                  <a:extLst>
                    <a:ext uri="{9D8B030D-6E8A-4147-A177-3AD203B41FA5}">
                      <a16:colId xmlns:a16="http://schemas.microsoft.com/office/drawing/2014/main" val="3413357795"/>
                    </a:ext>
                  </a:extLst>
                </a:gridCol>
                <a:gridCol w="1535937">
                  <a:extLst>
                    <a:ext uri="{9D8B030D-6E8A-4147-A177-3AD203B41FA5}">
                      <a16:colId xmlns:a16="http://schemas.microsoft.com/office/drawing/2014/main" val="1855344140"/>
                    </a:ext>
                  </a:extLst>
                </a:gridCol>
                <a:gridCol w="1535937">
                  <a:extLst>
                    <a:ext uri="{9D8B030D-6E8A-4147-A177-3AD203B41FA5}">
                      <a16:colId xmlns:a16="http://schemas.microsoft.com/office/drawing/2014/main" val="1705517707"/>
                    </a:ext>
                  </a:extLst>
                </a:gridCol>
              </a:tblGrid>
              <a:tr h="787337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1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a-IR" sz="1800" dirty="0">
                          <a:effectLst/>
                        </a:rPr>
                        <a:t>label</a:t>
                      </a:r>
                      <a:endParaRPr lang="fa-IR" sz="18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>
                          <a:effectLst/>
                        </a:rPr>
                        <a:t>train</a:t>
                      </a:r>
                      <a:endParaRPr lang="fa-IR" sz="18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>
                          <a:effectLst/>
                        </a:rPr>
                        <a:t>validation</a:t>
                      </a:r>
                      <a:endParaRPr lang="fa-IR" sz="18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>
                          <a:effectLst/>
                        </a:rPr>
                        <a:t>test</a:t>
                      </a:r>
                      <a:endParaRPr lang="fa-IR" sz="18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835416105"/>
                  </a:ext>
                </a:extLst>
              </a:tr>
              <a:tr h="787337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>
                          <a:effectLst/>
                        </a:rPr>
                        <a:t>non-suicide (0)</a:t>
                      </a:r>
                      <a:endParaRPr lang="fa-IR" sz="18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>
                          <a:effectLst/>
                        </a:rPr>
                        <a:t>74133</a:t>
                      </a:r>
                      <a:endParaRPr lang="fa-IR" sz="18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 dirty="0">
                          <a:effectLst/>
                        </a:rPr>
                        <a:t>18525</a:t>
                      </a:r>
                      <a:endParaRPr lang="fa-IR" sz="18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 dirty="0">
                          <a:effectLst/>
                        </a:rPr>
                        <a:t>23145</a:t>
                      </a:r>
                      <a:endParaRPr lang="fa-IR" sz="18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842343644"/>
                  </a:ext>
                </a:extLst>
              </a:tr>
              <a:tr h="787337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>
                          <a:effectLst/>
                        </a:rPr>
                        <a:t>suicide (1)</a:t>
                      </a:r>
                      <a:endParaRPr lang="fa-IR" sz="18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>
                          <a:effectLst/>
                        </a:rPr>
                        <a:t>74247</a:t>
                      </a:r>
                      <a:endParaRPr lang="fa-IR" sz="18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>
                          <a:effectLst/>
                        </a:rPr>
                        <a:t>18561</a:t>
                      </a:r>
                      <a:endParaRPr lang="fa-IR" sz="18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 dirty="0">
                          <a:effectLst/>
                        </a:rPr>
                        <a:t>23197</a:t>
                      </a:r>
                      <a:endParaRPr lang="fa-IR" sz="18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5839867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80278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C9B54-8FBD-4E22-C506-BB10D66D5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93AEA27-A65B-20C8-312A-45B1C3B9A1CD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8F357CBC-B9E6-84C7-9A0B-46D098C446C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60386B2D-D89A-4312-49C9-8B06CCECA1AD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4DDA7C95-8967-5E16-EF6E-F5D46FD042AD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682273E-67B8-2A58-4DF9-8B9D3DDF3A1E}"/>
              </a:ext>
            </a:extLst>
          </p:cNvPr>
          <p:cNvSpPr/>
          <p:nvPr/>
        </p:nvSpPr>
        <p:spPr>
          <a:xfrm rot="16200000">
            <a:off x="-1552982" y="2843146"/>
            <a:ext cx="5818911" cy="1157851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مجوعه داده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97440DC-075E-EB2F-5F96-F2B0F1F8E78A}"/>
              </a:ext>
            </a:extLst>
          </p:cNvPr>
          <p:cNvSpPr/>
          <p:nvPr/>
        </p:nvSpPr>
        <p:spPr>
          <a:xfrm rot="16200000">
            <a:off x="-292221" y="2843144"/>
            <a:ext cx="5818911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پاک‌سازی مجوعه داده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DF4EC44-B99F-3B10-4286-600312CB1109}"/>
              </a:ext>
            </a:extLst>
          </p:cNvPr>
          <p:cNvSpPr/>
          <p:nvPr/>
        </p:nvSpPr>
        <p:spPr>
          <a:xfrm rot="16200000">
            <a:off x="989056" y="2850074"/>
            <a:ext cx="5818911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توکن‌سازی مجوعه داده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5D9F25A-E052-6838-0656-110ADF467FF4}"/>
              </a:ext>
            </a:extLst>
          </p:cNvPr>
          <p:cNvSpPr/>
          <p:nvPr/>
        </p:nvSpPr>
        <p:spPr>
          <a:xfrm rot="16200000">
            <a:off x="2270331" y="2850074"/>
            <a:ext cx="5818911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بردار‌سازی مجوعه داده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8968238-DFFA-436C-2C7F-23A69AE95043}"/>
              </a:ext>
            </a:extLst>
          </p:cNvPr>
          <p:cNvSpPr/>
          <p:nvPr/>
        </p:nvSpPr>
        <p:spPr>
          <a:xfrm rot="16200000">
            <a:off x="3546159" y="2850074"/>
            <a:ext cx="5818911" cy="115785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تقسیم مجوعه داده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034424F0-451E-63AC-E031-F4A186735234}"/>
              </a:ext>
            </a:extLst>
          </p:cNvPr>
          <p:cNvSpPr/>
          <p:nvPr/>
        </p:nvSpPr>
        <p:spPr>
          <a:xfrm rot="16200000">
            <a:off x="6189290" y="2850073"/>
            <a:ext cx="5818911" cy="1157853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آموزش مدل روی مجوعه داده آموزشی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83F0452-7DA8-E9D7-951C-CAD5EAEF1D6C}"/>
              </a:ext>
            </a:extLst>
          </p:cNvPr>
          <p:cNvSpPr/>
          <p:nvPr/>
        </p:nvSpPr>
        <p:spPr>
          <a:xfrm rot="16200000">
            <a:off x="7499545" y="2850073"/>
            <a:ext cx="5818911" cy="1157852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ازیابی مدل روی مجوعه داده تست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C253F56-985F-2D30-7F97-7C17D10FC09F}"/>
              </a:ext>
            </a:extLst>
          </p:cNvPr>
          <p:cNvSpPr/>
          <p:nvPr/>
        </p:nvSpPr>
        <p:spPr>
          <a:xfrm rot="16200000">
            <a:off x="5795060" y="3788720"/>
            <a:ext cx="3941618" cy="1157851"/>
          </a:xfrm>
          <a:prstGeom prst="roundRect">
            <a:avLst/>
          </a:prstGeom>
          <a:solidFill>
            <a:srgbClr val="388600"/>
          </a:solidFill>
          <a:ln>
            <a:solidFill>
              <a:srgbClr val="388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آموزشی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769C34C3-EC76-BEB2-C33F-4EA5BD709656}"/>
              </a:ext>
            </a:extLst>
          </p:cNvPr>
          <p:cNvSpPr/>
          <p:nvPr/>
        </p:nvSpPr>
        <p:spPr>
          <a:xfrm rot="16200000">
            <a:off x="6882639" y="823846"/>
            <a:ext cx="1766457" cy="1157851"/>
          </a:xfrm>
          <a:prstGeom prst="round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1400" dirty="0">
                <a:solidFill>
                  <a:sysClr val="windowText" lastClr="000000"/>
                </a:solidFill>
                <a:latin typeface="Vazir FD" pitchFamily="2" charset="-78"/>
                <a:cs typeface="Vazir FD" pitchFamily="2" charset="-78"/>
              </a:rPr>
              <a:t>مجموعه داده ارزیابی</a:t>
            </a:r>
          </a:p>
        </p:txBody>
      </p:sp>
    </p:spTree>
    <p:extLst>
      <p:ext uri="{BB962C8B-B14F-4D97-AF65-F5344CB8AC3E}">
        <p14:creationId xmlns:p14="http://schemas.microsoft.com/office/powerpoint/2010/main" val="4152025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7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1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45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4" grpId="0" animBg="1"/>
      <p:bldP spid="16" grpId="0" animBg="1"/>
      <p:bldP spid="18" grpId="0" animBg="1"/>
      <p:bldP spid="20" grpId="0" animBg="1"/>
      <p:bldP spid="24" grpId="0" animBg="1"/>
      <p:bldP spid="26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DDC7A-1E81-00EA-4D3A-C4FA74714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C915501-2223-EB7A-02AD-FA4BF092ED93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7202FD04-3230-3AC1-D1E2-A70A5733D937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3DB6F408-BFF3-3A1E-7550-F64C7553C0C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65F85FAD-5301-5B15-029D-B8EA920D17D5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B875CA-1531-480E-54E1-9864F90233F7}"/>
              </a:ext>
            </a:extLst>
          </p:cNvPr>
          <p:cNvSpPr/>
          <p:nvPr/>
        </p:nvSpPr>
        <p:spPr>
          <a:xfrm rot="16200000">
            <a:off x="-1552982" y="2843146"/>
            <a:ext cx="5818911" cy="1157851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مجوعه داده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4AA6D5E-4C24-1A3D-E510-E5AA68FDD85D}"/>
              </a:ext>
            </a:extLst>
          </p:cNvPr>
          <p:cNvSpPr/>
          <p:nvPr/>
        </p:nvSpPr>
        <p:spPr>
          <a:xfrm rot="16200000">
            <a:off x="3251666" y="3785254"/>
            <a:ext cx="3948545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پاک‌سازی مجوعه آموزشی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AC54358-4E81-2962-74E2-9404310D91C6}"/>
              </a:ext>
            </a:extLst>
          </p:cNvPr>
          <p:cNvSpPr/>
          <p:nvPr/>
        </p:nvSpPr>
        <p:spPr>
          <a:xfrm rot="16200000">
            <a:off x="4529478" y="3788718"/>
            <a:ext cx="3955477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توکن‌سازی مجوعه آموزشی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A8530B4-DD3C-DE53-4C08-2E9148D9993B}"/>
              </a:ext>
            </a:extLst>
          </p:cNvPr>
          <p:cNvSpPr/>
          <p:nvPr/>
        </p:nvSpPr>
        <p:spPr>
          <a:xfrm rot="16200000">
            <a:off x="5810751" y="3788718"/>
            <a:ext cx="3955479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بردار‌سازی مجوعه آموزشی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165FC2A-E502-027D-B870-FE7DA270AF45}"/>
              </a:ext>
            </a:extLst>
          </p:cNvPr>
          <p:cNvSpPr/>
          <p:nvPr/>
        </p:nvSpPr>
        <p:spPr>
          <a:xfrm rot="16200000">
            <a:off x="-300685" y="2843146"/>
            <a:ext cx="5818911" cy="115785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تقسیم مجوعه داده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8FD9CE9-D41C-772F-4AAF-87B889B33F1D}"/>
              </a:ext>
            </a:extLst>
          </p:cNvPr>
          <p:cNvSpPr/>
          <p:nvPr/>
        </p:nvSpPr>
        <p:spPr>
          <a:xfrm rot="16200000">
            <a:off x="6189290" y="2850073"/>
            <a:ext cx="5818911" cy="1157853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آموزش مدل روی مجوعه داده آموزشی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D3652DA-FCDA-65F2-41E2-8E383787C1AB}"/>
              </a:ext>
            </a:extLst>
          </p:cNvPr>
          <p:cNvSpPr/>
          <p:nvPr/>
        </p:nvSpPr>
        <p:spPr>
          <a:xfrm rot="16200000">
            <a:off x="7499545" y="2850073"/>
            <a:ext cx="5818911" cy="1157852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ازیابی مدل روی مجوعه داده تست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7950F3AA-5352-34CE-382B-A10B65C1A7FE}"/>
              </a:ext>
            </a:extLst>
          </p:cNvPr>
          <p:cNvSpPr/>
          <p:nvPr/>
        </p:nvSpPr>
        <p:spPr>
          <a:xfrm rot="16200000">
            <a:off x="1948216" y="3781792"/>
            <a:ext cx="3941618" cy="1157851"/>
          </a:xfrm>
          <a:prstGeom prst="roundRect">
            <a:avLst/>
          </a:prstGeom>
          <a:solidFill>
            <a:srgbClr val="388600"/>
          </a:solidFill>
          <a:ln>
            <a:solidFill>
              <a:srgbClr val="388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آموزشی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EED89D7-5C20-7862-A288-0181B4F0ED13}"/>
              </a:ext>
            </a:extLst>
          </p:cNvPr>
          <p:cNvSpPr/>
          <p:nvPr/>
        </p:nvSpPr>
        <p:spPr>
          <a:xfrm rot="16200000">
            <a:off x="3035795" y="816918"/>
            <a:ext cx="1766457" cy="1157851"/>
          </a:xfrm>
          <a:prstGeom prst="round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1400" dirty="0">
                <a:solidFill>
                  <a:sysClr val="windowText" lastClr="000000"/>
                </a:solidFill>
                <a:latin typeface="Vazir FD" pitchFamily="2" charset="-78"/>
                <a:cs typeface="Vazir FD" pitchFamily="2" charset="-78"/>
              </a:rPr>
              <a:t>مجموعه داده ارزیابی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1E92303-2F56-C1B9-A233-E7BB15247955}"/>
              </a:ext>
            </a:extLst>
          </p:cNvPr>
          <p:cNvSpPr/>
          <p:nvPr/>
        </p:nvSpPr>
        <p:spPr>
          <a:xfrm rot="16200000">
            <a:off x="4373238" y="811531"/>
            <a:ext cx="1763359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پاک‌سازی مجوعه آموزشی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ECBD1F4-8792-57FA-0C98-817DAC335BEF}"/>
              </a:ext>
            </a:extLst>
          </p:cNvPr>
          <p:cNvSpPr/>
          <p:nvPr/>
        </p:nvSpPr>
        <p:spPr>
          <a:xfrm rot="16200000">
            <a:off x="5652967" y="816913"/>
            <a:ext cx="1766456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توکن‌سازی مجوعه آموزشی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7C940C6-D8D5-D4BD-A407-44E84462BA1E}"/>
              </a:ext>
            </a:extLst>
          </p:cNvPr>
          <p:cNvSpPr/>
          <p:nvPr/>
        </p:nvSpPr>
        <p:spPr>
          <a:xfrm rot="16200000">
            <a:off x="6934240" y="816914"/>
            <a:ext cx="1766456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بردار‌سازی مجوعه آموزشی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9051EE0-3ADB-ABD6-1D5B-A3684D1F24D7}"/>
              </a:ext>
            </a:extLst>
          </p:cNvPr>
          <p:cNvCxnSpPr/>
          <p:nvPr/>
        </p:nvCxnSpPr>
        <p:spPr>
          <a:xfrm>
            <a:off x="3187697" y="2285989"/>
            <a:ext cx="5332122" cy="0"/>
          </a:xfrm>
          <a:prstGeom prst="line">
            <a:avLst/>
          </a:prstGeom>
          <a:ln w="69850">
            <a:solidFill>
              <a:schemeClr val="accent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9145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8F218-832D-4042-240A-7DC9F4FE9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7117BC-6B61-3E18-3119-585EE025F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ED0F0F8-92DD-2890-7F32-0D22EE32FD16}"/>
              </a:ext>
            </a:extLst>
          </p:cNvPr>
          <p:cNvSpPr/>
          <p:nvPr/>
        </p:nvSpPr>
        <p:spPr>
          <a:xfrm>
            <a:off x="304800" y="399158"/>
            <a:ext cx="1154083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1EA74059-6F3E-B394-48FF-44627396A7A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93391580"/>
              </p:ext>
            </p:extLst>
          </p:nvPr>
        </p:nvGraphicFramePr>
        <p:xfrm>
          <a:off x="838200" y="721270"/>
          <a:ext cx="10515603" cy="270433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02229">
                  <a:extLst>
                    <a:ext uri="{9D8B030D-6E8A-4147-A177-3AD203B41FA5}">
                      <a16:colId xmlns:a16="http://schemas.microsoft.com/office/drawing/2014/main" val="2358241546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809668621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24099734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94004628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90307419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185167546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121263743"/>
                    </a:ext>
                  </a:extLst>
                </a:gridCol>
              </a:tblGrid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الگوریتم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Accuracy (%)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Precision (%)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Recall (%)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F1-score (%)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Recall </a:t>
                      </a:r>
                      <a:r>
                        <a:rPr lang="fa-IR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کلاس خودکشی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F1 </a:t>
                      </a:r>
                      <a:r>
                        <a:rPr lang="fa-IR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کلاس خودکشی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679294361"/>
                  </a:ext>
                </a:extLst>
              </a:tr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XGBoost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93.63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93.63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93.63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93.63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0.94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0.94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098819451"/>
                  </a:ext>
                </a:extLst>
              </a:tr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Random Forest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92.31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92.32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92.31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92.31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0.91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0.92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462301934"/>
                  </a:ext>
                </a:extLst>
              </a:tr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Decision Tree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87.15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87.15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87.15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87.15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0.87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0.87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268773350"/>
                  </a:ext>
                </a:extLst>
              </a:tr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Naive Bayes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82.64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83.55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82.64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82.53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0.91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0.84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642453972"/>
                  </a:ext>
                </a:extLst>
              </a:tr>
            </a:tbl>
          </a:graphicData>
        </a:graphic>
      </p:graphicFrame>
      <p:graphicFrame>
        <p:nvGraphicFramePr>
          <p:cNvPr id="8" name="Content Placeholder 3">
            <a:extLst>
              <a:ext uri="{FF2B5EF4-FFF2-40B4-BE49-F238E27FC236}">
                <a16:creationId xmlns:a16="http://schemas.microsoft.com/office/drawing/2014/main" id="{1F9DA086-7152-F0DD-778A-A4C1D6A97CC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7626498"/>
              </p:ext>
            </p:extLst>
          </p:nvPr>
        </p:nvGraphicFramePr>
        <p:xfrm>
          <a:off x="838200" y="3655129"/>
          <a:ext cx="10515603" cy="2704338"/>
        </p:xfrm>
        <a:graphic>
          <a:graphicData uri="http://schemas.openxmlformats.org/drawingml/2006/table">
            <a:tbl>
              <a:tblPr firstRow="1" firstCol="1" bandRow="1">
                <a:tableStyleId>{F5AB1C69-6EDB-4FF4-983F-18BD219EF322}</a:tableStyleId>
              </a:tblPr>
              <a:tblGrid>
                <a:gridCol w="1502229">
                  <a:extLst>
                    <a:ext uri="{9D8B030D-6E8A-4147-A177-3AD203B41FA5}">
                      <a16:colId xmlns:a16="http://schemas.microsoft.com/office/drawing/2014/main" val="2358241546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809668621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24099734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94004628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90307419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185167546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121263743"/>
                    </a:ext>
                  </a:extLst>
                </a:gridCol>
              </a:tblGrid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الگوریتم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Accuracy (%)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Precision (%)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Recall (%)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F1-score (%)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Recall </a:t>
                      </a:r>
                      <a:r>
                        <a:rPr lang="fa-IR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کلاس خودکشی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F1 </a:t>
                      </a:r>
                      <a:r>
                        <a:rPr lang="fa-IR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کلاس خودکشی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679294361"/>
                  </a:ext>
                </a:extLst>
              </a:tr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 dirty="0" err="1">
                          <a:effectLst/>
                          <a:latin typeface="Vazir FD" pitchFamily="2" charset="-78"/>
                          <a:cs typeface="Vazir FD" pitchFamily="2" charset="-78"/>
                        </a:rPr>
                        <a:t>XGBoost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92.82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92.83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1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92.82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1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92.82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0.93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0.93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098819451"/>
                  </a:ext>
                </a:extLst>
              </a:tr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Random Forest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91.39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91.46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91.39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91.38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0.93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0.92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462301934"/>
                  </a:ext>
                </a:extLst>
              </a:tr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Decision Tree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87.82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87.83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87.82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87.82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0.89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0.88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268773350"/>
                  </a:ext>
                </a:extLst>
              </a:tr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Naive Bayes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86.66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86.69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86.66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86.66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0.85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0.86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6424539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1886305"/>
      </p:ext>
    </p:extLst>
  </p:cSld>
  <p:clrMapOvr>
    <a:masterClrMapping/>
  </p:clrMapOvr>
  <p:transition spd="slow">
    <p:cover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6545F9-0B35-A8B8-244D-DA870AE82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7745D8B4-1660-CBB0-91CC-F95A29A6AD5C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A5CF6150-700B-F50B-4275-E77D962DAC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2328" y="2381804"/>
            <a:ext cx="10001289" cy="774676"/>
          </a:xfrm>
        </p:spPr>
        <p:txBody>
          <a:bodyPr>
            <a:noAutofit/>
          </a:bodyPr>
          <a:lstStyle/>
          <a:p>
            <a:pPr algn="r"/>
            <a:r>
              <a:rPr lang="fa-IR" sz="36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راه حل؟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66488D64-5D41-4E05-5D6C-5A5E202D5A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8858" y="612725"/>
            <a:ext cx="10731374" cy="4527312"/>
          </a:xfrm>
        </p:spPr>
        <p:txBody>
          <a:bodyPr>
            <a:normAutofit/>
          </a:bodyPr>
          <a:lstStyle/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دسترسی به داده‌ها تجمیع شده بسیار دشوار است.</a:t>
            </a: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effectLst/>
                <a:latin typeface="Vazir FD" pitchFamily="2" charset="-78"/>
                <a:cs typeface="Vazir FD" pitchFamily="2" charset="-78"/>
              </a:rPr>
              <a:t>تجمیع داده‌های حساس در یک سرور مخاطرات زیادی دارد.</a:t>
            </a: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effectLst/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03EF323D-2E0F-E2C7-92CB-41A0BE6BC785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701B0FBC-A618-4098-0DDF-5C178E244BA1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8477216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50"/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39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1526982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2" name="Arrow: Chevron 11">
            <a:hlinkClick r:id="rId2" action="ppaction://hlinksldjump"/>
            <a:extLst>
              <a:ext uri="{FF2B5EF4-FFF2-40B4-BE49-F238E27FC236}">
                <a16:creationId xmlns:a16="http://schemas.microsoft.com/office/drawing/2014/main" id="{7483CB28-0A21-D4F9-E0C3-ADED8875FE8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3" name="Arrow: Chevron 12">
            <a:hlinkClick r:id="rId2" action="ppaction://hlinksldjump"/>
            <a:extLst>
              <a:ext uri="{FF2B5EF4-FFF2-40B4-BE49-F238E27FC236}">
                <a16:creationId xmlns:a16="http://schemas.microsoft.com/office/drawing/2014/main" id="{EFDC4F8A-F85F-95BC-9386-B89D80BB72F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8F091B5-09F6-5A06-D270-799B65CBD990}"/>
              </a:ext>
            </a:extLst>
          </p:cNvPr>
          <p:cNvSpPr/>
          <p:nvPr/>
        </p:nvSpPr>
        <p:spPr>
          <a:xfrm rot="16200000">
            <a:off x="9056889" y="1781951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کلاینت2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5B4D912-DC32-DB0A-66DD-97DE1F81B9A5}"/>
              </a:ext>
            </a:extLst>
          </p:cNvPr>
          <p:cNvSpPr/>
          <p:nvPr/>
        </p:nvSpPr>
        <p:spPr>
          <a:xfrm rot="16200000">
            <a:off x="9096218" y="3907901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FD" pitchFamily="2" charset="-78"/>
                <a:cs typeface="Vazir FD" pitchFamily="2" charset="-78"/>
              </a:rPr>
              <a:t>کلاینت</a:t>
            </a:r>
            <a:r>
              <a:rPr lang="en-US" dirty="0">
                <a:latin typeface="Vazir FD" pitchFamily="2" charset="-78"/>
                <a:cs typeface="Vazir FD" pitchFamily="2" charset="-78"/>
              </a:rPr>
              <a:t>n 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DEDA746-D701-4B3A-B719-12D43E3A8414}"/>
              </a:ext>
            </a:extLst>
          </p:cNvPr>
          <p:cNvSpPr/>
          <p:nvPr/>
        </p:nvSpPr>
        <p:spPr>
          <a:xfrm rot="16200000">
            <a:off x="9059030" y="81942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کلاینت 1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894A42-2389-3F5A-2C9F-C09FEC0E572F}"/>
              </a:ext>
            </a:extLst>
          </p:cNvPr>
          <p:cNvSpPr/>
          <p:nvPr/>
        </p:nvSpPr>
        <p:spPr>
          <a:xfrm>
            <a:off x="1051042" y="2792200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سرور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E27E68E-41ED-F473-5D74-7F8C685F24C8}"/>
              </a:ext>
            </a:extLst>
          </p:cNvPr>
          <p:cNvSpPr/>
          <p:nvPr/>
        </p:nvSpPr>
        <p:spPr>
          <a:xfrm>
            <a:off x="8829514" y="820378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مدل یادگیری ماشین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BBDFE47-D995-0A6B-038D-E13F870DCD90}"/>
              </a:ext>
            </a:extLst>
          </p:cNvPr>
          <p:cNvSpPr/>
          <p:nvPr/>
        </p:nvSpPr>
        <p:spPr>
          <a:xfrm>
            <a:off x="8829514" y="1579641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محلی1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3667BB3-D21D-687A-966C-8607A778BA78}"/>
              </a:ext>
            </a:extLst>
          </p:cNvPr>
          <p:cNvSpPr/>
          <p:nvPr/>
        </p:nvSpPr>
        <p:spPr>
          <a:xfrm>
            <a:off x="8786865" y="2530188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مدل یادگیری ماشین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716AA66-642A-63D8-4E11-9E11AFFB4EC3}"/>
              </a:ext>
            </a:extLst>
          </p:cNvPr>
          <p:cNvSpPr/>
          <p:nvPr/>
        </p:nvSpPr>
        <p:spPr>
          <a:xfrm>
            <a:off x="8786865" y="328039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محلی2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E139390-5420-1E1D-120A-48A819D04DCC}"/>
              </a:ext>
            </a:extLst>
          </p:cNvPr>
          <p:cNvSpPr/>
          <p:nvPr/>
        </p:nvSpPr>
        <p:spPr>
          <a:xfrm>
            <a:off x="8895510" y="463006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مدل یادگیری ماشین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CDF6BEB5-E98D-8E0A-CC9A-F9EEE5761CC6}"/>
              </a:ext>
            </a:extLst>
          </p:cNvPr>
          <p:cNvSpPr/>
          <p:nvPr/>
        </p:nvSpPr>
        <p:spPr>
          <a:xfrm>
            <a:off x="8895510" y="5400824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محلی</a:t>
            </a:r>
            <a:r>
              <a:rPr lang="en-US" dirty="0">
                <a:latin typeface="Vazir FD" pitchFamily="2" charset="-78"/>
                <a:cs typeface="Vazir FD" pitchFamily="2" charset="-78"/>
              </a:rPr>
              <a:t>n </a:t>
            </a:r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D7A332D8-AE38-3F0E-AA08-150FF723078A}"/>
              </a:ext>
            </a:extLst>
          </p:cNvPr>
          <p:cNvCxnSpPr>
            <a:cxnSpLocks/>
            <a:stCxn id="14" idx="0"/>
            <a:endCxn id="28" idx="1"/>
          </p:cNvCxnSpPr>
          <p:nvPr/>
        </p:nvCxnSpPr>
        <p:spPr>
          <a:xfrm rot="5400000" flipH="1" flipV="1">
            <a:off x="1098403" y="1925161"/>
            <a:ext cx="1276878" cy="4572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1D261327-D27B-7D21-CAC9-7AD6E40108DE}"/>
              </a:ext>
            </a:extLst>
          </p:cNvPr>
          <p:cNvCxnSpPr>
            <a:cxnSpLocks/>
            <a:stCxn id="14" idx="2"/>
            <a:endCxn id="64" idx="1"/>
          </p:cNvCxnSpPr>
          <p:nvPr/>
        </p:nvCxnSpPr>
        <p:spPr>
          <a:xfrm rot="16200000" flipH="1">
            <a:off x="1616606" y="3598236"/>
            <a:ext cx="1668750" cy="1885478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D6650BF5-1B11-B553-6398-3EC62B9CC7F7}"/>
              </a:ext>
            </a:extLst>
          </p:cNvPr>
          <p:cNvSpPr/>
          <p:nvPr/>
        </p:nvSpPr>
        <p:spPr>
          <a:xfrm>
            <a:off x="1965442" y="1259378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dirty="0">
                <a:solidFill>
                  <a:sysClr val="windowText" lastClr="000000"/>
                </a:solidFill>
                <a:latin typeface="Vazir FD" pitchFamily="2" charset="-78"/>
                <a:cs typeface="Vazir FD" pitchFamily="2" charset="-78"/>
              </a:rPr>
              <a:t>متن ورودی</a:t>
            </a:r>
            <a:endParaRPr lang="en-US" sz="1600" dirty="0">
              <a:solidFill>
                <a:sysClr val="windowText" lastClr="000000"/>
              </a:solidFill>
              <a:latin typeface="Vazir FD" pitchFamily="2" charset="-78"/>
              <a:cs typeface="Vazir FD" pitchFamily="2" charset="-7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5D197E4-B01A-B831-582D-A4B9B489C5BA}"/>
              </a:ext>
            </a:extLst>
          </p:cNvPr>
          <p:cNvCxnSpPr>
            <a:cxnSpLocks/>
            <a:stCxn id="28" idx="3"/>
            <a:endCxn id="11" idx="0"/>
          </p:cNvCxnSpPr>
          <p:nvPr/>
        </p:nvCxnSpPr>
        <p:spPr>
          <a:xfrm>
            <a:off x="3393721" y="1515322"/>
            <a:ext cx="4998011" cy="3406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30AC4BD3-6EED-00B5-C7E9-75431C1ACD67}"/>
              </a:ext>
            </a:extLst>
          </p:cNvPr>
          <p:cNvSpPr/>
          <p:nvPr/>
        </p:nvSpPr>
        <p:spPr>
          <a:xfrm>
            <a:off x="2679581" y="2993456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dirty="0">
                <a:solidFill>
                  <a:sysClr val="windowText" lastClr="000000"/>
                </a:solidFill>
                <a:latin typeface="Vazir FD" pitchFamily="2" charset="-78"/>
                <a:cs typeface="Vazir FD" pitchFamily="2" charset="-78"/>
              </a:rPr>
              <a:t>متن ورودی</a:t>
            </a:r>
            <a:endParaRPr lang="en-US" sz="1600" dirty="0">
              <a:solidFill>
                <a:sysClr val="windowText" lastClr="000000"/>
              </a:solidFill>
              <a:latin typeface="Vazir FD" pitchFamily="2" charset="-78"/>
              <a:cs typeface="Vazir FD" pitchFamily="2" charset="-78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F4C09D2-1B7F-9058-4F59-E89979922A68}"/>
              </a:ext>
            </a:extLst>
          </p:cNvPr>
          <p:cNvCxnSpPr>
            <a:cxnSpLocks/>
            <a:stCxn id="40" idx="3"/>
            <a:endCxn id="8" idx="0"/>
          </p:cNvCxnSpPr>
          <p:nvPr/>
        </p:nvCxnSpPr>
        <p:spPr>
          <a:xfrm>
            <a:off x="4107860" y="3249400"/>
            <a:ext cx="4281731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C2048BF-2BEE-4F33-D1B7-C9ACE36A8027}"/>
              </a:ext>
            </a:extLst>
          </p:cNvPr>
          <p:cNvCxnSpPr>
            <a:cxnSpLocks/>
            <a:stCxn id="14" idx="3"/>
            <a:endCxn id="40" idx="1"/>
          </p:cNvCxnSpPr>
          <p:nvPr/>
        </p:nvCxnSpPr>
        <p:spPr>
          <a:xfrm>
            <a:off x="1965442" y="3249400"/>
            <a:ext cx="71413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3A0E5C55-2ECD-F8E6-B667-22E8F6C695B1}"/>
              </a:ext>
            </a:extLst>
          </p:cNvPr>
          <p:cNvSpPr/>
          <p:nvPr/>
        </p:nvSpPr>
        <p:spPr>
          <a:xfrm>
            <a:off x="3393720" y="5119406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dirty="0">
                <a:solidFill>
                  <a:sysClr val="windowText" lastClr="000000"/>
                </a:solidFill>
                <a:latin typeface="Vazir FD" pitchFamily="2" charset="-78"/>
                <a:cs typeface="Vazir FD" pitchFamily="2" charset="-78"/>
              </a:rPr>
              <a:t>متن ورودی</a:t>
            </a:r>
            <a:endParaRPr lang="en-US" sz="1600" dirty="0">
              <a:solidFill>
                <a:sysClr val="windowText" lastClr="000000"/>
              </a:solidFill>
              <a:latin typeface="Vazir FD" pitchFamily="2" charset="-78"/>
              <a:cs typeface="Vazir FD" pitchFamily="2" charset="-78"/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6DC6C053-8FD8-14CC-82A3-2CEF1BAC20E5}"/>
              </a:ext>
            </a:extLst>
          </p:cNvPr>
          <p:cNvCxnSpPr>
            <a:cxnSpLocks/>
            <a:stCxn id="64" idx="3"/>
            <a:endCxn id="9" idx="0"/>
          </p:cNvCxnSpPr>
          <p:nvPr/>
        </p:nvCxnSpPr>
        <p:spPr>
          <a:xfrm>
            <a:off x="4821999" y="5375350"/>
            <a:ext cx="3606921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10677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000"/>
                            </p:stCondLst>
                            <p:childTnLst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500"/>
                            </p:stCondLst>
                            <p:childTnLst>
                              <p:par>
                                <p:cTn id="6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2000"/>
                            </p:stCondLst>
                            <p:childTnLst>
                              <p:par>
                                <p:cTn id="7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2500"/>
                            </p:stCondLst>
                            <p:childTnLst>
                              <p:par>
                                <p:cTn id="7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4750"/>
                            </p:stCondLst>
                            <p:childTnLst>
                              <p:par>
                                <p:cTn id="8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5250"/>
                            </p:stCondLst>
                            <p:childTnLst>
                              <p:par>
                                <p:cTn id="8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  <p:bldP spid="14" grpId="0" animBg="1"/>
      <p:bldP spid="15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8" grpId="0" animBg="1"/>
      <p:bldP spid="40" grpId="0" animBg="1"/>
      <p:bldP spid="6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138843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322F2D3-7210-6212-B5EC-B88E84B8921F}"/>
              </a:ext>
            </a:extLst>
          </p:cNvPr>
          <p:cNvSpPr/>
          <p:nvPr/>
        </p:nvSpPr>
        <p:spPr>
          <a:xfrm>
            <a:off x="6231558" y="1649353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2A8608D-4E52-119A-8FE2-0167531B144B}"/>
              </a:ext>
            </a:extLst>
          </p:cNvPr>
          <p:cNvSpPr/>
          <p:nvPr/>
        </p:nvSpPr>
        <p:spPr>
          <a:xfrm>
            <a:off x="6229417" y="3362418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8816AA4-7A3B-FFE7-38D6-F54378A0DAA1}"/>
              </a:ext>
            </a:extLst>
          </p:cNvPr>
          <p:cNvSpPr/>
          <p:nvPr/>
        </p:nvSpPr>
        <p:spPr>
          <a:xfrm>
            <a:off x="6229416" y="5528712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  <p:sp>
        <p:nvSpPr>
          <p:cNvPr id="35" name="Left Brace 34">
            <a:extLst>
              <a:ext uri="{FF2B5EF4-FFF2-40B4-BE49-F238E27FC236}">
                <a16:creationId xmlns:a16="http://schemas.microsoft.com/office/drawing/2014/main" id="{8C7A3643-9583-3221-CA25-A95A55484A6D}"/>
              </a:ext>
            </a:extLst>
          </p:cNvPr>
          <p:cNvSpPr/>
          <p:nvPr/>
        </p:nvSpPr>
        <p:spPr>
          <a:xfrm>
            <a:off x="5630535" y="1817038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99170D-273C-2E33-8963-5581BF044EFA}"/>
              </a:ext>
            </a:extLst>
          </p:cNvPr>
          <p:cNvSpPr/>
          <p:nvPr/>
        </p:nvSpPr>
        <p:spPr>
          <a:xfrm>
            <a:off x="4628044" y="2729263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میانگین حسابی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BF7FBE3-235E-7768-CEA1-A1736469F68C}"/>
              </a:ext>
            </a:extLst>
          </p:cNvPr>
          <p:cNvCxnSpPr>
            <a:cxnSpLocks/>
            <a:stCxn id="38" idx="1"/>
            <a:endCxn id="49" idx="3"/>
          </p:cNvCxnSpPr>
          <p:nvPr/>
        </p:nvCxnSpPr>
        <p:spPr>
          <a:xfrm flipH="1">
            <a:off x="1965442" y="3217932"/>
            <a:ext cx="2662602" cy="314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F2ABBF7A-B4EE-644C-0134-7C267705B2C5}"/>
              </a:ext>
            </a:extLst>
          </p:cNvPr>
          <p:cNvSpPr/>
          <p:nvPr/>
        </p:nvSpPr>
        <p:spPr>
          <a:xfrm rot="16200000">
            <a:off x="9056889" y="1781951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کلاینت2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4FD219A2-80BC-B848-9F6B-EB113970F941}"/>
              </a:ext>
            </a:extLst>
          </p:cNvPr>
          <p:cNvSpPr/>
          <p:nvPr/>
        </p:nvSpPr>
        <p:spPr>
          <a:xfrm rot="16200000">
            <a:off x="9096218" y="3907901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FD" pitchFamily="2" charset="-78"/>
                <a:cs typeface="Vazir FD" pitchFamily="2" charset="-78"/>
              </a:rPr>
              <a:t>کلاینت</a:t>
            </a:r>
            <a:r>
              <a:rPr lang="en-US" dirty="0">
                <a:latin typeface="Vazir FD" pitchFamily="2" charset="-78"/>
                <a:cs typeface="Vazir FD" pitchFamily="2" charset="-78"/>
              </a:rPr>
              <a:t>n 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FDD96F78-C4CC-22C7-631B-BE63A7FDBFEA}"/>
              </a:ext>
            </a:extLst>
          </p:cNvPr>
          <p:cNvSpPr/>
          <p:nvPr/>
        </p:nvSpPr>
        <p:spPr>
          <a:xfrm rot="16200000">
            <a:off x="9059030" y="81942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کلاینت 1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93BF5C32-94D8-8748-C329-DDEEE6C63139}"/>
              </a:ext>
            </a:extLst>
          </p:cNvPr>
          <p:cNvSpPr/>
          <p:nvPr/>
        </p:nvSpPr>
        <p:spPr>
          <a:xfrm>
            <a:off x="8829514" y="820378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مدل یادگیری ماشین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4B2319FA-FDB4-3555-0754-2A5E4B12364A}"/>
              </a:ext>
            </a:extLst>
          </p:cNvPr>
          <p:cNvSpPr/>
          <p:nvPr/>
        </p:nvSpPr>
        <p:spPr>
          <a:xfrm>
            <a:off x="8829514" y="1579641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محلی1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0C5890F0-B706-DFF5-CCAC-FAF669735321}"/>
              </a:ext>
            </a:extLst>
          </p:cNvPr>
          <p:cNvSpPr/>
          <p:nvPr/>
        </p:nvSpPr>
        <p:spPr>
          <a:xfrm>
            <a:off x="8786865" y="2530188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مدل یادگیری ماشین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D84A0119-BBF6-2A75-42F7-235436A28FF5}"/>
              </a:ext>
            </a:extLst>
          </p:cNvPr>
          <p:cNvSpPr/>
          <p:nvPr/>
        </p:nvSpPr>
        <p:spPr>
          <a:xfrm>
            <a:off x="8786865" y="328039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محلی2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A08FF220-841A-C56F-1934-E3C6AA447870}"/>
              </a:ext>
            </a:extLst>
          </p:cNvPr>
          <p:cNvSpPr/>
          <p:nvPr/>
        </p:nvSpPr>
        <p:spPr>
          <a:xfrm>
            <a:off x="8895510" y="463006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مدل یادگیری ماشین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74EE0C8F-7B51-2176-1068-7ACFE0098AE4}"/>
              </a:ext>
            </a:extLst>
          </p:cNvPr>
          <p:cNvSpPr/>
          <p:nvPr/>
        </p:nvSpPr>
        <p:spPr>
          <a:xfrm>
            <a:off x="8895510" y="5400824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محلی</a:t>
            </a:r>
            <a:r>
              <a:rPr lang="en-US" dirty="0">
                <a:latin typeface="Vazir FD" pitchFamily="2" charset="-78"/>
                <a:cs typeface="Vazir FD" pitchFamily="2" charset="-78"/>
              </a:rPr>
              <a:t>n 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1CF0ED79-115C-E454-2B55-5BC62400A9FE}"/>
              </a:ext>
            </a:extLst>
          </p:cNvPr>
          <p:cNvSpPr/>
          <p:nvPr/>
        </p:nvSpPr>
        <p:spPr>
          <a:xfrm>
            <a:off x="1051042" y="2792200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سرور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3627621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9" grpId="0" animBg="1"/>
      <p:bldP spid="34" grpId="0" animBg="1"/>
      <p:bldP spid="35" grpId="0" animBg="1"/>
      <p:bldP spid="3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2EB00-2F09-1AE7-AF18-E130BFB5D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C5A781E-D32D-0E79-9C52-C464E9E753FC}"/>
              </a:ext>
            </a:extLst>
          </p:cNvPr>
          <p:cNvSpPr/>
          <p:nvPr/>
        </p:nvSpPr>
        <p:spPr>
          <a:xfrm>
            <a:off x="304800" y="357594"/>
            <a:ext cx="1138843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D271970E-E025-9701-07BA-C1F275BD36D7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27BC052C-BC6D-A44D-3E7A-55141A5E8FED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A8C0548-D320-0C90-9A04-A26B128916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1862178"/>
              </p:ext>
            </p:extLst>
          </p:nvPr>
        </p:nvGraphicFramePr>
        <p:xfrm>
          <a:off x="815686" y="962473"/>
          <a:ext cx="10366664" cy="2164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8751">
                  <a:extLst>
                    <a:ext uri="{9D8B030D-6E8A-4147-A177-3AD203B41FA5}">
                      <a16:colId xmlns:a16="http://schemas.microsoft.com/office/drawing/2014/main" val="1662298749"/>
                    </a:ext>
                  </a:extLst>
                </a:gridCol>
                <a:gridCol w="2304020">
                  <a:extLst>
                    <a:ext uri="{9D8B030D-6E8A-4147-A177-3AD203B41FA5}">
                      <a16:colId xmlns:a16="http://schemas.microsoft.com/office/drawing/2014/main" val="888279007"/>
                    </a:ext>
                  </a:extLst>
                </a:gridCol>
                <a:gridCol w="2029937">
                  <a:extLst>
                    <a:ext uri="{9D8B030D-6E8A-4147-A177-3AD203B41FA5}">
                      <a16:colId xmlns:a16="http://schemas.microsoft.com/office/drawing/2014/main" val="3012104143"/>
                    </a:ext>
                  </a:extLst>
                </a:gridCol>
                <a:gridCol w="2166978">
                  <a:extLst>
                    <a:ext uri="{9D8B030D-6E8A-4147-A177-3AD203B41FA5}">
                      <a16:colId xmlns:a16="http://schemas.microsoft.com/office/drawing/2014/main" val="3929668421"/>
                    </a:ext>
                  </a:extLst>
                </a:gridCol>
                <a:gridCol w="2166978">
                  <a:extLst>
                    <a:ext uri="{9D8B030D-6E8A-4147-A177-3AD203B41FA5}">
                      <a16:colId xmlns:a16="http://schemas.microsoft.com/office/drawing/2014/main" val="1959490191"/>
                    </a:ext>
                  </a:extLst>
                </a:gridCol>
              </a:tblGrid>
              <a:tr h="564783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br>
                        <a:rPr lang="fa-IR" sz="1600" b="1" dirty="0">
                          <a:effectLst/>
                        </a:rPr>
                      </a:br>
                      <a:r>
                        <a:rPr lang="fa-IR" sz="1600" b="1" dirty="0">
                          <a:effectLst/>
                        </a:rPr>
                        <a:t>n_clients</a:t>
                      </a:r>
                      <a:endParaRPr lang="fa-IR" sz="1600" b="1" i="0" dirty="0">
                        <a:effectLst/>
                        <a:latin typeface="inherit"/>
                      </a:endParaRPr>
                    </a:p>
                    <a:p>
                      <a:pPr marL="0" marR="0" algn="ctr" fontAlgn="ctr">
                        <a:buNone/>
                      </a:pPr>
                      <a:endParaRPr lang="fa-IR" sz="1600" b="1" i="0" dirty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br>
                        <a:rPr lang="fa-IR" sz="1600" b="1" dirty="0">
                          <a:effectLst/>
                        </a:rPr>
                      </a:br>
                      <a:r>
                        <a:rPr lang="fa-IR" sz="1600" b="1" dirty="0">
                          <a:effectLst/>
                        </a:rPr>
                        <a:t>test_accuracy</a:t>
                      </a:r>
                      <a:endParaRPr lang="fa-IR" sz="1600" b="1" i="0" dirty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 b="1" dirty="0">
                          <a:effectLst/>
                        </a:rPr>
                        <a:t>test_precision</a:t>
                      </a:r>
                      <a:endParaRPr lang="fa-IR" sz="1600" b="1" i="0" dirty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 b="1" dirty="0">
                          <a:effectLst/>
                        </a:rPr>
                        <a:t>test_recal</a:t>
                      </a:r>
                      <a:r>
                        <a:rPr lang="en-US" sz="1600" b="1" dirty="0">
                          <a:effectLst/>
                        </a:rPr>
                        <a:t>l</a:t>
                      </a:r>
                      <a:endParaRPr lang="fa-IR" sz="1600" b="1" i="0" dirty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 b="1" dirty="0">
                          <a:effectLst/>
                        </a:rPr>
                        <a:t>test_f1</a:t>
                      </a:r>
                      <a:endParaRPr lang="fa-IR" sz="1600" b="1" i="0" dirty="0"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0560016"/>
                  </a:ext>
                </a:extLst>
              </a:tr>
              <a:tr h="308384"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10</a:t>
                      </a:r>
                      <a:endParaRPr lang="fa-IR" sz="1600" b="1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0.9163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0.9135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0.9199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0.9167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4250638"/>
                  </a:ext>
                </a:extLst>
              </a:tr>
              <a:tr h="308384"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20</a:t>
                      </a:r>
                      <a:endParaRPr lang="fa-IR" sz="1600" b="1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0.9092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0.9050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0.9146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0.9098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66275648"/>
                  </a:ext>
                </a:extLst>
              </a:tr>
              <a:tr h="308384"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50</a:t>
                      </a:r>
                      <a:endParaRPr lang="fa-IR" sz="1600" b="1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0.8923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0.8857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0.9010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0.8933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18792662"/>
                  </a:ext>
                </a:extLst>
              </a:tr>
              <a:tr h="308384"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100</a:t>
                      </a:r>
                      <a:endParaRPr lang="fa-IR" sz="1600" b="1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0.8700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0.8578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0.8874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 dirty="0">
                          <a:effectLst/>
                        </a:rPr>
                        <a:t>0.8724</a:t>
                      </a:r>
                      <a:endParaRPr lang="fa-IR" sz="1600" b="0" i="0" dirty="0"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74579519"/>
                  </a:ext>
                </a:extLst>
              </a:tr>
            </a:tbl>
          </a:graphicData>
        </a:graphic>
      </p:graphicFrame>
      <p:sp>
        <p:nvSpPr>
          <p:cNvPr id="3" name="Subtitle 2">
            <a:extLst>
              <a:ext uri="{FF2B5EF4-FFF2-40B4-BE49-F238E27FC236}">
                <a16:creationId xmlns:a16="http://schemas.microsoft.com/office/drawing/2014/main" id="{32548242-BE02-C90F-179E-0ACC38A1AB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0976" y="3310260"/>
            <a:ext cx="10731374" cy="3006438"/>
          </a:xfrm>
        </p:spPr>
        <p:txBody>
          <a:bodyPr>
            <a:normAutofit/>
          </a:bodyPr>
          <a:lstStyle/>
          <a:p>
            <a:pPr algn="r" rtl="1">
              <a:lnSpc>
                <a:spcPct val="170000"/>
              </a:lnSpc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امنیت اطلاات در این روش بسیار وابسته به امنیت کانال است. و هیچ تضمینی بر وجود کانال امن وجود ندارد.</a:t>
            </a:r>
            <a:endParaRPr lang="fa-IR" dirty="0">
              <a:effectLst/>
              <a:latin typeface="Vazir FD" pitchFamily="2" charset="-78"/>
              <a:cs typeface="Vazir FD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5242729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فصل سوم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37855" y="3764211"/>
            <a:ext cx="9102435" cy="1201095"/>
          </a:xfrm>
        </p:spPr>
        <p:txBody>
          <a:bodyPr>
            <a:normAutofit fontScale="925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طراحی و پیاده‌سازی بستر امن تبادل داده با بهره‌گیری از رمزگذاری هم‌ریخت</a:t>
            </a:r>
            <a:endParaRPr lang="fa-IR" dirty="0">
              <a:solidFill>
                <a:schemeClr val="bg1"/>
              </a:solidFill>
              <a:effectLst/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1244398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799" y="357594"/>
            <a:ext cx="11457709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9340068" y="1730555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9379397" y="3856505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9342209" y="305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9112693" y="76898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9112693" y="1528245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9070044" y="247879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9070044" y="322899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9178689" y="4578671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9178689" y="5349428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9AC002-6970-267D-3107-706FF5E0B7CC}"/>
              </a:ext>
            </a:extLst>
          </p:cNvPr>
          <p:cNvSpPr/>
          <p:nvPr/>
        </p:nvSpPr>
        <p:spPr>
          <a:xfrm>
            <a:off x="6595552" y="1451519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37ECBA8-E5F9-EB6B-0467-7350535CD2EE}"/>
              </a:ext>
            </a:extLst>
          </p:cNvPr>
          <p:cNvSpPr/>
          <p:nvPr/>
        </p:nvSpPr>
        <p:spPr>
          <a:xfrm>
            <a:off x="6595552" y="3123544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5AD7587-C2FC-7D03-CB49-B15274114C66}"/>
              </a:ext>
            </a:extLst>
          </p:cNvPr>
          <p:cNvSpPr/>
          <p:nvPr/>
        </p:nvSpPr>
        <p:spPr>
          <a:xfrm>
            <a:off x="6605478" y="5277478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8851DFD-8385-D22B-3D25-828B6FF24F10}"/>
              </a:ext>
            </a:extLst>
          </p:cNvPr>
          <p:cNvSpPr/>
          <p:nvPr/>
        </p:nvSpPr>
        <p:spPr>
          <a:xfrm>
            <a:off x="2255268" y="2755883"/>
            <a:ext cx="1920007" cy="144514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طرح تولید کلید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00663C5-5209-854B-C3FF-4596CC48D172}"/>
              </a:ext>
            </a:extLst>
          </p:cNvPr>
          <p:cNvSpPr/>
          <p:nvPr/>
        </p:nvSpPr>
        <p:spPr>
          <a:xfrm>
            <a:off x="2323968" y="3210606"/>
            <a:ext cx="1790029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2323830" y="3685629"/>
            <a:ext cx="179002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6345745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799" y="357594"/>
            <a:ext cx="11554691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00663C5-5209-854B-C3FF-4596CC48D172}"/>
              </a:ext>
            </a:extLst>
          </p:cNvPr>
          <p:cNvSpPr/>
          <p:nvPr/>
        </p:nvSpPr>
        <p:spPr>
          <a:xfrm>
            <a:off x="6605478" y="1975387"/>
            <a:ext cx="1974501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617703" y="4054841"/>
            <a:ext cx="179002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BD75C8C-8EB3-D1FA-B66C-CE8A7E278350}"/>
              </a:ext>
            </a:extLst>
          </p:cNvPr>
          <p:cNvSpPr/>
          <p:nvPr/>
        </p:nvSpPr>
        <p:spPr>
          <a:xfrm>
            <a:off x="6595551" y="3643745"/>
            <a:ext cx="1974501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9986E98-EDDB-D977-0B32-C9CFC9692EDC}"/>
              </a:ext>
            </a:extLst>
          </p:cNvPr>
          <p:cNvSpPr/>
          <p:nvPr/>
        </p:nvSpPr>
        <p:spPr>
          <a:xfrm>
            <a:off x="6605478" y="5799539"/>
            <a:ext cx="1974501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1A2CDEB-CE32-B3E1-577F-31D4638E5D89}"/>
              </a:ext>
            </a:extLst>
          </p:cNvPr>
          <p:cNvSpPr/>
          <p:nvPr/>
        </p:nvSpPr>
        <p:spPr>
          <a:xfrm rot="16200000">
            <a:off x="9340068" y="1730555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0E33DF0-005B-C845-6626-8E874CCC406D}"/>
              </a:ext>
            </a:extLst>
          </p:cNvPr>
          <p:cNvSpPr/>
          <p:nvPr/>
        </p:nvSpPr>
        <p:spPr>
          <a:xfrm rot="16200000">
            <a:off x="9379397" y="3856505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6019BF31-EA04-E9CE-BADD-54B59815E8EF}"/>
              </a:ext>
            </a:extLst>
          </p:cNvPr>
          <p:cNvSpPr/>
          <p:nvPr/>
        </p:nvSpPr>
        <p:spPr>
          <a:xfrm rot="16200000">
            <a:off x="9342209" y="305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7F17B54C-3422-52A0-ED53-C92101A11B0E}"/>
              </a:ext>
            </a:extLst>
          </p:cNvPr>
          <p:cNvSpPr/>
          <p:nvPr/>
        </p:nvSpPr>
        <p:spPr>
          <a:xfrm>
            <a:off x="9112693" y="76898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10569828-2A98-DFEE-0F38-5CEF23397F81}"/>
              </a:ext>
            </a:extLst>
          </p:cNvPr>
          <p:cNvSpPr/>
          <p:nvPr/>
        </p:nvSpPr>
        <p:spPr>
          <a:xfrm>
            <a:off x="9112693" y="1528245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88E70745-2B03-FF32-A329-374A2F972A38}"/>
              </a:ext>
            </a:extLst>
          </p:cNvPr>
          <p:cNvSpPr/>
          <p:nvPr/>
        </p:nvSpPr>
        <p:spPr>
          <a:xfrm>
            <a:off x="9070044" y="247879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B7A808F4-03A8-B4E7-9175-6CF46FD39DA8}"/>
              </a:ext>
            </a:extLst>
          </p:cNvPr>
          <p:cNvSpPr/>
          <p:nvPr/>
        </p:nvSpPr>
        <p:spPr>
          <a:xfrm>
            <a:off x="9070044" y="322899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B6E06BDB-CC55-5508-4810-D10E5663906B}"/>
              </a:ext>
            </a:extLst>
          </p:cNvPr>
          <p:cNvSpPr/>
          <p:nvPr/>
        </p:nvSpPr>
        <p:spPr>
          <a:xfrm>
            <a:off x="9178689" y="4578671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68696C7E-D55D-13D2-CE37-990FF27E29B2}"/>
              </a:ext>
            </a:extLst>
          </p:cNvPr>
          <p:cNvSpPr/>
          <p:nvPr/>
        </p:nvSpPr>
        <p:spPr>
          <a:xfrm>
            <a:off x="9178689" y="5349428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866082B-710E-2815-FA27-F412E30826A5}"/>
              </a:ext>
            </a:extLst>
          </p:cNvPr>
          <p:cNvSpPr/>
          <p:nvPr/>
        </p:nvSpPr>
        <p:spPr>
          <a:xfrm>
            <a:off x="6595552" y="1451519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A5D3BE1-3EA4-591D-D28F-4EC64BB5B80F}"/>
              </a:ext>
            </a:extLst>
          </p:cNvPr>
          <p:cNvSpPr/>
          <p:nvPr/>
        </p:nvSpPr>
        <p:spPr>
          <a:xfrm>
            <a:off x="6595552" y="3123544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2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0612A9B-F9D3-93A5-A11F-3800295AB731}"/>
              </a:ext>
            </a:extLst>
          </p:cNvPr>
          <p:cNvSpPr/>
          <p:nvPr/>
        </p:nvSpPr>
        <p:spPr>
          <a:xfrm>
            <a:off x="6605478" y="5277478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6497744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799" y="357594"/>
            <a:ext cx="11513127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9AC002-6970-267D-3107-706FF5E0B7CC}"/>
              </a:ext>
            </a:extLst>
          </p:cNvPr>
          <p:cNvSpPr/>
          <p:nvPr/>
        </p:nvSpPr>
        <p:spPr>
          <a:xfrm>
            <a:off x="6619770" y="1183896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617703" y="4054841"/>
            <a:ext cx="179002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D7CC0C-9BF9-226F-957F-A29CB8D48A31}"/>
              </a:ext>
            </a:extLst>
          </p:cNvPr>
          <p:cNvSpPr/>
          <p:nvPr/>
        </p:nvSpPr>
        <p:spPr>
          <a:xfrm>
            <a:off x="6624510" y="2884286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2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361ABFB-8897-69F3-4A09-171A9E357F05}"/>
              </a:ext>
            </a:extLst>
          </p:cNvPr>
          <p:cNvSpPr/>
          <p:nvPr/>
        </p:nvSpPr>
        <p:spPr>
          <a:xfrm>
            <a:off x="6615309" y="5005992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  <a:endParaRPr lang="fa-IR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Left Brace 18">
            <a:extLst>
              <a:ext uri="{FF2B5EF4-FFF2-40B4-BE49-F238E27FC236}">
                <a16:creationId xmlns:a16="http://schemas.microsoft.com/office/drawing/2014/main" id="{38AF4B90-C721-BF78-CE17-8D5E9FACC72E}"/>
              </a:ext>
            </a:extLst>
          </p:cNvPr>
          <p:cNvSpPr/>
          <p:nvPr/>
        </p:nvSpPr>
        <p:spPr>
          <a:xfrm>
            <a:off x="5970945" y="1537005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0CEE2FE-6CF4-230B-3845-8BB5BE940500}"/>
              </a:ext>
            </a:extLst>
          </p:cNvPr>
          <p:cNvSpPr/>
          <p:nvPr/>
        </p:nvSpPr>
        <p:spPr>
          <a:xfrm>
            <a:off x="4968454" y="2449230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تجمیع احتمالات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A2EFE29-7D35-A628-100B-0505827EFE64}"/>
              </a:ext>
            </a:extLst>
          </p:cNvPr>
          <p:cNvSpPr/>
          <p:nvPr/>
        </p:nvSpPr>
        <p:spPr>
          <a:xfrm rot="16200000">
            <a:off x="9340068" y="1730555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6676C03-C7F5-04B9-06A0-4EB0F38F5C46}"/>
              </a:ext>
            </a:extLst>
          </p:cNvPr>
          <p:cNvSpPr/>
          <p:nvPr/>
        </p:nvSpPr>
        <p:spPr>
          <a:xfrm rot="16200000">
            <a:off x="9379397" y="3856505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EDC56FA1-C33E-E35B-AA2F-8224451C6650}"/>
              </a:ext>
            </a:extLst>
          </p:cNvPr>
          <p:cNvSpPr/>
          <p:nvPr/>
        </p:nvSpPr>
        <p:spPr>
          <a:xfrm rot="16200000">
            <a:off x="9342209" y="305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07F654E3-EF00-4246-3A11-36DC84B67C2B}"/>
              </a:ext>
            </a:extLst>
          </p:cNvPr>
          <p:cNvSpPr/>
          <p:nvPr/>
        </p:nvSpPr>
        <p:spPr>
          <a:xfrm>
            <a:off x="9112693" y="76898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ED22C67F-5A5B-FE53-97E5-F9D7466D9EA7}"/>
              </a:ext>
            </a:extLst>
          </p:cNvPr>
          <p:cNvSpPr/>
          <p:nvPr/>
        </p:nvSpPr>
        <p:spPr>
          <a:xfrm>
            <a:off x="9112693" y="1528245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90536D73-A7E7-F2CC-15F6-4779C6130019}"/>
              </a:ext>
            </a:extLst>
          </p:cNvPr>
          <p:cNvSpPr/>
          <p:nvPr/>
        </p:nvSpPr>
        <p:spPr>
          <a:xfrm>
            <a:off x="9070044" y="247879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35D8FA8E-99E9-5119-AF80-67BE7B6A2294}"/>
              </a:ext>
            </a:extLst>
          </p:cNvPr>
          <p:cNvSpPr/>
          <p:nvPr/>
        </p:nvSpPr>
        <p:spPr>
          <a:xfrm>
            <a:off x="9070044" y="322899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9F4F7D9-398C-41BE-4624-7CC5C5288C25}"/>
              </a:ext>
            </a:extLst>
          </p:cNvPr>
          <p:cNvSpPr/>
          <p:nvPr/>
        </p:nvSpPr>
        <p:spPr>
          <a:xfrm>
            <a:off x="9178689" y="4578671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FCF12125-10CA-7CE6-40E3-9DB76AAA8356}"/>
              </a:ext>
            </a:extLst>
          </p:cNvPr>
          <p:cNvSpPr/>
          <p:nvPr/>
        </p:nvSpPr>
        <p:spPr>
          <a:xfrm>
            <a:off x="9178689" y="5349428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</p:spTree>
    <p:extLst>
      <p:ext uri="{BB962C8B-B14F-4D97-AF65-F5344CB8AC3E}">
        <p14:creationId xmlns:p14="http://schemas.microsoft.com/office/powerpoint/2010/main" val="28030831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799" y="357594"/>
            <a:ext cx="11651673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5007630" y="3507452"/>
            <a:ext cx="100727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200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sz="12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80F48B2C-DDFD-9A52-FC8F-B1AA9058A460}"/>
              </a:ext>
            </a:extLst>
          </p:cNvPr>
          <p:cNvCxnSpPr>
            <a:cxnSpLocks/>
            <a:stCxn id="11" idx="2"/>
            <a:endCxn id="17" idx="3"/>
          </p:cNvCxnSpPr>
          <p:nvPr/>
        </p:nvCxnSpPr>
        <p:spPr>
          <a:xfrm rot="5400000">
            <a:off x="4092278" y="4067356"/>
            <a:ext cx="1562409" cy="1275576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169DEED-DF11-A718-5776-77D477EA07E9}"/>
              </a:ext>
            </a:extLst>
          </p:cNvPr>
          <p:cNvSpPr/>
          <p:nvPr/>
        </p:nvSpPr>
        <p:spPr>
          <a:xfrm>
            <a:off x="2582718" y="5237061"/>
            <a:ext cx="1652976" cy="498576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dirty="0">
                <a:latin typeface="Vazir Light FD" panose="020B0604020202020204" charset="-78"/>
                <a:cs typeface="Vazir Light FD" panose="020B0604020202020204" charset="-78"/>
              </a:rPr>
              <a:t>رمزگشایی</a:t>
            </a:r>
            <a:endParaRPr lang="en-US" sz="20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3372520D-E393-502E-DF66-FCAE2F14511E}"/>
              </a:ext>
            </a:extLst>
          </p:cNvPr>
          <p:cNvCxnSpPr>
            <a:cxnSpLocks/>
            <a:stCxn id="17" idx="1"/>
            <a:endCxn id="12" idx="2"/>
          </p:cNvCxnSpPr>
          <p:nvPr/>
        </p:nvCxnSpPr>
        <p:spPr>
          <a:xfrm rot="10800000">
            <a:off x="1587888" y="3939813"/>
            <a:ext cx="994831" cy="1546536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483D94D7-1A13-72F0-4879-46ABA59D9980}"/>
              </a:ext>
            </a:extLst>
          </p:cNvPr>
          <p:cNvSpPr/>
          <p:nvPr/>
        </p:nvSpPr>
        <p:spPr>
          <a:xfrm>
            <a:off x="6619770" y="1183896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4C5B434-6AD2-5720-46C6-8A59C689B7EB}"/>
              </a:ext>
            </a:extLst>
          </p:cNvPr>
          <p:cNvSpPr/>
          <p:nvPr/>
        </p:nvSpPr>
        <p:spPr>
          <a:xfrm>
            <a:off x="6624510" y="2884286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2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C87E4E6-1933-C9B1-ADEC-FEF8A20AB2FE}"/>
              </a:ext>
            </a:extLst>
          </p:cNvPr>
          <p:cNvSpPr/>
          <p:nvPr/>
        </p:nvSpPr>
        <p:spPr>
          <a:xfrm>
            <a:off x="6615309" y="5005992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  <a:endParaRPr lang="fa-IR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8" name="Left Brace 37">
            <a:extLst>
              <a:ext uri="{FF2B5EF4-FFF2-40B4-BE49-F238E27FC236}">
                <a16:creationId xmlns:a16="http://schemas.microsoft.com/office/drawing/2014/main" id="{8AD02AE0-A3D4-644F-5B5E-3E783FEF8A29}"/>
              </a:ext>
            </a:extLst>
          </p:cNvPr>
          <p:cNvSpPr/>
          <p:nvPr/>
        </p:nvSpPr>
        <p:spPr>
          <a:xfrm>
            <a:off x="5970945" y="1537005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FCB8596-43DC-3526-56D5-7F701AA42AEE}"/>
              </a:ext>
            </a:extLst>
          </p:cNvPr>
          <p:cNvSpPr/>
          <p:nvPr/>
        </p:nvSpPr>
        <p:spPr>
          <a:xfrm>
            <a:off x="4968454" y="2449230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تجمیع احتمالات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4DB25CA6-56B3-8233-2516-E5F42F24CBF4}"/>
              </a:ext>
            </a:extLst>
          </p:cNvPr>
          <p:cNvSpPr/>
          <p:nvPr/>
        </p:nvSpPr>
        <p:spPr>
          <a:xfrm rot="16200000">
            <a:off x="9340068" y="1730555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D99CECA9-0B50-8319-1B3F-8A3AF0725D02}"/>
              </a:ext>
            </a:extLst>
          </p:cNvPr>
          <p:cNvSpPr/>
          <p:nvPr/>
        </p:nvSpPr>
        <p:spPr>
          <a:xfrm rot="16200000">
            <a:off x="9379397" y="3856505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67D7A3E1-1A56-C72E-5BDB-B5C5FCB86CC1}"/>
              </a:ext>
            </a:extLst>
          </p:cNvPr>
          <p:cNvSpPr/>
          <p:nvPr/>
        </p:nvSpPr>
        <p:spPr>
          <a:xfrm rot="16200000">
            <a:off x="9342209" y="305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05666D11-D48D-1C50-ADDF-3174892BC26E}"/>
              </a:ext>
            </a:extLst>
          </p:cNvPr>
          <p:cNvSpPr/>
          <p:nvPr/>
        </p:nvSpPr>
        <p:spPr>
          <a:xfrm>
            <a:off x="9112693" y="76898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B98E1D0-EE72-13B2-D1B5-0AE3DC3169DC}"/>
              </a:ext>
            </a:extLst>
          </p:cNvPr>
          <p:cNvSpPr/>
          <p:nvPr/>
        </p:nvSpPr>
        <p:spPr>
          <a:xfrm>
            <a:off x="9112693" y="1528245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3EDD0A9D-158C-6D62-6928-2AADA7EE0E53}"/>
              </a:ext>
            </a:extLst>
          </p:cNvPr>
          <p:cNvSpPr/>
          <p:nvPr/>
        </p:nvSpPr>
        <p:spPr>
          <a:xfrm>
            <a:off x="9070044" y="247879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F375CCE5-A8EF-78A8-F555-34CBD380294B}"/>
              </a:ext>
            </a:extLst>
          </p:cNvPr>
          <p:cNvSpPr/>
          <p:nvPr/>
        </p:nvSpPr>
        <p:spPr>
          <a:xfrm>
            <a:off x="9070044" y="322899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918EE2E6-69FD-84F7-3CF4-D42EF00CEF1E}"/>
              </a:ext>
            </a:extLst>
          </p:cNvPr>
          <p:cNvSpPr/>
          <p:nvPr/>
        </p:nvSpPr>
        <p:spPr>
          <a:xfrm>
            <a:off x="9178689" y="4578671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726984CF-5CFD-D524-ABFD-D3839D52588A}"/>
              </a:ext>
            </a:extLst>
          </p:cNvPr>
          <p:cNvSpPr/>
          <p:nvPr/>
        </p:nvSpPr>
        <p:spPr>
          <a:xfrm>
            <a:off x="9178689" y="5349428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</p:spTree>
    <p:extLst>
      <p:ext uri="{BB962C8B-B14F-4D97-AF65-F5344CB8AC3E}">
        <p14:creationId xmlns:p14="http://schemas.microsoft.com/office/powerpoint/2010/main" val="5169355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B82BB-B87E-009B-6F59-FC7357E01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E89446D0-2B1F-A193-3079-A04BAFB6E13D}"/>
              </a:ext>
            </a:extLst>
          </p:cNvPr>
          <p:cNvSpPr/>
          <p:nvPr/>
        </p:nvSpPr>
        <p:spPr>
          <a:xfrm>
            <a:off x="573692" y="357594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17F7B4FA-4B16-C73E-2E36-7AEB137E6486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DC21C7CA-E075-BF4F-A244-761B0FB4C01C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47128095-50DB-4E69-0020-0FD4D02678E6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67AF6090-7C32-96B3-17F7-A7FD60A53F0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4682616"/>
                  </p:ext>
                </p:extLst>
              </p:nvPr>
            </p:nvGraphicFramePr>
            <p:xfrm>
              <a:off x="1679170" y="1477458"/>
              <a:ext cx="8833660" cy="4187426"/>
            </p:xfrm>
            <a:graphic>
              <a:graphicData uri="http://schemas.openxmlformats.org/drawingml/2006/table">
                <a:tbl>
                  <a:tblPr rtl="1">
                    <a:tableStyleId>{5C22544A-7EE6-4342-B048-85BDC9FD1C3A}</a:tableStyleId>
                  </a:tblPr>
                  <a:tblGrid>
                    <a:gridCol w="2208415">
                      <a:extLst>
                        <a:ext uri="{9D8B030D-6E8A-4147-A177-3AD203B41FA5}">
                          <a16:colId xmlns:a16="http://schemas.microsoft.com/office/drawing/2014/main" val="600790024"/>
                        </a:ext>
                      </a:extLst>
                    </a:gridCol>
                    <a:gridCol w="2208415">
                      <a:extLst>
                        <a:ext uri="{9D8B030D-6E8A-4147-A177-3AD203B41FA5}">
                          <a16:colId xmlns:a16="http://schemas.microsoft.com/office/drawing/2014/main" val="242782043"/>
                        </a:ext>
                      </a:extLst>
                    </a:gridCol>
                    <a:gridCol w="2208415">
                      <a:extLst>
                        <a:ext uri="{9D8B030D-6E8A-4147-A177-3AD203B41FA5}">
                          <a16:colId xmlns:a16="http://schemas.microsoft.com/office/drawing/2014/main" val="1593596142"/>
                        </a:ext>
                      </a:extLst>
                    </a:gridCol>
                    <a:gridCol w="2208415">
                      <a:extLst>
                        <a:ext uri="{9D8B030D-6E8A-4147-A177-3AD203B41FA5}">
                          <a16:colId xmlns:a16="http://schemas.microsoft.com/office/drawing/2014/main" val="2358695530"/>
                        </a:ext>
                      </a:extLst>
                    </a:gridCol>
                  </a:tblGrid>
                  <a:tr h="957126"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طرح</a:t>
                          </a:r>
                          <a:endParaRPr lang="en-US" sz="2000" b="1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سال انتشار</a:t>
                          </a:r>
                          <a:endParaRPr lang="en-US" sz="2000" b="1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فضای پیام</a:t>
                          </a:r>
                          <a:endParaRPr lang="en-US" sz="2000" b="1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نوع هم‌ریختی</a:t>
                          </a:r>
                          <a:endParaRPr lang="en-US" sz="2000" b="1" i="0" u="none" strike="noStrike" dirty="0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extLst>
                      <a:ext uri="{0D108BD9-81ED-4DB2-BD59-A6C34878D82A}">
                        <a16:rowId xmlns:a16="http://schemas.microsoft.com/office/drawing/2014/main" val="1376703620"/>
                      </a:ext>
                    </a:extLst>
                  </a:tr>
                  <a:tr h="478563"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en-US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ElGamal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۱۹۸۵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b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  <m:t>ℤ</m:t>
                                    </m:r>
                                  </m:e>
                                  <m:sub>
                                    <m: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  <m:t>𝑝</m:t>
                                    </m:r>
                                  </m:sub>
                                  <m:sup>
                                    <m: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+mn-lt"/>
                                        <a:ea typeface="+mn-ea"/>
                                        <a:cs typeface="+mn-cs"/>
                                      </a:rPr>
                                      <m:t>∗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11430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ضربی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extLst>
                      <a:ext uri="{0D108BD9-81ED-4DB2-BD59-A6C34878D82A}">
                        <a16:rowId xmlns:a16="http://schemas.microsoft.com/office/drawing/2014/main" val="3263639753"/>
                      </a:ext>
                    </a:extLst>
                  </a:tr>
                  <a:tr h="478563"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en-US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Benaloh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۱۹۹۴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b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ℤ</m:t>
                                    </m:r>
                                  </m:e>
                                  <m:sub>
                                    <m:r>
                                      <a:rPr lang="en-US" sz="1800" b="0" i="1" kern="1200" smtClean="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𝑟</m:t>
                                    </m:r>
                                  </m:sub>
                                  <m:sup/>
                                </m:sSubSup>
                              </m:oMath>
                            </m:oMathPara>
                          </a14:m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11430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جمعی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extLst>
                      <a:ext uri="{0D108BD9-81ED-4DB2-BD59-A6C34878D82A}">
                        <a16:rowId xmlns:a16="http://schemas.microsoft.com/office/drawing/2014/main" val="3545603463"/>
                      </a:ext>
                    </a:extLst>
                  </a:tr>
                  <a:tr h="478563"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en-US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Paillier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۱۹۹۹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b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ℤ</m:t>
                                    </m:r>
                                  </m:e>
                                  <m:sub>
                                    <m:r>
                                      <a:rPr lang="en-US" sz="1800" b="0" i="1" kern="1200" smtClean="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</m:sub>
                                  <m:sup/>
                                </m:sSubSup>
                              </m:oMath>
                            </m:oMathPara>
                          </a14:m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11430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جمعی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extLst>
                      <a:ext uri="{0D108BD9-81ED-4DB2-BD59-A6C34878D82A}">
                        <a16:rowId xmlns:a16="http://schemas.microsoft.com/office/drawing/2014/main" val="3103313987"/>
                      </a:ext>
                    </a:extLst>
                  </a:tr>
                  <a:tr h="717844"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en-US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Damgård–Jurik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11430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۲۰۰۱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b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ℤ</m:t>
                                    </m:r>
                                  </m:e>
                                  <m:sub>
                                    <m:sSup>
                                      <m:sSupPr>
                                        <m:ctrlPr>
                                          <a:rPr lang="en-US" sz="1800" b="0" i="1" kern="1200" smtClean="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800" b="0" i="1" kern="1200" smtClean="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𝑛</m:t>
                                        </m:r>
                                      </m:e>
                                      <m:sup>
                                        <m:r>
                                          <a:rPr lang="en-US" sz="1800" b="0" i="1" kern="1200" smtClean="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𝑠</m:t>
                                        </m:r>
                                      </m:sup>
                                    </m:sSup>
                                  </m:sub>
                                  <m:sup/>
                                </m:sSubSup>
                              </m:oMath>
                            </m:oMathPara>
                          </a14:m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11430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جمعی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extLst>
                      <a:ext uri="{0D108BD9-81ED-4DB2-BD59-A6C34878D82A}">
                        <a16:rowId xmlns:a16="http://schemas.microsoft.com/office/drawing/2014/main" val="2653805089"/>
                      </a:ext>
                    </a:extLst>
                  </a:tr>
                  <a:tr h="1076767"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en-US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RSA (textbook)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۱۹۷۸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b"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ℤ</m:t>
                                    </m:r>
                                  </m:e>
                                  <m:sub>
                                    <m:r>
                                      <a:rPr lang="en-US" sz="1800" b="0" i="1" kern="1200" smtClean="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</m:sub>
                                  <m:sup/>
                                </m:sSubSup>
                              </m:oMath>
                            </m:oMathPara>
                          </a14:m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11430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ضربی</a:t>
                          </a:r>
                          <a:endParaRPr lang="en-US" sz="20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extLst>
                      <a:ext uri="{0D108BD9-81ED-4DB2-BD59-A6C34878D82A}">
                        <a16:rowId xmlns:a16="http://schemas.microsoft.com/office/drawing/2014/main" val="410928459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67AF6090-7C32-96B3-17F7-A7FD60A53F0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4682616"/>
                  </p:ext>
                </p:extLst>
              </p:nvPr>
            </p:nvGraphicFramePr>
            <p:xfrm>
              <a:off x="1679170" y="1477458"/>
              <a:ext cx="8833660" cy="4187426"/>
            </p:xfrm>
            <a:graphic>
              <a:graphicData uri="http://schemas.openxmlformats.org/drawingml/2006/table">
                <a:tbl>
                  <a:tblPr rtl="1">
                    <a:tableStyleId>{5C22544A-7EE6-4342-B048-85BDC9FD1C3A}</a:tableStyleId>
                  </a:tblPr>
                  <a:tblGrid>
                    <a:gridCol w="2208415">
                      <a:extLst>
                        <a:ext uri="{9D8B030D-6E8A-4147-A177-3AD203B41FA5}">
                          <a16:colId xmlns:a16="http://schemas.microsoft.com/office/drawing/2014/main" val="600790024"/>
                        </a:ext>
                      </a:extLst>
                    </a:gridCol>
                    <a:gridCol w="2208415">
                      <a:extLst>
                        <a:ext uri="{9D8B030D-6E8A-4147-A177-3AD203B41FA5}">
                          <a16:colId xmlns:a16="http://schemas.microsoft.com/office/drawing/2014/main" val="242782043"/>
                        </a:ext>
                      </a:extLst>
                    </a:gridCol>
                    <a:gridCol w="2208415">
                      <a:extLst>
                        <a:ext uri="{9D8B030D-6E8A-4147-A177-3AD203B41FA5}">
                          <a16:colId xmlns:a16="http://schemas.microsoft.com/office/drawing/2014/main" val="1593596142"/>
                        </a:ext>
                      </a:extLst>
                    </a:gridCol>
                    <a:gridCol w="2208415">
                      <a:extLst>
                        <a:ext uri="{9D8B030D-6E8A-4147-A177-3AD203B41FA5}">
                          <a16:colId xmlns:a16="http://schemas.microsoft.com/office/drawing/2014/main" val="2358695530"/>
                        </a:ext>
                      </a:extLst>
                    </a:gridCol>
                  </a:tblGrid>
                  <a:tr h="957126"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طرح</a:t>
                          </a:r>
                          <a:endParaRPr lang="en-US" sz="2000" b="1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سال انتشار</a:t>
                          </a:r>
                          <a:endParaRPr lang="en-US" sz="2000" b="1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فضای پیام</a:t>
                          </a:r>
                          <a:endParaRPr lang="en-US" sz="2000" b="1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نوع هم‌ریختی</a:t>
                          </a:r>
                          <a:endParaRPr lang="en-US" sz="2000" b="1" i="0" u="none" strike="noStrike" dirty="0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extLst>
                      <a:ext uri="{0D108BD9-81ED-4DB2-BD59-A6C34878D82A}">
                        <a16:rowId xmlns:a16="http://schemas.microsoft.com/office/drawing/2014/main" val="1376703620"/>
                      </a:ext>
                    </a:extLst>
                  </a:tr>
                  <a:tr h="478563"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en-US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ElGamal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۱۹۸۵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endParaRPr lang="fa-IR"/>
                        </a:p>
                      </a:txBody>
                      <a:tcPr marL="0" marR="114300" marT="0" marB="0" anchor="ctr">
                        <a:blipFill>
                          <a:blip r:embed="rId3"/>
                          <a:stretch>
                            <a:fillRect l="-200000" t="-200000" r="-100275" b="-57468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ضربی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extLst>
                      <a:ext uri="{0D108BD9-81ED-4DB2-BD59-A6C34878D82A}">
                        <a16:rowId xmlns:a16="http://schemas.microsoft.com/office/drawing/2014/main" val="3263639753"/>
                      </a:ext>
                    </a:extLst>
                  </a:tr>
                  <a:tr h="478563"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en-US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Benaloh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۱۹۹۴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endParaRPr lang="fa-IR"/>
                        </a:p>
                      </a:txBody>
                      <a:tcPr marL="0" marR="114300" marT="0" marB="0" anchor="ctr">
                        <a:blipFill>
                          <a:blip r:embed="rId3"/>
                          <a:stretch>
                            <a:fillRect l="-200000" t="-300000" r="-100275" b="-47468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جمعی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extLst>
                      <a:ext uri="{0D108BD9-81ED-4DB2-BD59-A6C34878D82A}">
                        <a16:rowId xmlns:a16="http://schemas.microsoft.com/office/drawing/2014/main" val="3545603463"/>
                      </a:ext>
                    </a:extLst>
                  </a:tr>
                  <a:tr h="478563"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en-US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Paillier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۱۹۹۹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endParaRPr lang="fa-IR"/>
                        </a:p>
                      </a:txBody>
                      <a:tcPr marL="0" marR="114300" marT="0" marB="0" anchor="ctr">
                        <a:blipFill>
                          <a:blip r:embed="rId3"/>
                          <a:stretch>
                            <a:fillRect l="-200000" t="-405128" r="-100275" b="-3807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جمعی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extLst>
                      <a:ext uri="{0D108BD9-81ED-4DB2-BD59-A6C34878D82A}">
                        <a16:rowId xmlns:a16="http://schemas.microsoft.com/office/drawing/2014/main" val="3103313987"/>
                      </a:ext>
                    </a:extLst>
                  </a:tr>
                  <a:tr h="717844"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en-US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Damgård–Jurik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11430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۲۰۰۱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endParaRPr lang="fa-IR"/>
                        </a:p>
                      </a:txBody>
                      <a:tcPr marL="0" marR="114300" marT="0" marB="0" anchor="ctr">
                        <a:blipFill>
                          <a:blip r:embed="rId3"/>
                          <a:stretch>
                            <a:fillRect l="-200000" t="-333898" r="-100275" b="-15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جمعی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extLst>
                      <a:ext uri="{0D108BD9-81ED-4DB2-BD59-A6C34878D82A}">
                        <a16:rowId xmlns:a16="http://schemas.microsoft.com/office/drawing/2014/main" val="2653805089"/>
                      </a:ext>
                    </a:extLst>
                  </a:tr>
                  <a:tr h="1076767"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en-US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RSA (textbook)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۱۹۷۸</a:t>
                          </a:r>
                          <a:endParaRPr lang="en-US" sz="2000" b="0" i="0" u="none" strike="noStrike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tc>
                      <a:txBody>
                        <a:bodyPr/>
                        <a:lstStyle/>
                        <a:p>
                          <a:endParaRPr lang="fa-IR"/>
                        </a:p>
                      </a:txBody>
                      <a:tcPr marL="0" marR="114300" marT="0" marB="0" anchor="ctr">
                        <a:blipFill>
                          <a:blip r:embed="rId3"/>
                          <a:stretch>
                            <a:fillRect l="-200000" t="-289266" r="-100275" b="-11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1" fontAlgn="ctr">
                            <a:buNone/>
                          </a:pPr>
                          <a:r>
                            <a:rPr lang="fa-IR" sz="200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Vazir FD" charset="-78"/>
                              <a:cs typeface="Vazir FD" charset="-78"/>
                            </a:rPr>
                            <a:t>ضربی</a:t>
                          </a:r>
                          <a:endParaRPr lang="en-US" sz="20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Vazir FD" charset="-78"/>
                            <a:cs typeface="Vazir FD" charset="-78"/>
                          </a:endParaRPr>
                        </a:p>
                      </a:txBody>
                      <a:tcPr marL="0" marR="0" marT="0" marB="0" anchor="ctr"/>
                    </a:tc>
                    <a:extLst>
                      <a:ext uri="{0D108BD9-81ED-4DB2-BD59-A6C34878D82A}">
                        <a16:rowId xmlns:a16="http://schemas.microsoft.com/office/drawing/2014/main" val="410928459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6974916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2D54D-D1B6-0D54-CE7F-18B55D95C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0AC254F6-B633-127B-0CA9-C88BDFBB6FDE}"/>
              </a:ext>
            </a:extLst>
          </p:cNvPr>
          <p:cNvSpPr/>
          <p:nvPr/>
        </p:nvSpPr>
        <p:spPr>
          <a:xfrm>
            <a:off x="573692" y="357594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2A3E9CEC-92AE-0961-8D8E-08EEA1AB42B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2E555E67-EF78-AC60-6F24-701BA7FE8E82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7ED0672-AD97-B82D-B7D3-713088767799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93C997B-D4A7-460B-EED2-FADF8EB3212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2471" y="735333"/>
            <a:ext cx="9507057" cy="538733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130916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7070A9-AE05-978D-3BF0-105EDC908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8A45339-0A56-0D4A-735E-D9C956A62213}"/>
              </a:ext>
            </a:extLst>
          </p:cNvPr>
          <p:cNvSpPr/>
          <p:nvPr/>
        </p:nvSpPr>
        <p:spPr>
          <a:xfrm>
            <a:off x="573692" y="357594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3F037924-140D-938D-FB17-0722F509A8F5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FA6C56FC-FFD1-8892-3DB8-C56A5DBB4D36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4804260D-32F3-A207-8AAD-1C5EB9DAA1B5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BC1551-E23D-1DB2-A6A0-A52FF20AC74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4414" y="757887"/>
            <a:ext cx="9443171" cy="534222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384872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فصل چهارم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11927" y="3764211"/>
            <a:ext cx="8575963" cy="1201095"/>
          </a:xfrm>
        </p:spPr>
        <p:txBody>
          <a:bodyPr>
            <a:normAutofit fontScale="925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طراحی و پیاده‌سازی پروتکل تجمیع میانگین وزنی محرمانه و احرازهویت‌ شده</a:t>
            </a:r>
            <a:endParaRPr lang="fa-IR" dirty="0">
              <a:solidFill>
                <a:schemeClr val="bg1"/>
              </a:solidFill>
              <a:effectLst/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4387258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A0698-F8B2-3185-0626-9C2BA6543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1D4F708-7F2F-3290-62BF-DFF280C87C74}"/>
              </a:ext>
            </a:extLst>
          </p:cNvPr>
          <p:cNvSpPr/>
          <p:nvPr/>
        </p:nvSpPr>
        <p:spPr>
          <a:xfrm>
            <a:off x="573692" y="357594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3484ECCE-ABAA-C254-22FE-130E137EAD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60599" y="272727"/>
            <a:ext cx="10001289" cy="774676"/>
          </a:xfrm>
        </p:spPr>
        <p:txBody>
          <a:bodyPr>
            <a:noAutofit/>
          </a:bodyPr>
          <a:lstStyle/>
          <a:p>
            <a:pPr algn="r"/>
            <a:r>
              <a:rPr lang="fa-IR" sz="3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قفل محکمی ساختیم، اما کلید را زیر گلدان گذاشتیم!</a:t>
            </a: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8334658F-1A66-ECBC-A852-159B07A27666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68B2AC9B-B40B-17B0-A318-E2053EC53D91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68D26A4-9ECC-440D-12C5-F35395C0137A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" name="Freeform 6">
            <a:extLst>
              <a:ext uri="{FF2B5EF4-FFF2-40B4-BE49-F238E27FC236}">
                <a16:creationId xmlns:a16="http://schemas.microsoft.com/office/drawing/2014/main" id="{BA34256C-198D-C261-38B0-6AAE13A51957}"/>
              </a:ext>
            </a:extLst>
          </p:cNvPr>
          <p:cNvSpPr>
            <a:spLocks/>
          </p:cNvSpPr>
          <p:nvPr/>
        </p:nvSpPr>
        <p:spPr bwMode="auto">
          <a:xfrm>
            <a:off x="4240319" y="4663482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 7">
            <a:extLst>
              <a:ext uri="{FF2B5EF4-FFF2-40B4-BE49-F238E27FC236}">
                <a16:creationId xmlns:a16="http://schemas.microsoft.com/office/drawing/2014/main" id="{A29D8136-2516-B479-B802-41318CFFC423}"/>
              </a:ext>
            </a:extLst>
          </p:cNvPr>
          <p:cNvSpPr>
            <a:spLocks/>
          </p:cNvSpPr>
          <p:nvPr/>
        </p:nvSpPr>
        <p:spPr bwMode="auto">
          <a:xfrm>
            <a:off x="6561244" y="3158532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493D6CF-75D8-8B89-D1E1-B74BE9D3EE6D}"/>
              </a:ext>
            </a:extLst>
          </p:cNvPr>
          <p:cNvSpPr>
            <a:spLocks/>
          </p:cNvSpPr>
          <p:nvPr/>
        </p:nvSpPr>
        <p:spPr bwMode="auto">
          <a:xfrm>
            <a:off x="5057881" y="2290170"/>
            <a:ext cx="2325687" cy="871538"/>
          </a:xfrm>
          <a:custGeom>
            <a:avLst/>
            <a:gdLst>
              <a:gd name="T0" fmla="*/ 611 w 611"/>
              <a:gd name="T1" fmla="*/ 12 h 229"/>
              <a:gd name="T2" fmla="*/ 575 w 611"/>
              <a:gd name="T3" fmla="*/ 148 h 229"/>
              <a:gd name="T4" fmla="*/ 553 w 611"/>
              <a:gd name="T5" fmla="*/ 126 h 229"/>
              <a:gd name="T6" fmla="*/ 505 w 611"/>
              <a:gd name="T7" fmla="*/ 174 h 229"/>
              <a:gd name="T8" fmla="*/ 486 w 611"/>
              <a:gd name="T9" fmla="*/ 193 h 229"/>
              <a:gd name="T10" fmla="*/ 450 w 611"/>
              <a:gd name="T11" fmla="*/ 229 h 229"/>
              <a:gd name="T12" fmla="*/ 424 w 611"/>
              <a:gd name="T13" fmla="*/ 200 h 229"/>
              <a:gd name="T14" fmla="*/ 39 w 611"/>
              <a:gd name="T15" fmla="*/ 149 h 229"/>
              <a:gd name="T16" fmla="*/ 0 w 611"/>
              <a:gd name="T17" fmla="*/ 81 h 229"/>
              <a:gd name="T18" fmla="*/ 450 w 611"/>
              <a:gd name="T19" fmla="*/ 119 h 229"/>
              <a:gd name="T20" fmla="*/ 498 w 611"/>
              <a:gd name="T21" fmla="*/ 71 h 229"/>
              <a:gd name="T22" fmla="*/ 475 w 611"/>
              <a:gd name="T23" fmla="*/ 48 h 229"/>
              <a:gd name="T24" fmla="*/ 611 w 611"/>
              <a:gd name="T25" fmla="*/ 12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11" h="229">
                <a:moveTo>
                  <a:pt x="611" y="12"/>
                </a:moveTo>
                <a:cubicBezTo>
                  <a:pt x="575" y="148"/>
                  <a:pt x="575" y="148"/>
                  <a:pt x="575" y="148"/>
                </a:cubicBezTo>
                <a:cubicBezTo>
                  <a:pt x="553" y="126"/>
                  <a:pt x="553" y="126"/>
                  <a:pt x="553" y="126"/>
                </a:cubicBezTo>
                <a:cubicBezTo>
                  <a:pt x="505" y="174"/>
                  <a:pt x="505" y="174"/>
                  <a:pt x="505" y="174"/>
                </a:cubicBezTo>
                <a:cubicBezTo>
                  <a:pt x="486" y="193"/>
                  <a:pt x="486" y="193"/>
                  <a:pt x="486" y="193"/>
                </a:cubicBezTo>
                <a:cubicBezTo>
                  <a:pt x="450" y="229"/>
                  <a:pt x="450" y="229"/>
                  <a:pt x="450" y="229"/>
                </a:cubicBezTo>
                <a:cubicBezTo>
                  <a:pt x="442" y="219"/>
                  <a:pt x="433" y="209"/>
                  <a:pt x="424" y="200"/>
                </a:cubicBezTo>
                <a:cubicBezTo>
                  <a:pt x="320" y="96"/>
                  <a:pt x="161" y="79"/>
                  <a:pt x="39" y="149"/>
                </a:cubicBezTo>
                <a:cubicBezTo>
                  <a:pt x="0" y="81"/>
                  <a:pt x="0" y="81"/>
                  <a:pt x="0" y="81"/>
                </a:cubicBezTo>
                <a:cubicBezTo>
                  <a:pt x="141" y="0"/>
                  <a:pt x="321" y="13"/>
                  <a:pt x="450" y="119"/>
                </a:cubicBezTo>
                <a:cubicBezTo>
                  <a:pt x="498" y="71"/>
                  <a:pt x="498" y="71"/>
                  <a:pt x="498" y="71"/>
                </a:cubicBezTo>
                <a:cubicBezTo>
                  <a:pt x="475" y="48"/>
                  <a:pt x="475" y="48"/>
                  <a:pt x="475" y="48"/>
                </a:cubicBezTo>
                <a:lnTo>
                  <a:pt x="611" y="1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06846B73-D0F6-D70F-1E74-8234B8DC997F}"/>
              </a:ext>
            </a:extLst>
          </p:cNvPr>
          <p:cNvSpPr txBox="1">
            <a:spLocks/>
          </p:cNvSpPr>
          <p:nvPr/>
        </p:nvSpPr>
        <p:spPr>
          <a:xfrm>
            <a:off x="6561244" y="1959876"/>
            <a:ext cx="3253059" cy="31690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فقط می‌بیند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DCD41EE2-9900-2E26-A5CB-219E3BC0807C}"/>
              </a:ext>
            </a:extLst>
          </p:cNvPr>
          <p:cNvSpPr txBox="1">
            <a:spLocks/>
          </p:cNvSpPr>
          <p:nvPr/>
        </p:nvSpPr>
        <p:spPr>
          <a:xfrm>
            <a:off x="0" y="5357404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4DEC2329-7AC7-EE2F-4367-D9D2C7975D79}"/>
              </a:ext>
            </a:extLst>
          </p:cNvPr>
          <p:cNvSpPr txBox="1">
            <a:spLocks/>
          </p:cNvSpPr>
          <p:nvPr/>
        </p:nvSpPr>
        <p:spPr>
          <a:xfrm>
            <a:off x="7251047" y="5194488"/>
            <a:ext cx="3976254" cy="5146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امکان ارسال پیام دارد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D7B9EAB-0153-453B-6AB7-4E5A454495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5029" y="3210920"/>
            <a:ext cx="1292241" cy="129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86585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" fill="hold" grpId="0" nodeType="withEffect" p14:presetBounceEnd="67000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7" dur="1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8" dur="1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2" fill="hold" grpId="0" nodeType="withEffect" p14:presetBounceEnd="67000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11" dur="1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12" dur="1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4" fill="hold" grpId="0" nodeType="withEffect" p14:presetBounceEnd="67000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15" dur="10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16" dur="10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10" presetClass="entr" presetSubtype="0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3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5" dur="5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6" presetID="10" presetClass="entr" presetSubtype="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8" dur="25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2" grpId="0" animBg="1"/>
          <p:bldP spid="3" grpId="0" animBg="1"/>
          <p:bldP spid="8" grpId="0" animBg="1"/>
          <p:bldP spid="14" grpId="0"/>
          <p:bldP spid="15" grpId="0"/>
          <p:bldP spid="17" grpId="0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1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1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2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" dur="1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" dur="1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4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" dur="10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" dur="10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10" presetClass="entr" presetSubtype="0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3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5" dur="5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6" presetID="10" presetClass="entr" presetSubtype="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8" dur="25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2" grpId="0" animBg="1"/>
          <p:bldP spid="3" grpId="0" animBg="1"/>
          <p:bldP spid="8" grpId="0" animBg="1"/>
          <p:bldP spid="14" grpId="0"/>
          <p:bldP spid="15" grpId="0"/>
          <p:bldP spid="17" grpId="0"/>
        </p:bldLst>
      </p:timing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F8322-5BF3-6133-631B-F25064AE5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232B86D1-4155-EF90-5C96-1A50D8F40058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8DFA77D-B9BB-1AB6-9E44-5013F9C3EF3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3F32879C-C2E9-D3F4-FE53-24F717102F22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ED5EBBE-04AC-752B-918E-7A94AB160E29}"/>
              </a:ext>
            </a:extLst>
          </p:cNvPr>
          <p:cNvSpPr/>
          <p:nvPr/>
        </p:nvSpPr>
        <p:spPr>
          <a:xfrm>
            <a:off x="2445673" y="3888193"/>
            <a:ext cx="7536872" cy="2527185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 w="38100"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08888C14-6453-9FB6-AD57-A862066E5CB3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1" name="Freeform 8">
            <a:extLst>
              <a:ext uri="{FF2B5EF4-FFF2-40B4-BE49-F238E27FC236}">
                <a16:creationId xmlns:a16="http://schemas.microsoft.com/office/drawing/2014/main" id="{C8FF9129-3108-EECC-EA59-E915337C4F01}"/>
              </a:ext>
            </a:extLst>
          </p:cNvPr>
          <p:cNvSpPr>
            <a:spLocks/>
          </p:cNvSpPr>
          <p:nvPr/>
        </p:nvSpPr>
        <p:spPr bwMode="auto">
          <a:xfrm>
            <a:off x="784603" y="871746"/>
            <a:ext cx="2325687" cy="871538"/>
          </a:xfrm>
          <a:custGeom>
            <a:avLst/>
            <a:gdLst>
              <a:gd name="T0" fmla="*/ 611 w 611"/>
              <a:gd name="T1" fmla="*/ 12 h 229"/>
              <a:gd name="T2" fmla="*/ 575 w 611"/>
              <a:gd name="T3" fmla="*/ 148 h 229"/>
              <a:gd name="T4" fmla="*/ 553 w 611"/>
              <a:gd name="T5" fmla="*/ 126 h 229"/>
              <a:gd name="T6" fmla="*/ 505 w 611"/>
              <a:gd name="T7" fmla="*/ 174 h 229"/>
              <a:gd name="T8" fmla="*/ 486 w 611"/>
              <a:gd name="T9" fmla="*/ 193 h 229"/>
              <a:gd name="T10" fmla="*/ 450 w 611"/>
              <a:gd name="T11" fmla="*/ 229 h 229"/>
              <a:gd name="T12" fmla="*/ 424 w 611"/>
              <a:gd name="T13" fmla="*/ 200 h 229"/>
              <a:gd name="T14" fmla="*/ 39 w 611"/>
              <a:gd name="T15" fmla="*/ 149 h 229"/>
              <a:gd name="T16" fmla="*/ 0 w 611"/>
              <a:gd name="T17" fmla="*/ 81 h 229"/>
              <a:gd name="T18" fmla="*/ 450 w 611"/>
              <a:gd name="T19" fmla="*/ 119 h 229"/>
              <a:gd name="T20" fmla="*/ 498 w 611"/>
              <a:gd name="T21" fmla="*/ 71 h 229"/>
              <a:gd name="T22" fmla="*/ 475 w 611"/>
              <a:gd name="T23" fmla="*/ 48 h 229"/>
              <a:gd name="T24" fmla="*/ 611 w 611"/>
              <a:gd name="T25" fmla="*/ 12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11" h="229">
                <a:moveTo>
                  <a:pt x="611" y="12"/>
                </a:moveTo>
                <a:cubicBezTo>
                  <a:pt x="575" y="148"/>
                  <a:pt x="575" y="148"/>
                  <a:pt x="575" y="148"/>
                </a:cubicBezTo>
                <a:cubicBezTo>
                  <a:pt x="553" y="126"/>
                  <a:pt x="553" y="126"/>
                  <a:pt x="553" y="126"/>
                </a:cubicBezTo>
                <a:cubicBezTo>
                  <a:pt x="505" y="174"/>
                  <a:pt x="505" y="174"/>
                  <a:pt x="505" y="174"/>
                </a:cubicBezTo>
                <a:cubicBezTo>
                  <a:pt x="486" y="193"/>
                  <a:pt x="486" y="193"/>
                  <a:pt x="486" y="193"/>
                </a:cubicBezTo>
                <a:cubicBezTo>
                  <a:pt x="450" y="229"/>
                  <a:pt x="450" y="229"/>
                  <a:pt x="450" y="229"/>
                </a:cubicBezTo>
                <a:cubicBezTo>
                  <a:pt x="442" y="219"/>
                  <a:pt x="433" y="209"/>
                  <a:pt x="424" y="200"/>
                </a:cubicBezTo>
                <a:cubicBezTo>
                  <a:pt x="320" y="96"/>
                  <a:pt x="161" y="79"/>
                  <a:pt x="39" y="149"/>
                </a:cubicBezTo>
                <a:cubicBezTo>
                  <a:pt x="0" y="81"/>
                  <a:pt x="0" y="81"/>
                  <a:pt x="0" y="81"/>
                </a:cubicBezTo>
                <a:cubicBezTo>
                  <a:pt x="141" y="0"/>
                  <a:pt x="321" y="13"/>
                  <a:pt x="450" y="119"/>
                </a:cubicBezTo>
                <a:cubicBezTo>
                  <a:pt x="498" y="71"/>
                  <a:pt x="498" y="71"/>
                  <a:pt x="498" y="71"/>
                </a:cubicBezTo>
                <a:cubicBezTo>
                  <a:pt x="475" y="48"/>
                  <a:pt x="475" y="48"/>
                  <a:pt x="475" y="48"/>
                </a:cubicBezTo>
                <a:lnTo>
                  <a:pt x="611" y="1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46" name="Title 1">
            <a:extLst>
              <a:ext uri="{FF2B5EF4-FFF2-40B4-BE49-F238E27FC236}">
                <a16:creationId xmlns:a16="http://schemas.microsoft.com/office/drawing/2014/main" id="{A0DE3E51-C2E2-E8C8-A6E4-22C9463FCBCD}"/>
              </a:ext>
            </a:extLst>
          </p:cNvPr>
          <p:cNvSpPr txBox="1">
            <a:spLocks/>
          </p:cNvSpPr>
          <p:nvPr/>
        </p:nvSpPr>
        <p:spPr>
          <a:xfrm>
            <a:off x="2287966" y="541452"/>
            <a:ext cx="3253059" cy="31690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فقط می‌بیند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0D734ED-67AD-7418-C68B-669324EA2AD1}"/>
              </a:ext>
            </a:extLst>
          </p:cNvPr>
          <p:cNvSpPr txBox="1"/>
          <p:nvPr/>
        </p:nvSpPr>
        <p:spPr>
          <a:xfrm>
            <a:off x="5750991" y="552918"/>
            <a:ext cx="57088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در این حالت کانال نا امن بوده و تمام فعالیت‌ها شنود می‌شود. طرح تا اینجا از امنیت کافی برخوردار است.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6E4E8130-DEC7-6F67-799B-682C593A81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34" y="2503997"/>
            <a:ext cx="1292241" cy="1292241"/>
          </a:xfrm>
          <a:prstGeom prst="rect">
            <a:avLst/>
          </a:prstGeom>
        </p:spPr>
      </p:pic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0E4BF6D3-9106-2D97-8E5A-39A11832CCF6}"/>
              </a:ext>
            </a:extLst>
          </p:cNvPr>
          <p:cNvSpPr/>
          <p:nvPr/>
        </p:nvSpPr>
        <p:spPr>
          <a:xfrm>
            <a:off x="1108364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BB44E512-4AD4-E36B-D89E-4DCE39F66C3F}"/>
              </a:ext>
            </a:extLst>
          </p:cNvPr>
          <p:cNvSpPr/>
          <p:nvPr/>
        </p:nvSpPr>
        <p:spPr>
          <a:xfrm>
            <a:off x="2598147" y="3995140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تولید کلید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9B8D973E-348A-CA73-9E7C-5BEA53A7E549}"/>
              </a:ext>
            </a:extLst>
          </p:cNvPr>
          <p:cNvSpPr/>
          <p:nvPr/>
        </p:nvSpPr>
        <p:spPr>
          <a:xfrm>
            <a:off x="8300218" y="4857689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رمزگذاری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AC78165F-CC3B-6E7C-2353-775B2DA82276}"/>
              </a:ext>
            </a:extLst>
          </p:cNvPr>
          <p:cNvSpPr/>
          <p:nvPr/>
        </p:nvSpPr>
        <p:spPr>
          <a:xfrm>
            <a:off x="2598147" y="5879078"/>
            <a:ext cx="1538369" cy="38558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رمزگشایی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626AA9A2-0A9A-4F86-E46F-894C88347334}"/>
              </a:ext>
            </a:extLst>
          </p:cNvPr>
          <p:cNvSpPr/>
          <p:nvPr/>
        </p:nvSpPr>
        <p:spPr>
          <a:xfrm>
            <a:off x="10465762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D3D8A026-7C6E-84D7-C4D5-A8BDBFF499EC}"/>
              </a:ext>
            </a:extLst>
          </p:cNvPr>
          <p:cNvSpPr/>
          <p:nvPr/>
        </p:nvSpPr>
        <p:spPr>
          <a:xfrm>
            <a:off x="766226" y="4454579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E14939D0-83EE-4A0E-DD0A-A7DACD904946}"/>
              </a:ext>
            </a:extLst>
          </p:cNvPr>
          <p:cNvSpPr/>
          <p:nvPr/>
        </p:nvSpPr>
        <p:spPr>
          <a:xfrm>
            <a:off x="2586753" y="4501482"/>
            <a:ext cx="1538368" cy="38558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7827A142-C040-9E4E-E315-4DE9DBBA5123}"/>
              </a:ext>
            </a:extLst>
          </p:cNvPr>
          <p:cNvSpPr/>
          <p:nvPr/>
        </p:nvSpPr>
        <p:spPr>
          <a:xfrm>
            <a:off x="10056969" y="5871067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135448C5-58C4-DCCA-87CB-AD776EE803BC}"/>
              </a:ext>
            </a:extLst>
          </p:cNvPr>
          <p:cNvSpPr/>
          <p:nvPr/>
        </p:nvSpPr>
        <p:spPr>
          <a:xfrm>
            <a:off x="8300218" y="5331985"/>
            <a:ext cx="1538368" cy="38558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رمزشده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32EE1017-6217-01FB-7CF8-3FC8A675DDD8}"/>
              </a:ext>
            </a:extLst>
          </p:cNvPr>
          <p:cNvSpPr/>
          <p:nvPr/>
        </p:nvSpPr>
        <p:spPr>
          <a:xfrm>
            <a:off x="771393" y="5956862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53E14E3-9A73-0FEC-ECD8-839F0AA117D9}"/>
              </a:ext>
            </a:extLst>
          </p:cNvPr>
          <p:cNvSpPr txBox="1"/>
          <p:nvPr/>
        </p:nvSpPr>
        <p:spPr>
          <a:xfrm>
            <a:off x="5750991" y="1324614"/>
            <a:ext cx="57088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امنیت این سناریو وابسته به امنیت اسکیم رمزنگاری  و تبادل کلید ما است.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6649862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00"/>
                            </p:stCondLst>
                            <p:childTnLst>
                              <p:par>
                                <p:cTn id="4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-7.40741E-7 L 0.46589 -0.00718 " pathEditMode="relative" rAng="0" ptsTypes="AA">
                                      <p:cBhvr>
                                        <p:cTn id="42" dur="2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294" y="-3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4000"/>
                            </p:stCondLst>
                            <p:childTnLst>
                              <p:par>
                                <p:cTn id="52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 L -0.47109 0.00138 " pathEditMode="relative" rAng="0" ptsTypes="AA">
                                      <p:cBhvr>
                                        <p:cTn id="53" dur="2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3542" y="-53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600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6500"/>
                            </p:stCondLst>
                            <p:childTnLst>
                              <p:par>
                                <p:cTn id="5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49" grpId="0"/>
      <p:bldP spid="52" grpId="0" animBg="1"/>
      <p:bldP spid="54" grpId="0" animBg="1"/>
      <p:bldP spid="56" grpId="0" animBg="1"/>
      <p:bldP spid="58" grpId="0" animBg="1"/>
      <p:bldP spid="60" grpId="0" animBg="1"/>
      <p:bldP spid="64" grpId="0" animBg="1"/>
      <p:bldP spid="65" grpId="0" animBg="1"/>
      <p:bldP spid="65" grpId="1" animBg="1"/>
      <p:bldP spid="67" grpId="0" animBg="1"/>
      <p:bldP spid="68" grpId="0" animBg="1"/>
      <p:bldP spid="68" grpId="1" animBg="1"/>
      <p:bldP spid="69" grpId="0" animBg="1"/>
      <p:bldP spid="70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35A76-850F-B489-80F6-B51B5E48C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D1D8B86-E1C2-B130-1511-FF396D85892B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5E7E6C28-4FD3-5126-45E5-9EF3B2FBC236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3B07F54F-637D-305D-2963-2F857D5347BC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7BCB2FBC-52C7-405D-910A-D69943A4B800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" name="Freeform 6">
            <a:extLst>
              <a:ext uri="{FF2B5EF4-FFF2-40B4-BE49-F238E27FC236}">
                <a16:creationId xmlns:a16="http://schemas.microsoft.com/office/drawing/2014/main" id="{68B04A5F-FD29-A56D-A240-28ED5F624FE7}"/>
              </a:ext>
            </a:extLst>
          </p:cNvPr>
          <p:cNvSpPr>
            <a:spLocks/>
          </p:cNvSpPr>
          <p:nvPr/>
        </p:nvSpPr>
        <p:spPr bwMode="auto">
          <a:xfrm>
            <a:off x="4240319" y="4663482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 7">
            <a:extLst>
              <a:ext uri="{FF2B5EF4-FFF2-40B4-BE49-F238E27FC236}">
                <a16:creationId xmlns:a16="http://schemas.microsoft.com/office/drawing/2014/main" id="{8924E8C2-B446-DDFF-2C16-C2DFF9DD18C5}"/>
              </a:ext>
            </a:extLst>
          </p:cNvPr>
          <p:cNvSpPr>
            <a:spLocks/>
          </p:cNvSpPr>
          <p:nvPr/>
        </p:nvSpPr>
        <p:spPr bwMode="auto">
          <a:xfrm>
            <a:off x="6561244" y="3158532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90D996F-6953-F97E-3F0B-3A701B516561}"/>
              </a:ext>
            </a:extLst>
          </p:cNvPr>
          <p:cNvSpPr>
            <a:spLocks/>
          </p:cNvSpPr>
          <p:nvPr/>
        </p:nvSpPr>
        <p:spPr bwMode="auto">
          <a:xfrm>
            <a:off x="5057881" y="2290170"/>
            <a:ext cx="2325687" cy="871538"/>
          </a:xfrm>
          <a:custGeom>
            <a:avLst/>
            <a:gdLst>
              <a:gd name="T0" fmla="*/ 611 w 611"/>
              <a:gd name="T1" fmla="*/ 12 h 229"/>
              <a:gd name="T2" fmla="*/ 575 w 611"/>
              <a:gd name="T3" fmla="*/ 148 h 229"/>
              <a:gd name="T4" fmla="*/ 553 w 611"/>
              <a:gd name="T5" fmla="*/ 126 h 229"/>
              <a:gd name="T6" fmla="*/ 505 w 611"/>
              <a:gd name="T7" fmla="*/ 174 h 229"/>
              <a:gd name="T8" fmla="*/ 486 w 611"/>
              <a:gd name="T9" fmla="*/ 193 h 229"/>
              <a:gd name="T10" fmla="*/ 450 w 611"/>
              <a:gd name="T11" fmla="*/ 229 h 229"/>
              <a:gd name="T12" fmla="*/ 424 w 611"/>
              <a:gd name="T13" fmla="*/ 200 h 229"/>
              <a:gd name="T14" fmla="*/ 39 w 611"/>
              <a:gd name="T15" fmla="*/ 149 h 229"/>
              <a:gd name="T16" fmla="*/ 0 w 611"/>
              <a:gd name="T17" fmla="*/ 81 h 229"/>
              <a:gd name="T18" fmla="*/ 450 w 611"/>
              <a:gd name="T19" fmla="*/ 119 h 229"/>
              <a:gd name="T20" fmla="*/ 498 w 611"/>
              <a:gd name="T21" fmla="*/ 71 h 229"/>
              <a:gd name="T22" fmla="*/ 475 w 611"/>
              <a:gd name="T23" fmla="*/ 48 h 229"/>
              <a:gd name="T24" fmla="*/ 611 w 611"/>
              <a:gd name="T25" fmla="*/ 12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11" h="229">
                <a:moveTo>
                  <a:pt x="611" y="12"/>
                </a:moveTo>
                <a:cubicBezTo>
                  <a:pt x="575" y="148"/>
                  <a:pt x="575" y="148"/>
                  <a:pt x="575" y="148"/>
                </a:cubicBezTo>
                <a:cubicBezTo>
                  <a:pt x="553" y="126"/>
                  <a:pt x="553" y="126"/>
                  <a:pt x="553" y="126"/>
                </a:cubicBezTo>
                <a:cubicBezTo>
                  <a:pt x="505" y="174"/>
                  <a:pt x="505" y="174"/>
                  <a:pt x="505" y="174"/>
                </a:cubicBezTo>
                <a:cubicBezTo>
                  <a:pt x="486" y="193"/>
                  <a:pt x="486" y="193"/>
                  <a:pt x="486" y="193"/>
                </a:cubicBezTo>
                <a:cubicBezTo>
                  <a:pt x="450" y="229"/>
                  <a:pt x="450" y="229"/>
                  <a:pt x="450" y="229"/>
                </a:cubicBezTo>
                <a:cubicBezTo>
                  <a:pt x="442" y="219"/>
                  <a:pt x="433" y="209"/>
                  <a:pt x="424" y="200"/>
                </a:cubicBezTo>
                <a:cubicBezTo>
                  <a:pt x="320" y="96"/>
                  <a:pt x="161" y="79"/>
                  <a:pt x="39" y="149"/>
                </a:cubicBezTo>
                <a:cubicBezTo>
                  <a:pt x="0" y="81"/>
                  <a:pt x="0" y="81"/>
                  <a:pt x="0" y="81"/>
                </a:cubicBezTo>
                <a:cubicBezTo>
                  <a:pt x="141" y="0"/>
                  <a:pt x="321" y="13"/>
                  <a:pt x="450" y="119"/>
                </a:cubicBezTo>
                <a:cubicBezTo>
                  <a:pt x="498" y="71"/>
                  <a:pt x="498" y="71"/>
                  <a:pt x="498" y="71"/>
                </a:cubicBezTo>
                <a:cubicBezTo>
                  <a:pt x="475" y="48"/>
                  <a:pt x="475" y="48"/>
                  <a:pt x="475" y="48"/>
                </a:cubicBezTo>
                <a:lnTo>
                  <a:pt x="611" y="1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BA25A369-6741-3A69-E632-9C3E35520CE7}"/>
              </a:ext>
            </a:extLst>
          </p:cNvPr>
          <p:cNvSpPr txBox="1">
            <a:spLocks/>
          </p:cNvSpPr>
          <p:nvPr/>
        </p:nvSpPr>
        <p:spPr>
          <a:xfrm>
            <a:off x="6561244" y="1959876"/>
            <a:ext cx="3253059" cy="31690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فقط می‌بیند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F4A50545-7A5A-F601-3D8F-D488DDCF9E0C}"/>
              </a:ext>
            </a:extLst>
          </p:cNvPr>
          <p:cNvSpPr txBox="1">
            <a:spLocks/>
          </p:cNvSpPr>
          <p:nvPr/>
        </p:nvSpPr>
        <p:spPr>
          <a:xfrm>
            <a:off x="0" y="5357404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294A4E66-45E5-EDFA-C735-E038C7465DBF}"/>
              </a:ext>
            </a:extLst>
          </p:cNvPr>
          <p:cNvSpPr txBox="1">
            <a:spLocks/>
          </p:cNvSpPr>
          <p:nvPr/>
        </p:nvSpPr>
        <p:spPr>
          <a:xfrm>
            <a:off x="7251047" y="5194488"/>
            <a:ext cx="3976254" cy="5146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امکان ارسال پیام دارد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18881C8-3F62-2AE9-1612-8A542E7C9B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5029" y="3210920"/>
            <a:ext cx="1292241" cy="129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6885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AA73B-75A8-2F50-AECF-CBED619C2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4C6026A4-8A6D-EC9E-C71F-0332C3501C2F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001E7E11-2870-42B9-0FE6-39722727EB1B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A69B3AEA-E44F-DD9C-F091-6AE87712995B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98DEF19-6DB3-2D84-3A5D-F3D08965FDC3}"/>
              </a:ext>
            </a:extLst>
          </p:cNvPr>
          <p:cNvSpPr/>
          <p:nvPr/>
        </p:nvSpPr>
        <p:spPr>
          <a:xfrm>
            <a:off x="2445673" y="3888193"/>
            <a:ext cx="7536872" cy="2527185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 w="38100"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FD8C2EE2-40CC-A878-A867-316A2C190600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4BF8B9-8790-E5DE-8CC0-22407636B185}"/>
              </a:ext>
            </a:extLst>
          </p:cNvPr>
          <p:cNvSpPr txBox="1"/>
          <p:nvPr/>
        </p:nvSpPr>
        <p:spPr>
          <a:xfrm>
            <a:off x="4765964" y="552918"/>
            <a:ext cx="66938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نیروی متخاصم با رصد کانال و دریافت کلید عمومی می‌تواند مقادیر دلخواه خود را رمزگذاری کرده و برای سرور ارسال کند.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284B1F8A-D3B0-0112-3639-F73F2E81D3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34" y="2503997"/>
            <a:ext cx="1292241" cy="1292241"/>
          </a:xfrm>
          <a:prstGeom prst="rect">
            <a:avLst/>
          </a:prstGeom>
        </p:spPr>
      </p:pic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18509FEA-2FB2-75A8-176E-FAA5CD6D43BF}"/>
              </a:ext>
            </a:extLst>
          </p:cNvPr>
          <p:cNvSpPr/>
          <p:nvPr/>
        </p:nvSpPr>
        <p:spPr>
          <a:xfrm>
            <a:off x="1108364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8811D2FF-829A-8115-B78A-0E49A0B697FF}"/>
              </a:ext>
            </a:extLst>
          </p:cNvPr>
          <p:cNvSpPr/>
          <p:nvPr/>
        </p:nvSpPr>
        <p:spPr>
          <a:xfrm>
            <a:off x="2598147" y="3995140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تولید کلید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91AD488C-B5CD-96BA-8AD1-7A40FF581601}"/>
              </a:ext>
            </a:extLst>
          </p:cNvPr>
          <p:cNvSpPr/>
          <p:nvPr/>
        </p:nvSpPr>
        <p:spPr>
          <a:xfrm>
            <a:off x="8300218" y="4857689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رمزگذاری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C099E2DC-D8BF-4D53-FDBE-CD5B18BE2985}"/>
              </a:ext>
            </a:extLst>
          </p:cNvPr>
          <p:cNvSpPr/>
          <p:nvPr/>
        </p:nvSpPr>
        <p:spPr>
          <a:xfrm>
            <a:off x="2598147" y="5879078"/>
            <a:ext cx="1538369" cy="38558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رمزگشایی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873D18D3-3A5C-AAFF-FE02-EE3AC02D3B2F}"/>
              </a:ext>
            </a:extLst>
          </p:cNvPr>
          <p:cNvSpPr/>
          <p:nvPr/>
        </p:nvSpPr>
        <p:spPr>
          <a:xfrm>
            <a:off x="10465762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80E993CA-E55D-07B4-4349-F8F5A3DD947E}"/>
              </a:ext>
            </a:extLst>
          </p:cNvPr>
          <p:cNvSpPr/>
          <p:nvPr/>
        </p:nvSpPr>
        <p:spPr>
          <a:xfrm>
            <a:off x="766226" y="4454579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744777E7-E649-1EE7-64F6-EF04FBFADE3B}"/>
              </a:ext>
            </a:extLst>
          </p:cNvPr>
          <p:cNvSpPr/>
          <p:nvPr/>
        </p:nvSpPr>
        <p:spPr>
          <a:xfrm>
            <a:off x="2586753" y="4501482"/>
            <a:ext cx="1538368" cy="38558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FE3E80A7-C54C-7F1A-5C43-08A9E1B8FC52}"/>
              </a:ext>
            </a:extLst>
          </p:cNvPr>
          <p:cNvSpPr/>
          <p:nvPr/>
        </p:nvSpPr>
        <p:spPr>
          <a:xfrm>
            <a:off x="10056969" y="5871067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FC9004D0-B283-BF41-4BE0-E2C912779A3B}"/>
              </a:ext>
            </a:extLst>
          </p:cNvPr>
          <p:cNvSpPr/>
          <p:nvPr/>
        </p:nvSpPr>
        <p:spPr>
          <a:xfrm>
            <a:off x="5326816" y="3682872"/>
            <a:ext cx="1538368" cy="385584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رمزشده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36930C9E-7286-8155-B4D4-1319AE4DC437}"/>
              </a:ext>
            </a:extLst>
          </p:cNvPr>
          <p:cNvSpPr/>
          <p:nvPr/>
        </p:nvSpPr>
        <p:spPr>
          <a:xfrm>
            <a:off x="771393" y="5956862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خصمانه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AC4FD7A-2AFE-2A06-E889-419FC5F0B87B}"/>
              </a:ext>
            </a:extLst>
          </p:cNvPr>
          <p:cNvSpPr txBox="1"/>
          <p:nvPr/>
        </p:nvSpPr>
        <p:spPr>
          <a:xfrm>
            <a:off x="5432283" y="1324614"/>
            <a:ext cx="60275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می‌بایست ساختاری به منظور اهراز هویت پیام انجام شود تا از صحت اطلاعات ارسالی اطمینان حاصل شود.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3" name="Freeform 7">
            <a:extLst>
              <a:ext uri="{FF2B5EF4-FFF2-40B4-BE49-F238E27FC236}">
                <a16:creationId xmlns:a16="http://schemas.microsoft.com/office/drawing/2014/main" id="{76D268CF-032B-CC7C-EE48-84A557201A9A}"/>
              </a:ext>
            </a:extLst>
          </p:cNvPr>
          <p:cNvSpPr>
            <a:spLocks/>
          </p:cNvSpPr>
          <p:nvPr/>
        </p:nvSpPr>
        <p:spPr bwMode="auto">
          <a:xfrm>
            <a:off x="766226" y="515055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63B0E35-93B5-A193-51C9-9BFCD66EC27A}"/>
              </a:ext>
            </a:extLst>
          </p:cNvPr>
          <p:cNvSpPr txBox="1">
            <a:spLocks/>
          </p:cNvSpPr>
          <p:nvPr/>
        </p:nvSpPr>
        <p:spPr>
          <a:xfrm>
            <a:off x="1456029" y="2551011"/>
            <a:ext cx="3976254" cy="5146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امکان ارسال پیام دارد</a:t>
            </a:r>
          </a:p>
        </p:txBody>
      </p:sp>
    </p:spTree>
    <p:extLst>
      <p:ext uri="{BB962C8B-B14F-4D97-AF65-F5344CB8AC3E}">
        <p14:creationId xmlns:p14="http://schemas.microsoft.com/office/powerpoint/2010/main" val="17250277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00"/>
                            </p:stCondLst>
                            <p:childTnLst>
                              <p:par>
                                <p:cTn id="4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-7.40741E-7 L 0.10599 -0.20764 " pathEditMode="relative" rAng="0" ptsTypes="AA">
                                      <p:cBhvr>
                                        <p:cTn id="42" dur="2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299" y="-1039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7 -2.59259E-6 L -0.12109 -0.23634 " pathEditMode="relative" rAng="0" ptsTypes="AA">
                                      <p:cBhvr>
                                        <p:cTn id="49" dur="2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055" y="-118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500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6000"/>
                            </p:stCondLst>
                            <p:childTnLst>
                              <p:par>
                                <p:cTn id="55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 L -0.22279 0.24421 " pathEditMode="relative" rAng="0" ptsTypes="AA">
                                      <p:cBhvr>
                                        <p:cTn id="56" dur="2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133" y="1162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8000"/>
                            </p:stCondLst>
                            <p:childTnLst>
                              <p:par>
                                <p:cTn id="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85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49" grpId="0"/>
      <p:bldP spid="52" grpId="0" animBg="1"/>
      <p:bldP spid="54" grpId="0" animBg="1"/>
      <p:bldP spid="56" grpId="0" animBg="1"/>
      <p:bldP spid="56" grpId="1" animBg="1"/>
      <p:bldP spid="58" grpId="0" animBg="1"/>
      <p:bldP spid="60" grpId="0" animBg="1"/>
      <p:bldP spid="64" grpId="0" animBg="1"/>
      <p:bldP spid="65" grpId="0" animBg="1"/>
      <p:bldP spid="65" grpId="1" animBg="1"/>
      <p:bldP spid="67" grpId="0" animBg="1"/>
      <p:bldP spid="68" grpId="0" animBg="1"/>
      <p:bldP spid="68" grpId="1" animBg="1"/>
      <p:bldP spid="69" grpId="0" animBg="1"/>
      <p:bldP spid="70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D1E72-8FDE-33BC-C714-7FD257AFC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7AC9A753-84AA-D361-DD76-A6561A463A2D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BBAEFC29-EE18-55E7-A892-E5266F7441DE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E5EC7797-F46B-C18F-3F23-3F50B7A938A3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699124B-0F20-285A-0B93-2023EDAC95C3}"/>
              </a:ext>
            </a:extLst>
          </p:cNvPr>
          <p:cNvSpPr/>
          <p:nvPr/>
        </p:nvSpPr>
        <p:spPr>
          <a:xfrm>
            <a:off x="2445673" y="3888193"/>
            <a:ext cx="7536872" cy="2527185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 w="38100"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473C10A3-E14D-FDF3-F78A-E8BB1CFA6CEC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9CEA4E1B-FC69-B29A-8824-2B9B751997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34" y="2503997"/>
            <a:ext cx="1292241" cy="1292241"/>
          </a:xfrm>
          <a:prstGeom prst="rect">
            <a:avLst/>
          </a:prstGeom>
        </p:spPr>
      </p:pic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A5594683-C372-CE47-2F55-8F37299249BD}"/>
              </a:ext>
            </a:extLst>
          </p:cNvPr>
          <p:cNvSpPr/>
          <p:nvPr/>
        </p:nvSpPr>
        <p:spPr>
          <a:xfrm>
            <a:off x="1108364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3E6313BA-8F54-C1BF-4A32-9B032A0BEF0C}"/>
              </a:ext>
            </a:extLst>
          </p:cNvPr>
          <p:cNvSpPr/>
          <p:nvPr/>
        </p:nvSpPr>
        <p:spPr>
          <a:xfrm>
            <a:off x="2598147" y="3995140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تولید کلید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BE66616-44CB-5547-D4C8-EB35FA99F1E2}"/>
              </a:ext>
            </a:extLst>
          </p:cNvPr>
          <p:cNvSpPr/>
          <p:nvPr/>
        </p:nvSpPr>
        <p:spPr>
          <a:xfrm>
            <a:off x="8300218" y="4857689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رمزگذاری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2C9B657D-BE30-F666-9250-1E13F4B5864E}"/>
              </a:ext>
            </a:extLst>
          </p:cNvPr>
          <p:cNvSpPr/>
          <p:nvPr/>
        </p:nvSpPr>
        <p:spPr>
          <a:xfrm>
            <a:off x="2598147" y="5879078"/>
            <a:ext cx="1538369" cy="38558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رمزگشایی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DC7C527C-60A0-7537-14EF-1CA93F167280}"/>
              </a:ext>
            </a:extLst>
          </p:cNvPr>
          <p:cNvSpPr/>
          <p:nvPr/>
        </p:nvSpPr>
        <p:spPr>
          <a:xfrm>
            <a:off x="10465762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E02EE3A9-2068-F7F5-6D5E-0807A879C691}"/>
              </a:ext>
            </a:extLst>
          </p:cNvPr>
          <p:cNvSpPr/>
          <p:nvPr/>
        </p:nvSpPr>
        <p:spPr>
          <a:xfrm>
            <a:off x="766226" y="4454579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DAC1708B-FF55-3DCA-89BD-AF96F618F8BA}"/>
              </a:ext>
            </a:extLst>
          </p:cNvPr>
          <p:cNvSpPr/>
          <p:nvPr/>
        </p:nvSpPr>
        <p:spPr>
          <a:xfrm>
            <a:off x="10056969" y="5871067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43AA77CF-7CF0-492D-F16C-D4D65355EBE0}"/>
              </a:ext>
            </a:extLst>
          </p:cNvPr>
          <p:cNvSpPr/>
          <p:nvPr/>
        </p:nvSpPr>
        <p:spPr>
          <a:xfrm>
            <a:off x="771393" y="5956862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" name="Freeform 7">
            <a:extLst>
              <a:ext uri="{FF2B5EF4-FFF2-40B4-BE49-F238E27FC236}">
                <a16:creationId xmlns:a16="http://schemas.microsoft.com/office/drawing/2014/main" id="{DE45BD66-753B-5D91-4A3F-5E57F053696E}"/>
              </a:ext>
            </a:extLst>
          </p:cNvPr>
          <p:cNvSpPr>
            <a:spLocks/>
          </p:cNvSpPr>
          <p:nvPr/>
        </p:nvSpPr>
        <p:spPr bwMode="auto">
          <a:xfrm>
            <a:off x="766226" y="515055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56C518B-5C54-3ABC-3E91-DC23E1618926}"/>
              </a:ext>
            </a:extLst>
          </p:cNvPr>
          <p:cNvSpPr txBox="1">
            <a:spLocks/>
          </p:cNvSpPr>
          <p:nvPr/>
        </p:nvSpPr>
        <p:spPr>
          <a:xfrm>
            <a:off x="1456029" y="2551011"/>
            <a:ext cx="3976254" cy="5146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امکان ارسال پیام دارد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3AF4933-7214-2546-907D-A91CFF4D9A8A}"/>
              </a:ext>
            </a:extLst>
          </p:cNvPr>
          <p:cNvSpPr/>
          <p:nvPr/>
        </p:nvSpPr>
        <p:spPr>
          <a:xfrm>
            <a:off x="2586753" y="4501482"/>
            <a:ext cx="1538368" cy="38558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6E464F8-E345-945E-1244-029436FE88B8}"/>
              </a:ext>
            </a:extLst>
          </p:cNvPr>
          <p:cNvSpPr/>
          <p:nvPr/>
        </p:nvSpPr>
        <p:spPr>
          <a:xfrm>
            <a:off x="8300219" y="5703053"/>
            <a:ext cx="1538368" cy="336527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رمزشده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D95154A-12AC-E1AF-0109-699D595E0109}"/>
              </a:ext>
            </a:extLst>
          </p:cNvPr>
          <p:cNvSpPr/>
          <p:nvPr/>
        </p:nvSpPr>
        <p:spPr>
          <a:xfrm>
            <a:off x="8300218" y="5274571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امضا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729CC4A-5191-1760-0F5C-40C789A9DE67}"/>
              </a:ext>
            </a:extLst>
          </p:cNvPr>
          <p:cNvSpPr/>
          <p:nvPr/>
        </p:nvSpPr>
        <p:spPr>
          <a:xfrm>
            <a:off x="8300218" y="6063199"/>
            <a:ext cx="1538368" cy="326741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امضاع 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68829BB-EEFB-F2AB-C676-DBE0D2AFDACF}"/>
              </a:ext>
            </a:extLst>
          </p:cNvPr>
          <p:cNvSpPr/>
          <p:nvPr/>
        </p:nvSpPr>
        <p:spPr>
          <a:xfrm>
            <a:off x="5326815" y="4958682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</a:t>
            </a:r>
            <a:r>
              <a:rPr lang="en-US" sz="1400" dirty="0">
                <a:latin typeface="Vazir Light FD" panose="020B0604020202020204" charset="-78"/>
                <a:cs typeface="Vazir Light FD" panose="020B0604020202020204" charset="-78"/>
              </a:rPr>
              <a:t>verify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67ED9E6-B1B3-8697-73BC-DF3D18E5D997}"/>
              </a:ext>
            </a:extLst>
          </p:cNvPr>
          <p:cNvSpPr txBox="1"/>
          <p:nvPr/>
        </p:nvSpPr>
        <p:spPr>
          <a:xfrm>
            <a:off x="4765964" y="552918"/>
            <a:ext cx="66938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نیروی متخاصم با رصد کانال و دریافت کلید عمومی می‌تواند مقادیر دلخواه خود را رمزگذاری کرده و برای سرور ارسال کند.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05B9D8C-F98A-1DF8-E7BA-8F7CBAC52F0D}"/>
              </a:ext>
            </a:extLst>
          </p:cNvPr>
          <p:cNvSpPr txBox="1"/>
          <p:nvPr/>
        </p:nvSpPr>
        <p:spPr>
          <a:xfrm>
            <a:off x="5432283" y="1324614"/>
            <a:ext cx="60275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می‌بایست ساختاری به منظور اهراز هویت پیام انجام شود تا از صحت اطلاعات ارسالی اطمینان حاصل شود.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2F513A5-9640-D6D1-1E94-4CBB0B031E29}"/>
              </a:ext>
            </a:extLst>
          </p:cNvPr>
          <p:cNvSpPr txBox="1"/>
          <p:nvPr/>
        </p:nvSpPr>
        <p:spPr>
          <a:xfrm>
            <a:off x="5406433" y="2082882"/>
            <a:ext cx="60275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تنها در صورت احراز هویت توسط الگوریتم </a:t>
            </a:r>
            <a:r>
              <a:rPr lang="en-US" sz="2000" dirty="0">
                <a:latin typeface="Shabnam" panose="020B0603030804020204" pitchFamily="34" charset="-78"/>
                <a:cs typeface="Shabnam" panose="020B0603030804020204" pitchFamily="34" charset="-78"/>
              </a:rPr>
              <a:t>verify</a:t>
            </a:r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 پیام رمزشده مورد قبول سرور واقع خواهد شد.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0049856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-7.40741E-7 L 0.46901 -0.0125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451" y="-6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000"/>
                            </p:stCondLst>
                            <p:childTnLst>
                              <p:par>
                                <p:cTn id="16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 L -0.24388 -0.04908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188" y="-30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35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1 L -0.24388 -0.05069 " pathEditMode="relative" rAng="0" ptsTypes="AA">
                                      <p:cBhvr>
                                        <p:cTn id="23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188" y="-31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7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500"/>
                            </p:stCondLst>
                            <p:childTnLst>
                              <p:par>
                                <p:cTn id="29" presetID="35" presetClass="path" presetSubtype="0" accel="50000" decel="50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24388 -0.04908 L -0.46888 -0.03264 " pathEditMode="relative" rAng="0" ptsTypes="AA">
                                      <p:cBhvr>
                                        <p:cTn id="30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250" y="81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9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 animBg="1"/>
      <p:bldP spid="10" grpId="0" animBg="1"/>
      <p:bldP spid="10" grpId="1" animBg="1"/>
      <p:bldP spid="11" grpId="0" animBg="1"/>
      <p:bldP spid="11" grpId="1" animBg="1"/>
      <p:bldP spid="11" grpId="2" animBg="1"/>
      <p:bldP spid="14" grpId="0" animBg="1"/>
      <p:bldP spid="14" grpId="1" animBg="1"/>
      <p:bldP spid="16" grpId="0" animBg="1"/>
      <p:bldP spid="23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CD4C9-2209-11BC-352C-AFD061F68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7C8FABA-5665-3A5C-6290-F6C041192ECE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2FE351DF-0EB3-041E-1F94-F666B2222199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33E50BDF-5AA2-391D-E834-41CEBE15A1C2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B93101FD-64FD-803E-7E4A-3482031DBCF3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" name="Freeform 6">
            <a:extLst>
              <a:ext uri="{FF2B5EF4-FFF2-40B4-BE49-F238E27FC236}">
                <a16:creationId xmlns:a16="http://schemas.microsoft.com/office/drawing/2014/main" id="{79D723FD-A7A0-DFB0-C973-10E0D5F8828C}"/>
              </a:ext>
            </a:extLst>
          </p:cNvPr>
          <p:cNvSpPr>
            <a:spLocks/>
          </p:cNvSpPr>
          <p:nvPr/>
        </p:nvSpPr>
        <p:spPr bwMode="auto">
          <a:xfrm>
            <a:off x="4240319" y="4663482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 7">
            <a:extLst>
              <a:ext uri="{FF2B5EF4-FFF2-40B4-BE49-F238E27FC236}">
                <a16:creationId xmlns:a16="http://schemas.microsoft.com/office/drawing/2014/main" id="{BA768326-B21C-436C-459D-3564D77B2077}"/>
              </a:ext>
            </a:extLst>
          </p:cNvPr>
          <p:cNvSpPr>
            <a:spLocks/>
          </p:cNvSpPr>
          <p:nvPr/>
        </p:nvSpPr>
        <p:spPr bwMode="auto">
          <a:xfrm>
            <a:off x="6561244" y="3158532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D4672C86-2968-2713-BDC3-CF004534F59A}"/>
              </a:ext>
            </a:extLst>
          </p:cNvPr>
          <p:cNvSpPr>
            <a:spLocks/>
          </p:cNvSpPr>
          <p:nvPr/>
        </p:nvSpPr>
        <p:spPr bwMode="auto">
          <a:xfrm>
            <a:off x="5057881" y="2290170"/>
            <a:ext cx="2325687" cy="871538"/>
          </a:xfrm>
          <a:custGeom>
            <a:avLst/>
            <a:gdLst>
              <a:gd name="T0" fmla="*/ 611 w 611"/>
              <a:gd name="T1" fmla="*/ 12 h 229"/>
              <a:gd name="T2" fmla="*/ 575 w 611"/>
              <a:gd name="T3" fmla="*/ 148 h 229"/>
              <a:gd name="T4" fmla="*/ 553 w 611"/>
              <a:gd name="T5" fmla="*/ 126 h 229"/>
              <a:gd name="T6" fmla="*/ 505 w 611"/>
              <a:gd name="T7" fmla="*/ 174 h 229"/>
              <a:gd name="T8" fmla="*/ 486 w 611"/>
              <a:gd name="T9" fmla="*/ 193 h 229"/>
              <a:gd name="T10" fmla="*/ 450 w 611"/>
              <a:gd name="T11" fmla="*/ 229 h 229"/>
              <a:gd name="T12" fmla="*/ 424 w 611"/>
              <a:gd name="T13" fmla="*/ 200 h 229"/>
              <a:gd name="T14" fmla="*/ 39 w 611"/>
              <a:gd name="T15" fmla="*/ 149 h 229"/>
              <a:gd name="T16" fmla="*/ 0 w 611"/>
              <a:gd name="T17" fmla="*/ 81 h 229"/>
              <a:gd name="T18" fmla="*/ 450 w 611"/>
              <a:gd name="T19" fmla="*/ 119 h 229"/>
              <a:gd name="T20" fmla="*/ 498 w 611"/>
              <a:gd name="T21" fmla="*/ 71 h 229"/>
              <a:gd name="T22" fmla="*/ 475 w 611"/>
              <a:gd name="T23" fmla="*/ 48 h 229"/>
              <a:gd name="T24" fmla="*/ 611 w 611"/>
              <a:gd name="T25" fmla="*/ 12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11" h="229">
                <a:moveTo>
                  <a:pt x="611" y="12"/>
                </a:moveTo>
                <a:cubicBezTo>
                  <a:pt x="575" y="148"/>
                  <a:pt x="575" y="148"/>
                  <a:pt x="575" y="148"/>
                </a:cubicBezTo>
                <a:cubicBezTo>
                  <a:pt x="553" y="126"/>
                  <a:pt x="553" y="126"/>
                  <a:pt x="553" y="126"/>
                </a:cubicBezTo>
                <a:cubicBezTo>
                  <a:pt x="505" y="174"/>
                  <a:pt x="505" y="174"/>
                  <a:pt x="505" y="174"/>
                </a:cubicBezTo>
                <a:cubicBezTo>
                  <a:pt x="486" y="193"/>
                  <a:pt x="486" y="193"/>
                  <a:pt x="486" y="193"/>
                </a:cubicBezTo>
                <a:cubicBezTo>
                  <a:pt x="450" y="229"/>
                  <a:pt x="450" y="229"/>
                  <a:pt x="450" y="229"/>
                </a:cubicBezTo>
                <a:cubicBezTo>
                  <a:pt x="442" y="219"/>
                  <a:pt x="433" y="209"/>
                  <a:pt x="424" y="200"/>
                </a:cubicBezTo>
                <a:cubicBezTo>
                  <a:pt x="320" y="96"/>
                  <a:pt x="161" y="79"/>
                  <a:pt x="39" y="149"/>
                </a:cubicBezTo>
                <a:cubicBezTo>
                  <a:pt x="0" y="81"/>
                  <a:pt x="0" y="81"/>
                  <a:pt x="0" y="81"/>
                </a:cubicBezTo>
                <a:cubicBezTo>
                  <a:pt x="141" y="0"/>
                  <a:pt x="321" y="13"/>
                  <a:pt x="450" y="119"/>
                </a:cubicBezTo>
                <a:cubicBezTo>
                  <a:pt x="498" y="71"/>
                  <a:pt x="498" y="71"/>
                  <a:pt x="498" y="71"/>
                </a:cubicBezTo>
                <a:cubicBezTo>
                  <a:pt x="475" y="48"/>
                  <a:pt x="475" y="48"/>
                  <a:pt x="475" y="48"/>
                </a:cubicBezTo>
                <a:lnTo>
                  <a:pt x="611" y="1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45727B59-B65E-DF5B-91D2-491A66D862AD}"/>
              </a:ext>
            </a:extLst>
          </p:cNvPr>
          <p:cNvSpPr txBox="1">
            <a:spLocks/>
          </p:cNvSpPr>
          <p:nvPr/>
        </p:nvSpPr>
        <p:spPr>
          <a:xfrm>
            <a:off x="6561244" y="1959876"/>
            <a:ext cx="3253059" cy="31690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فقط می‌بیند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F82DA73A-EBD9-B7D8-BDD9-157CB1F49963}"/>
              </a:ext>
            </a:extLst>
          </p:cNvPr>
          <p:cNvSpPr txBox="1">
            <a:spLocks/>
          </p:cNvSpPr>
          <p:nvPr/>
        </p:nvSpPr>
        <p:spPr>
          <a:xfrm>
            <a:off x="0" y="5357404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443C6200-21F9-63FC-FDBC-C1C7B29AE912}"/>
              </a:ext>
            </a:extLst>
          </p:cNvPr>
          <p:cNvSpPr txBox="1">
            <a:spLocks/>
          </p:cNvSpPr>
          <p:nvPr/>
        </p:nvSpPr>
        <p:spPr>
          <a:xfrm>
            <a:off x="7251047" y="5194488"/>
            <a:ext cx="3976254" cy="5146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امکان ارسال پیام دارد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0544408-5C82-1CD6-0633-D752A126F8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5029" y="3210920"/>
            <a:ext cx="1292241" cy="129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6256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C3239-24E5-9D15-6F8A-1111EAC98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F811200B-9F29-3000-9418-448E885A40B8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3F0B3251-1AF2-30C1-E5A3-A1A23A108B8B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D40DF648-4991-05C2-F4AE-1043FE3225A3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1D0DC43-A752-B352-0590-60783C9A6A83}"/>
              </a:ext>
            </a:extLst>
          </p:cNvPr>
          <p:cNvSpPr/>
          <p:nvPr/>
        </p:nvSpPr>
        <p:spPr>
          <a:xfrm>
            <a:off x="2445673" y="3888193"/>
            <a:ext cx="7536872" cy="2527185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 w="38100"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956B2155-FB28-E374-D7A0-B31948CB9D32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FF833EA6-6E95-A686-E046-1010F12C94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34" y="2503997"/>
            <a:ext cx="1292241" cy="1292241"/>
          </a:xfrm>
          <a:prstGeom prst="rect">
            <a:avLst/>
          </a:prstGeom>
        </p:spPr>
      </p:pic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CD8052BB-1310-F97F-48B8-461465ADEDC3}"/>
              </a:ext>
            </a:extLst>
          </p:cNvPr>
          <p:cNvSpPr/>
          <p:nvPr/>
        </p:nvSpPr>
        <p:spPr>
          <a:xfrm>
            <a:off x="1108364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5CC2418F-D7D9-464F-3A7C-100D94ED985C}"/>
              </a:ext>
            </a:extLst>
          </p:cNvPr>
          <p:cNvSpPr/>
          <p:nvPr/>
        </p:nvSpPr>
        <p:spPr>
          <a:xfrm>
            <a:off x="2598147" y="3995140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تولید کلید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77814AFB-F14C-FD6C-3C35-CBC0CEF1833D}"/>
              </a:ext>
            </a:extLst>
          </p:cNvPr>
          <p:cNvSpPr/>
          <p:nvPr/>
        </p:nvSpPr>
        <p:spPr>
          <a:xfrm>
            <a:off x="8300218" y="4857689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رمزگذاری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AF3B5087-F250-8B7F-06C9-742CDDCAD5F8}"/>
              </a:ext>
            </a:extLst>
          </p:cNvPr>
          <p:cNvSpPr/>
          <p:nvPr/>
        </p:nvSpPr>
        <p:spPr>
          <a:xfrm>
            <a:off x="2598147" y="5879078"/>
            <a:ext cx="1538369" cy="38558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رمزگشایی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EB77B850-1B9A-7F52-BDE5-0020C54F86F1}"/>
              </a:ext>
            </a:extLst>
          </p:cNvPr>
          <p:cNvSpPr/>
          <p:nvPr/>
        </p:nvSpPr>
        <p:spPr>
          <a:xfrm>
            <a:off x="10465762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D1CA0DED-2BA2-CEE5-6B25-4D93B677938A}"/>
              </a:ext>
            </a:extLst>
          </p:cNvPr>
          <p:cNvSpPr/>
          <p:nvPr/>
        </p:nvSpPr>
        <p:spPr>
          <a:xfrm>
            <a:off x="766226" y="4454579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1704AFD9-3F4E-2C7E-EAEB-3E11AC7F60E2}"/>
              </a:ext>
            </a:extLst>
          </p:cNvPr>
          <p:cNvSpPr/>
          <p:nvPr/>
        </p:nvSpPr>
        <p:spPr>
          <a:xfrm>
            <a:off x="10056969" y="5871067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983B9D9C-C82C-8FBA-9633-C972198802B6}"/>
              </a:ext>
            </a:extLst>
          </p:cNvPr>
          <p:cNvSpPr/>
          <p:nvPr/>
        </p:nvSpPr>
        <p:spPr>
          <a:xfrm>
            <a:off x="771393" y="5956862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خصمانه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1F89D1E-EDD7-2844-AE02-BBD933839CEB}"/>
              </a:ext>
            </a:extLst>
          </p:cNvPr>
          <p:cNvSpPr/>
          <p:nvPr/>
        </p:nvSpPr>
        <p:spPr>
          <a:xfrm>
            <a:off x="2586753" y="4501482"/>
            <a:ext cx="1538368" cy="38558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52F9D0D-CAE5-9501-C4B8-B202023B0066}"/>
              </a:ext>
            </a:extLst>
          </p:cNvPr>
          <p:cNvSpPr/>
          <p:nvPr/>
        </p:nvSpPr>
        <p:spPr>
          <a:xfrm>
            <a:off x="8300219" y="5703053"/>
            <a:ext cx="1538368" cy="336527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رمزشده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62B36BB-8EE5-7AB4-1C46-E36260797C18}"/>
              </a:ext>
            </a:extLst>
          </p:cNvPr>
          <p:cNvSpPr/>
          <p:nvPr/>
        </p:nvSpPr>
        <p:spPr>
          <a:xfrm>
            <a:off x="8300218" y="5274571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امضا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5D9EA01-7730-5E36-6EEF-2344119CC496}"/>
              </a:ext>
            </a:extLst>
          </p:cNvPr>
          <p:cNvSpPr/>
          <p:nvPr/>
        </p:nvSpPr>
        <p:spPr>
          <a:xfrm>
            <a:off x="8300218" y="6063199"/>
            <a:ext cx="1538368" cy="326741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امضاع 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810C319-A9D7-A376-5F3D-A6BDDCFDF243}"/>
              </a:ext>
            </a:extLst>
          </p:cNvPr>
          <p:cNvSpPr/>
          <p:nvPr/>
        </p:nvSpPr>
        <p:spPr>
          <a:xfrm>
            <a:off x="5326815" y="4958682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</a:t>
            </a:r>
            <a:r>
              <a:rPr lang="en-US" sz="1400" dirty="0">
                <a:latin typeface="Vazir Light FD" panose="020B0604020202020204" charset="-78"/>
                <a:cs typeface="Vazir Light FD" panose="020B0604020202020204" charset="-78"/>
              </a:rPr>
              <a:t>verify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65E6DCE-3D3D-4EC4-EAF7-C565B19E04C8}"/>
              </a:ext>
            </a:extLst>
          </p:cNvPr>
          <p:cNvSpPr/>
          <p:nvPr/>
        </p:nvSpPr>
        <p:spPr>
          <a:xfrm>
            <a:off x="5326815" y="3682872"/>
            <a:ext cx="1538369" cy="31226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رمزشده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68373C-C6C6-47C1-49DF-5F48073E64B3}"/>
              </a:ext>
            </a:extLst>
          </p:cNvPr>
          <p:cNvSpPr txBox="1"/>
          <p:nvPr/>
        </p:nvSpPr>
        <p:spPr>
          <a:xfrm>
            <a:off x="5816373" y="652548"/>
            <a:ext cx="570880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نیروی متخاصم پیامی روی کانال ارسال نمی‌کند. اما می‌تواند پیام‌های ارسال شده توسط سایر کلاینت‌ها را تغییر دهد.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7" name="Freeform 6">
            <a:extLst>
              <a:ext uri="{FF2B5EF4-FFF2-40B4-BE49-F238E27FC236}">
                <a16:creationId xmlns:a16="http://schemas.microsoft.com/office/drawing/2014/main" id="{25AC2A02-4130-E658-0078-21ABDFE67802}"/>
              </a:ext>
            </a:extLst>
          </p:cNvPr>
          <p:cNvSpPr>
            <a:spLocks/>
          </p:cNvSpPr>
          <p:nvPr/>
        </p:nvSpPr>
        <p:spPr bwMode="auto">
          <a:xfrm>
            <a:off x="1166952" y="441772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E12ABA26-6E10-6292-583D-FF4DE0C4DE8C}"/>
              </a:ext>
            </a:extLst>
          </p:cNvPr>
          <p:cNvSpPr txBox="1">
            <a:spLocks/>
          </p:cNvSpPr>
          <p:nvPr/>
        </p:nvSpPr>
        <p:spPr>
          <a:xfrm>
            <a:off x="156471" y="1390561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</p:spTree>
    <p:extLst>
      <p:ext uri="{BB962C8B-B14F-4D97-AF65-F5344CB8AC3E}">
        <p14:creationId xmlns:p14="http://schemas.microsoft.com/office/powerpoint/2010/main" val="13493414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-7.40741E-7 L 0.46901 -0.0125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451" y="-6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500"/>
                            </p:stCondLst>
                            <p:childTnLst>
                              <p:par>
                                <p:cTn id="21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 L -0.24388 -0.04908 " pathEditMode="relative" rAng="0" ptsTypes="AA">
                                      <p:cBhvr>
                                        <p:cTn id="22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188" y="-30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35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1 L -0.24388 -0.05069 " pathEditMode="relative" rAng="0" ptsTypes="AA">
                                      <p:cBhvr>
                                        <p:cTn id="28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188" y="-31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7500"/>
                            </p:stCondLst>
                            <p:childTnLst>
                              <p:par>
                                <p:cTn id="30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8000"/>
                            </p:stCondLst>
                            <p:childTnLst>
                              <p:par>
                                <p:cTn id="34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1 L 0 0.2419 " pathEditMode="relative" rAng="0" ptsTypes="AA">
                                      <p:cBhvr>
                                        <p:cTn id="35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" y="1150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5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35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.24722 L -0.225 0.26019 " pathEditMode="relative" rAng="0" ptsTypes="AA">
                                      <p:cBhvr>
                                        <p:cTn id="45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250" y="64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2500"/>
                            </p:stCondLst>
                            <p:childTnLst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 animBg="1"/>
      <p:bldP spid="10" grpId="0" animBg="1"/>
      <p:bldP spid="10" grpId="1" animBg="1"/>
      <p:bldP spid="11" grpId="0" animBg="1"/>
      <p:bldP spid="11" grpId="1" animBg="1"/>
      <p:bldP spid="11" grpId="2" animBg="1"/>
      <p:bldP spid="14" grpId="0" animBg="1"/>
      <p:bldP spid="14" grpId="1" animBg="1"/>
      <p:bldP spid="16" grpId="0" animBg="1"/>
      <p:bldP spid="2" grpId="0" animBg="1"/>
      <p:bldP spid="2" grpId="1" animBg="1"/>
      <p:bldP spid="2" grpId="2" animBg="1"/>
      <p:bldP spid="3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49A4D-6450-F716-0331-3C4D250A0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E614B964-7C97-F5F8-B3CC-B83A0DBE1A3F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A90AE11D-5C95-6C26-1FC0-C84B56C38E6E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BCE6EB25-E6D4-8AC9-BF63-9CFBC9630951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E47F3A1C-679A-9787-4862-E4EE393982C5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4F63A4C1-CC0E-A4D5-6771-D47DB77358ED}"/>
              </a:ext>
            </a:extLst>
          </p:cNvPr>
          <p:cNvSpPr/>
          <p:nvPr/>
        </p:nvSpPr>
        <p:spPr>
          <a:xfrm>
            <a:off x="5638799" y="645435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" name="Freeform 6">
            <a:extLst>
              <a:ext uri="{FF2B5EF4-FFF2-40B4-BE49-F238E27FC236}">
                <a16:creationId xmlns:a16="http://schemas.microsoft.com/office/drawing/2014/main" id="{D0D980C9-5026-A23C-2EAA-301ADEC7D709}"/>
              </a:ext>
            </a:extLst>
          </p:cNvPr>
          <p:cNvSpPr>
            <a:spLocks/>
          </p:cNvSpPr>
          <p:nvPr/>
        </p:nvSpPr>
        <p:spPr bwMode="auto">
          <a:xfrm>
            <a:off x="832229" y="5415768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BD4880D-B83B-DA34-BFC6-D49AF9E2176F}"/>
              </a:ext>
            </a:extLst>
          </p:cNvPr>
          <p:cNvSpPr txBox="1">
            <a:spLocks/>
          </p:cNvSpPr>
          <p:nvPr/>
        </p:nvSpPr>
        <p:spPr>
          <a:xfrm>
            <a:off x="-178252" y="6364557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0F8BD60-1A07-80CF-10B8-28CB37BB14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9879" y="2488532"/>
            <a:ext cx="1292241" cy="1292241"/>
          </a:xfrm>
          <a:prstGeom prst="rect">
            <a:avLst/>
          </a:prstGeom>
        </p:spPr>
      </p:pic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421E2CE-9475-F42C-EE15-ED79E6890E8E}"/>
              </a:ext>
            </a:extLst>
          </p:cNvPr>
          <p:cNvSpPr/>
          <p:nvPr/>
        </p:nvSpPr>
        <p:spPr>
          <a:xfrm>
            <a:off x="5638799" y="5298165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2D12073-6CC7-29E7-590F-17466152D490}"/>
                  </a:ext>
                </a:extLst>
              </p:cNvPr>
              <p:cNvSpPr txBox="1"/>
              <p:nvPr/>
            </p:nvSpPr>
            <p:spPr>
              <a:xfrm>
                <a:off x="-30261" y="410783"/>
                <a:ext cx="6060407" cy="4934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fa-IR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p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d>
                        <m:dPr>
                          <m:ctrlP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mod</m:t>
                          </m:r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2D12073-6CC7-29E7-590F-17466152D4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0261" y="410783"/>
                <a:ext cx="6060407" cy="493405"/>
              </a:xfrm>
              <a:prstGeom prst="rect">
                <a:avLst/>
              </a:prstGeom>
              <a:blipFill>
                <a:blip r:embed="rId4"/>
                <a:stretch>
                  <a:fillRect b="-4938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6F74115-EB59-E6DB-D5AC-60A6103A5BA5}"/>
                  </a:ext>
                </a:extLst>
              </p:cNvPr>
              <p:cNvSpPr txBox="1"/>
              <p:nvPr/>
            </p:nvSpPr>
            <p:spPr>
              <a:xfrm>
                <a:off x="3026719" y="1670443"/>
                <a:ext cx="62414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a-I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6F74115-EB59-E6DB-D5AC-60A6103A5B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6719" y="1670443"/>
                <a:ext cx="6241472" cy="461665"/>
              </a:xfrm>
              <a:prstGeom prst="rect">
                <a:avLst/>
              </a:prstGeom>
              <a:blipFill>
                <a:blip r:embed="rId5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2E52F7B-B73D-B6DD-1151-FF72ED38D383}"/>
                  </a:ext>
                </a:extLst>
              </p:cNvPr>
              <p:cNvSpPr txBox="1"/>
              <p:nvPr/>
            </p:nvSpPr>
            <p:spPr>
              <a:xfrm>
                <a:off x="2975263" y="3814805"/>
                <a:ext cx="62414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sz="24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a-I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sz="2400" b="0" i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2E52F7B-B73D-B6DD-1151-FF72ED38D3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5263" y="3814805"/>
                <a:ext cx="6241472" cy="461665"/>
              </a:xfrm>
              <a:prstGeom prst="rect">
                <a:avLst/>
              </a:prstGeom>
              <a:blipFill>
                <a:blip r:embed="rId6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0925CD5-A07D-AA87-0F46-89D07C82BEAD}"/>
                  </a:ext>
                </a:extLst>
              </p:cNvPr>
              <p:cNvSpPr txBox="1"/>
              <p:nvPr/>
            </p:nvSpPr>
            <p:spPr>
              <a:xfrm>
                <a:off x="2975263" y="4521607"/>
                <a:ext cx="62414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fa-IR" sz="2400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</m:sSup>
                          <m:sSubSup>
                            <m:sSubSup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fa-I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p>
                          </m:sSubSup>
                        </m:e>
                      </m:d>
                      <m:d>
                        <m:d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fa-IR" sz="2400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p>
                          </m:sSup>
                          <m:sSubSup>
                            <m:sSubSup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fa-I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p>
                          </m:sSubSup>
                        </m:e>
                      </m:d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</m:sSup>
                      <m:sSup>
                        <m:sSup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fa-IR" sz="2400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fa-IR" sz="2400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0925CD5-A07D-AA87-0F46-89D07C82BE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5263" y="4521607"/>
                <a:ext cx="6241472" cy="461665"/>
              </a:xfrm>
              <a:prstGeom prst="rect">
                <a:avLst/>
              </a:prstGeom>
              <a:blipFill>
                <a:blip r:embed="rId7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0B102E4-265F-0F55-FF63-AB0C10A4EAD2}"/>
                  </a:ext>
                </a:extLst>
              </p:cNvPr>
              <p:cNvSpPr txBox="1"/>
              <p:nvPr/>
            </p:nvSpPr>
            <p:spPr>
              <a:xfrm>
                <a:off x="5118299" y="5530608"/>
                <a:ext cx="62414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fa-IR" sz="240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fa-I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d>
                        <m:dPr>
                          <m:ctrlP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mod</m:t>
                          </m:r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0B102E4-265F-0F55-FF63-AB0C10A4EA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8299" y="5530608"/>
                <a:ext cx="6241472" cy="461665"/>
              </a:xfrm>
              <a:prstGeom prst="rect">
                <a:avLst/>
              </a:prstGeom>
              <a:blipFill>
                <a:blip r:embed="rId8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532510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2" grpId="0"/>
      <p:bldP spid="24" grpId="0"/>
      <p:bldP spid="27" grpId="0"/>
      <p:bldP spid="29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B2FBC-B7DE-EA8C-DFFA-110C4BE1A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EF30A2A2-F05E-7734-84D6-BC39EB237CE5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ADC1B990-BCBB-9E5C-FF6A-1C599AC4687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61F881C2-F0A9-F5EB-43E8-B6E071FF1FC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EDB3FB77-A111-364C-C4BA-A5DD1A9EADF5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38082173-36AF-FE04-20C0-7A2561862F88}"/>
              </a:ext>
            </a:extLst>
          </p:cNvPr>
          <p:cNvSpPr/>
          <p:nvPr/>
        </p:nvSpPr>
        <p:spPr>
          <a:xfrm>
            <a:off x="5638799" y="645435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" name="Freeform 6">
            <a:extLst>
              <a:ext uri="{FF2B5EF4-FFF2-40B4-BE49-F238E27FC236}">
                <a16:creationId xmlns:a16="http://schemas.microsoft.com/office/drawing/2014/main" id="{FBF46C5F-6707-5805-842D-2C1EA2437979}"/>
              </a:ext>
            </a:extLst>
          </p:cNvPr>
          <p:cNvSpPr>
            <a:spLocks/>
          </p:cNvSpPr>
          <p:nvPr/>
        </p:nvSpPr>
        <p:spPr bwMode="auto">
          <a:xfrm>
            <a:off x="832229" y="5415768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31A308E-8527-DDBC-098C-C6A0A39BB769}"/>
              </a:ext>
            </a:extLst>
          </p:cNvPr>
          <p:cNvSpPr txBox="1">
            <a:spLocks/>
          </p:cNvSpPr>
          <p:nvPr/>
        </p:nvSpPr>
        <p:spPr>
          <a:xfrm>
            <a:off x="-178252" y="6364557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FF3BE1E-463A-4930-F8D5-A78D86DD58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9879" y="2488532"/>
            <a:ext cx="1292241" cy="1292241"/>
          </a:xfrm>
          <a:prstGeom prst="rect">
            <a:avLst/>
          </a:prstGeom>
        </p:spPr>
      </p:pic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D0989AE-F9CE-297F-E5BF-AB6F89F76AE5}"/>
              </a:ext>
            </a:extLst>
          </p:cNvPr>
          <p:cNvSpPr/>
          <p:nvPr/>
        </p:nvSpPr>
        <p:spPr>
          <a:xfrm>
            <a:off x="5638799" y="5298165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410A2F9-186E-7C51-41F2-DF49FDCF8F02}"/>
                  </a:ext>
                </a:extLst>
              </p:cNvPr>
              <p:cNvSpPr txBox="1"/>
              <p:nvPr/>
            </p:nvSpPr>
            <p:spPr>
              <a:xfrm>
                <a:off x="-30261" y="410783"/>
                <a:ext cx="6060407" cy="4934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fa-IR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p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d>
                        <m:dPr>
                          <m:ctrlP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mod</m:t>
                          </m:r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410A2F9-186E-7C51-41F2-DF49FDCF8F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0261" y="410783"/>
                <a:ext cx="6060407" cy="493405"/>
              </a:xfrm>
              <a:prstGeom prst="rect">
                <a:avLst/>
              </a:prstGeom>
              <a:blipFill>
                <a:blip r:embed="rId4"/>
                <a:stretch>
                  <a:fillRect b="-4938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CD380EE-35D0-5293-0BB0-10016596D224}"/>
                  </a:ext>
                </a:extLst>
              </p:cNvPr>
              <p:cNvSpPr txBox="1"/>
              <p:nvPr/>
            </p:nvSpPr>
            <p:spPr>
              <a:xfrm>
                <a:off x="3026719" y="1670443"/>
                <a:ext cx="62414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sz="240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a-I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CD380EE-35D0-5293-0BB0-10016596D2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6719" y="1670443"/>
                <a:ext cx="6241472" cy="461665"/>
              </a:xfrm>
              <a:prstGeom prst="rect">
                <a:avLst/>
              </a:prstGeom>
              <a:blipFill>
                <a:blip r:embed="rId5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242F455-2731-6A0A-3894-BF1A97EC5AE0}"/>
                  </a:ext>
                </a:extLst>
              </p:cNvPr>
              <p:cNvSpPr txBox="1"/>
              <p:nvPr/>
            </p:nvSpPr>
            <p:spPr>
              <a:xfrm>
                <a:off x="2975263" y="3814805"/>
                <a:ext cx="6241472" cy="5734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sz="32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a-IR" sz="3200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a-IR" sz="24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sup>
                      </m:sSup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242F455-2731-6A0A-3894-BF1A97EC5A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5263" y="3814805"/>
                <a:ext cx="6241472" cy="57342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2FC1E7D-06DF-D310-5784-D61A04AD2353}"/>
                  </a:ext>
                </a:extLst>
              </p:cNvPr>
              <p:cNvSpPr txBox="1"/>
              <p:nvPr/>
            </p:nvSpPr>
            <p:spPr>
              <a:xfrm>
                <a:off x="2975263" y="4521607"/>
                <a:ext cx="62414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sup>
                      </m:sSup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𝑤𝑚</m:t>
                          </m:r>
                        </m:sup>
                      </m:sSup>
                      <m:sSup>
                        <m:sSup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</m:oMath>
                  </m:oMathPara>
                </a14:m>
                <a:endParaRPr lang="en-US" sz="24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2FC1E7D-06DF-D310-5784-D61A04AD23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5263" y="4521607"/>
                <a:ext cx="6241472" cy="461665"/>
              </a:xfrm>
              <a:prstGeom prst="rect">
                <a:avLst/>
              </a:prstGeom>
              <a:blipFill>
                <a:blip r:embed="rId7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79ACA0F-4C24-769D-7317-6023960E0B08}"/>
                  </a:ext>
                </a:extLst>
              </p:cNvPr>
              <p:cNvSpPr txBox="1"/>
              <p:nvPr/>
            </p:nvSpPr>
            <p:spPr>
              <a:xfrm>
                <a:off x="5118299" y="5530608"/>
                <a:ext cx="62414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d>
                        <m:dPr>
                          <m:ctrlPr>
                            <a:rPr lang="en-US" sz="24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mod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79ACA0F-4C24-769D-7317-6023960E0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8299" y="5530608"/>
                <a:ext cx="6241472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81666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4" grpId="0"/>
      <p:bldP spid="27" grpId="0"/>
      <p:bldP spid="29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721DC-4541-493A-EA8F-65A9076A9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F4CD2174-BDA6-2F7A-82DD-49F04E2F3FD6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6F20902F-CF22-90D5-375C-5E2F0C46DD4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E100D78E-155F-DF65-4D50-0DA49D8BEC72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BED86E21-9D1A-A8C8-95B2-AD28B3BC4345}"/>
              </a:ext>
            </a:extLst>
          </p:cNvPr>
          <p:cNvSpPr/>
          <p:nvPr/>
        </p:nvSpPr>
        <p:spPr>
          <a:xfrm>
            <a:off x="2445673" y="3888193"/>
            <a:ext cx="7536872" cy="2527185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 w="38100"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141BF949-7F83-EFFA-3105-29C7903272D6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485FC019-429E-3443-C08F-31F2631B6B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34" y="2503997"/>
            <a:ext cx="1292241" cy="1292241"/>
          </a:xfrm>
          <a:prstGeom prst="rect">
            <a:avLst/>
          </a:prstGeom>
        </p:spPr>
      </p:pic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5A41DD83-1FEF-C116-5113-418EC6FCCDDE}"/>
              </a:ext>
            </a:extLst>
          </p:cNvPr>
          <p:cNvSpPr/>
          <p:nvPr/>
        </p:nvSpPr>
        <p:spPr>
          <a:xfrm>
            <a:off x="1108364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A6DFFE92-77AC-6FDE-55BF-9CFC814E7547}"/>
              </a:ext>
            </a:extLst>
          </p:cNvPr>
          <p:cNvSpPr/>
          <p:nvPr/>
        </p:nvSpPr>
        <p:spPr>
          <a:xfrm>
            <a:off x="2598147" y="3995140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تولید کلید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6111B5CD-B1EA-1DC9-B78F-69B3DDA7B079}"/>
              </a:ext>
            </a:extLst>
          </p:cNvPr>
          <p:cNvSpPr/>
          <p:nvPr/>
        </p:nvSpPr>
        <p:spPr>
          <a:xfrm>
            <a:off x="8300218" y="4857689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رمزگذاری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C25B5C32-AE0B-D056-44E7-7DE9B47B7857}"/>
              </a:ext>
            </a:extLst>
          </p:cNvPr>
          <p:cNvSpPr/>
          <p:nvPr/>
        </p:nvSpPr>
        <p:spPr>
          <a:xfrm>
            <a:off x="2598147" y="5879078"/>
            <a:ext cx="1538369" cy="38558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رمزگشایی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22E15AA8-FE80-D914-B40D-371948B82E2F}"/>
              </a:ext>
            </a:extLst>
          </p:cNvPr>
          <p:cNvSpPr/>
          <p:nvPr/>
        </p:nvSpPr>
        <p:spPr>
          <a:xfrm>
            <a:off x="10465762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AB5709AF-B74D-31B9-40B4-E3A37E390D82}"/>
              </a:ext>
            </a:extLst>
          </p:cNvPr>
          <p:cNvSpPr/>
          <p:nvPr/>
        </p:nvSpPr>
        <p:spPr>
          <a:xfrm>
            <a:off x="766226" y="4454579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1E113017-AC87-A506-C27E-ABE92BB827E5}"/>
              </a:ext>
            </a:extLst>
          </p:cNvPr>
          <p:cNvSpPr/>
          <p:nvPr/>
        </p:nvSpPr>
        <p:spPr>
          <a:xfrm>
            <a:off x="10056969" y="5871067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ACAD6F20-3218-B63E-90E0-B110F413C5A6}"/>
              </a:ext>
            </a:extLst>
          </p:cNvPr>
          <p:cNvSpPr/>
          <p:nvPr/>
        </p:nvSpPr>
        <p:spPr>
          <a:xfrm>
            <a:off x="771393" y="5956862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0022641-E2A6-7EAB-0DCF-C6CE73469464}"/>
              </a:ext>
            </a:extLst>
          </p:cNvPr>
          <p:cNvSpPr/>
          <p:nvPr/>
        </p:nvSpPr>
        <p:spPr>
          <a:xfrm>
            <a:off x="2586753" y="4501482"/>
            <a:ext cx="1538368" cy="38558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7042F7D-7CD0-CCF9-756F-D453C3E3BC4E}"/>
              </a:ext>
            </a:extLst>
          </p:cNvPr>
          <p:cNvSpPr/>
          <p:nvPr/>
        </p:nvSpPr>
        <p:spPr>
          <a:xfrm>
            <a:off x="8300219" y="5703053"/>
            <a:ext cx="1538368" cy="58819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600" dirty="0">
                <a:latin typeface="Vazir Light FD" panose="020B0604020202020204" charset="-78"/>
                <a:cs typeface="Vazir Light FD" panose="020B0604020202020204" charset="-78"/>
              </a:rPr>
              <a:t>بسته پیام درهم‌سازی شده</a:t>
            </a:r>
            <a:endParaRPr lang="en-US" sz="16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1271246-5ABF-2961-E088-6D9EC1E49748}"/>
              </a:ext>
            </a:extLst>
          </p:cNvPr>
          <p:cNvSpPr/>
          <p:nvPr/>
        </p:nvSpPr>
        <p:spPr>
          <a:xfrm>
            <a:off x="8300218" y="5274571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امضا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A9F2B66-5D4C-3C47-C173-0B76F15BDE67}"/>
              </a:ext>
            </a:extLst>
          </p:cNvPr>
          <p:cNvSpPr/>
          <p:nvPr/>
        </p:nvSpPr>
        <p:spPr>
          <a:xfrm>
            <a:off x="5326815" y="4958682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</a:t>
            </a:r>
            <a:r>
              <a:rPr lang="en-US" sz="1400" dirty="0">
                <a:latin typeface="Vazir Light FD" panose="020B0604020202020204" charset="-78"/>
                <a:cs typeface="Vazir Light FD" panose="020B0604020202020204" charset="-78"/>
              </a:rPr>
              <a:t>verify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47C081-9ABE-10AF-43E3-C11315990131}"/>
              </a:ext>
            </a:extLst>
          </p:cNvPr>
          <p:cNvSpPr txBox="1"/>
          <p:nvPr/>
        </p:nvSpPr>
        <p:spPr>
          <a:xfrm>
            <a:off x="5816373" y="652548"/>
            <a:ext cx="570880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نیروی متخاصم پیامی روی کانال ارسال نمی‌کند. اما می‌تواند پیام‌های ارسال شده توسط سایر کلاینت‌ها را تغییر دهد.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7" name="Freeform 6">
            <a:extLst>
              <a:ext uri="{FF2B5EF4-FFF2-40B4-BE49-F238E27FC236}">
                <a16:creationId xmlns:a16="http://schemas.microsoft.com/office/drawing/2014/main" id="{D2F158CA-5206-7070-FC4E-DB60E3B9E5C4}"/>
              </a:ext>
            </a:extLst>
          </p:cNvPr>
          <p:cNvSpPr>
            <a:spLocks/>
          </p:cNvSpPr>
          <p:nvPr/>
        </p:nvSpPr>
        <p:spPr bwMode="auto">
          <a:xfrm>
            <a:off x="1166952" y="441772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BA4F3237-C695-F114-9315-9ECAA8026364}"/>
              </a:ext>
            </a:extLst>
          </p:cNvPr>
          <p:cNvSpPr txBox="1">
            <a:spLocks/>
          </p:cNvSpPr>
          <p:nvPr/>
        </p:nvSpPr>
        <p:spPr>
          <a:xfrm>
            <a:off x="156471" y="1390561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36BC59-728F-B07C-BF00-F3D2E00772CE}"/>
              </a:ext>
            </a:extLst>
          </p:cNvPr>
          <p:cNvSpPr txBox="1"/>
          <p:nvPr/>
        </p:nvSpPr>
        <p:spPr>
          <a:xfrm>
            <a:off x="5818342" y="1691830"/>
            <a:ext cx="57088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پیام و امضاع را در یک بسته پیام قرار داده و با استفاده از توابع درهم‌ساز بسته را </a:t>
            </a:r>
            <a:r>
              <a:rPr lang="en-US" sz="2000" dirty="0">
                <a:latin typeface="Shabnam" panose="020B0603030804020204" pitchFamily="34" charset="-78"/>
                <a:cs typeface="Shabnam" panose="020B0603030804020204" pitchFamily="34" charset="-78"/>
              </a:rPr>
              <a:t>Hash</a:t>
            </a:r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 می‌کنیم.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1927637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-7.40741E-7 L 0.46901 -0.0125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451" y="-6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000"/>
                            </p:stCondLst>
                            <p:childTnLst>
                              <p:par>
                                <p:cTn id="16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 L -0.24388 -0.04908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188" y="-30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500"/>
                            </p:stCondLst>
                            <p:childTnLst>
                              <p:par>
                                <p:cTn id="23" presetID="35" presetClass="path" presetSubtype="0" accel="50000" decel="5000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24388 -0.04908 L -0.46888 -0.06621 " pathEditMode="relative" rAng="0" ptsTypes="AA">
                                      <p:cBhvr>
                                        <p:cTn id="24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250" y="-8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800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 animBg="1"/>
      <p:bldP spid="10" grpId="0" animBg="1"/>
      <p:bldP spid="10" grpId="1" animBg="1"/>
      <p:bldP spid="11" grpId="0" animBg="1"/>
      <p:bldP spid="11" grpId="1" animBg="1"/>
      <p:bldP spid="11" grpId="3" animBg="1"/>
      <p:bldP spid="16" grpId="0" animBg="1"/>
      <p:bldP spid="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7873E-0AF8-9060-B83E-BB3FD45EB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E8D7827B-4F08-A4D7-9917-0CC4D5DEDC22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0E12F594-27FA-428F-7A7A-83C870187325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7507BD5D-57A2-7E41-CFBE-3BF343F4D66C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D7F8298-21E3-5203-76FC-095FE3BB4764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" name="Freeform 6">
            <a:extLst>
              <a:ext uri="{FF2B5EF4-FFF2-40B4-BE49-F238E27FC236}">
                <a16:creationId xmlns:a16="http://schemas.microsoft.com/office/drawing/2014/main" id="{A0AD988A-09FD-1CBC-8620-1342439C8873}"/>
              </a:ext>
            </a:extLst>
          </p:cNvPr>
          <p:cNvSpPr>
            <a:spLocks/>
          </p:cNvSpPr>
          <p:nvPr/>
        </p:nvSpPr>
        <p:spPr bwMode="auto">
          <a:xfrm>
            <a:off x="4240319" y="4663482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 7">
            <a:extLst>
              <a:ext uri="{FF2B5EF4-FFF2-40B4-BE49-F238E27FC236}">
                <a16:creationId xmlns:a16="http://schemas.microsoft.com/office/drawing/2014/main" id="{F15B80CE-9E5B-10AD-062E-FB1D41E559C7}"/>
              </a:ext>
            </a:extLst>
          </p:cNvPr>
          <p:cNvSpPr>
            <a:spLocks/>
          </p:cNvSpPr>
          <p:nvPr/>
        </p:nvSpPr>
        <p:spPr bwMode="auto">
          <a:xfrm>
            <a:off x="6561244" y="3158532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F186F5FF-B291-B957-FD19-525EF23C23C9}"/>
              </a:ext>
            </a:extLst>
          </p:cNvPr>
          <p:cNvSpPr>
            <a:spLocks/>
          </p:cNvSpPr>
          <p:nvPr/>
        </p:nvSpPr>
        <p:spPr bwMode="auto">
          <a:xfrm>
            <a:off x="5057881" y="2290170"/>
            <a:ext cx="2325687" cy="871538"/>
          </a:xfrm>
          <a:custGeom>
            <a:avLst/>
            <a:gdLst>
              <a:gd name="T0" fmla="*/ 611 w 611"/>
              <a:gd name="T1" fmla="*/ 12 h 229"/>
              <a:gd name="T2" fmla="*/ 575 w 611"/>
              <a:gd name="T3" fmla="*/ 148 h 229"/>
              <a:gd name="T4" fmla="*/ 553 w 611"/>
              <a:gd name="T5" fmla="*/ 126 h 229"/>
              <a:gd name="T6" fmla="*/ 505 w 611"/>
              <a:gd name="T7" fmla="*/ 174 h 229"/>
              <a:gd name="T8" fmla="*/ 486 w 611"/>
              <a:gd name="T9" fmla="*/ 193 h 229"/>
              <a:gd name="T10" fmla="*/ 450 w 611"/>
              <a:gd name="T11" fmla="*/ 229 h 229"/>
              <a:gd name="T12" fmla="*/ 424 w 611"/>
              <a:gd name="T13" fmla="*/ 200 h 229"/>
              <a:gd name="T14" fmla="*/ 39 w 611"/>
              <a:gd name="T15" fmla="*/ 149 h 229"/>
              <a:gd name="T16" fmla="*/ 0 w 611"/>
              <a:gd name="T17" fmla="*/ 81 h 229"/>
              <a:gd name="T18" fmla="*/ 450 w 611"/>
              <a:gd name="T19" fmla="*/ 119 h 229"/>
              <a:gd name="T20" fmla="*/ 498 w 611"/>
              <a:gd name="T21" fmla="*/ 71 h 229"/>
              <a:gd name="T22" fmla="*/ 475 w 611"/>
              <a:gd name="T23" fmla="*/ 48 h 229"/>
              <a:gd name="T24" fmla="*/ 611 w 611"/>
              <a:gd name="T25" fmla="*/ 12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11" h="229">
                <a:moveTo>
                  <a:pt x="611" y="12"/>
                </a:moveTo>
                <a:cubicBezTo>
                  <a:pt x="575" y="148"/>
                  <a:pt x="575" y="148"/>
                  <a:pt x="575" y="148"/>
                </a:cubicBezTo>
                <a:cubicBezTo>
                  <a:pt x="553" y="126"/>
                  <a:pt x="553" y="126"/>
                  <a:pt x="553" y="126"/>
                </a:cubicBezTo>
                <a:cubicBezTo>
                  <a:pt x="505" y="174"/>
                  <a:pt x="505" y="174"/>
                  <a:pt x="505" y="174"/>
                </a:cubicBezTo>
                <a:cubicBezTo>
                  <a:pt x="486" y="193"/>
                  <a:pt x="486" y="193"/>
                  <a:pt x="486" y="193"/>
                </a:cubicBezTo>
                <a:cubicBezTo>
                  <a:pt x="450" y="229"/>
                  <a:pt x="450" y="229"/>
                  <a:pt x="450" y="229"/>
                </a:cubicBezTo>
                <a:cubicBezTo>
                  <a:pt x="442" y="219"/>
                  <a:pt x="433" y="209"/>
                  <a:pt x="424" y="200"/>
                </a:cubicBezTo>
                <a:cubicBezTo>
                  <a:pt x="320" y="96"/>
                  <a:pt x="161" y="79"/>
                  <a:pt x="39" y="149"/>
                </a:cubicBezTo>
                <a:cubicBezTo>
                  <a:pt x="0" y="81"/>
                  <a:pt x="0" y="81"/>
                  <a:pt x="0" y="81"/>
                </a:cubicBezTo>
                <a:cubicBezTo>
                  <a:pt x="141" y="0"/>
                  <a:pt x="321" y="13"/>
                  <a:pt x="450" y="119"/>
                </a:cubicBezTo>
                <a:cubicBezTo>
                  <a:pt x="498" y="71"/>
                  <a:pt x="498" y="71"/>
                  <a:pt x="498" y="71"/>
                </a:cubicBezTo>
                <a:cubicBezTo>
                  <a:pt x="475" y="48"/>
                  <a:pt x="475" y="48"/>
                  <a:pt x="475" y="48"/>
                </a:cubicBezTo>
                <a:lnTo>
                  <a:pt x="611" y="1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F8F98CA5-906F-8B7D-DDBE-3281F00185D1}"/>
              </a:ext>
            </a:extLst>
          </p:cNvPr>
          <p:cNvSpPr txBox="1">
            <a:spLocks/>
          </p:cNvSpPr>
          <p:nvPr/>
        </p:nvSpPr>
        <p:spPr>
          <a:xfrm>
            <a:off x="6561244" y="1959876"/>
            <a:ext cx="3253059" cy="31690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فقط می‌بیند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22BD912C-C1CF-F33E-42CD-C8AE53D8B733}"/>
              </a:ext>
            </a:extLst>
          </p:cNvPr>
          <p:cNvSpPr txBox="1">
            <a:spLocks/>
          </p:cNvSpPr>
          <p:nvPr/>
        </p:nvSpPr>
        <p:spPr>
          <a:xfrm>
            <a:off x="0" y="5357404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F7C02D1D-FCDD-2A37-DB38-E8B7C7E009D2}"/>
              </a:ext>
            </a:extLst>
          </p:cNvPr>
          <p:cNvSpPr txBox="1">
            <a:spLocks/>
          </p:cNvSpPr>
          <p:nvPr/>
        </p:nvSpPr>
        <p:spPr>
          <a:xfrm>
            <a:off x="7251047" y="5194488"/>
            <a:ext cx="3976254" cy="5146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امکان ارسال پیام دارد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E8256EF-6FE5-3178-4FD3-47714AF210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5029" y="3210920"/>
            <a:ext cx="1292241" cy="129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45281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88374-B54B-07C9-448B-D0D33121C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E8ECE2C3-BADC-BD09-257D-25EC0B165637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92A76633-3B72-61BF-7925-F30C0FBF5168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7757D84B-DD91-F9A0-EB77-BAA9C4CF7A27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F4E438F-67AC-7EB0-9C7A-B4C55DF9505F}"/>
                  </a:ext>
                </a:extLst>
              </p:cNvPr>
              <p:cNvSpPr txBox="1"/>
              <p:nvPr/>
            </p:nvSpPr>
            <p:spPr>
              <a:xfrm>
                <a:off x="1688611" y="1920929"/>
                <a:ext cx="9813882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 rtl="1"/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هر کلاینت به جای ارسال صرفاً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، یک بسته‌ی داده</a:t>
                </a:r>
                <a:r>
                  <a:rPr lang="en-US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  </a:t>
                </a:r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به نام 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sSub>
                      <m:sSubPr>
                        <m:ctrlP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 </a:t>
                </a:r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را برای سرور ارسال می‌کند که ساختار آن به صورت زیر است:</a:t>
                </a:r>
                <a:endParaRPr lang="fa-IR" sz="3200" dirty="0">
                  <a:solidFill>
                    <a:srgbClr val="000000"/>
                  </a:solidFill>
                  <a:latin typeface="Vazir FD" pitchFamily="2" charset="-78"/>
                  <a:cs typeface="Vazir FD" pitchFamily="2" charset="-78"/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F4E438F-67AC-7EB0-9C7A-B4C55DF950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8611" y="1920929"/>
                <a:ext cx="9813882" cy="830997"/>
              </a:xfrm>
              <a:prstGeom prst="rect">
                <a:avLst/>
              </a:prstGeom>
              <a:blipFill>
                <a:blip r:embed="rId3"/>
                <a:stretch>
                  <a:fillRect l="-311" t="-4412" r="-994" b="-16176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A8C55CE-96C0-3DFB-6664-D3A1272323D7}"/>
                  </a:ext>
                </a:extLst>
              </p:cNvPr>
              <p:cNvSpPr txBox="1"/>
              <p:nvPr/>
            </p:nvSpPr>
            <p:spPr>
              <a:xfrm>
                <a:off x="1240514" y="4308334"/>
                <a:ext cx="9813882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>
                      <m:r>
                        <a:rPr lang="en-US" sz="3200" i="1" smtClean="0"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𝐼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𝑅𝐼𝐷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𝑛𝑜𝑢𝑛𝑐𝑒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A8C55CE-96C0-3DFB-6664-D3A1272323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0514" y="4308334"/>
                <a:ext cx="9813882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3B718F30-F507-099B-7C44-0A88BB2DD24D}"/>
              </a:ext>
            </a:extLst>
          </p:cNvPr>
          <p:cNvSpPr txBox="1"/>
          <p:nvPr/>
        </p:nvSpPr>
        <p:spPr>
          <a:xfrm>
            <a:off x="1648324" y="5401619"/>
            <a:ext cx="15640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شناسه کلاینت</a:t>
            </a:r>
            <a:endParaRPr lang="fa-IR" sz="24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2A4E8C7-E70D-0566-1955-45DA7592BB3F}"/>
              </a:ext>
            </a:extLst>
          </p:cNvPr>
          <p:cNvSpPr txBox="1"/>
          <p:nvPr/>
        </p:nvSpPr>
        <p:spPr>
          <a:xfrm>
            <a:off x="3420292" y="5754201"/>
            <a:ext cx="23998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شناسه دور</a:t>
            </a:r>
            <a:b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</a:br>
            <a: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(تولید شده توسط سرور)</a:t>
            </a:r>
            <a:endParaRPr lang="fa-IR" sz="24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2D8784-3198-4AEA-5B8C-123A4BE3C6D9}"/>
              </a:ext>
            </a:extLst>
          </p:cNvPr>
          <p:cNvSpPr txBox="1"/>
          <p:nvPr/>
        </p:nvSpPr>
        <p:spPr>
          <a:xfrm>
            <a:off x="7571797" y="5672088"/>
            <a:ext cx="25680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عدد تصادفی</a:t>
            </a:r>
            <a:b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</a:br>
            <a: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(تولید شده توسط کلاینت)</a:t>
            </a:r>
            <a:endParaRPr lang="fa-IR" sz="24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D1BE147-ED01-2385-1145-14E2568D8D51}"/>
              </a:ext>
            </a:extLst>
          </p:cNvPr>
          <p:cNvSpPr txBox="1"/>
          <p:nvPr/>
        </p:nvSpPr>
        <p:spPr>
          <a:xfrm>
            <a:off x="6483501" y="3077910"/>
            <a:ext cx="139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وزن کلاینت</a:t>
            </a:r>
            <a:endParaRPr lang="fa-IR" sz="24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B31F713-C3A0-6C74-771C-C4706C590DC1}"/>
              </a:ext>
            </a:extLst>
          </p:cNvPr>
          <p:cNvSpPr txBox="1"/>
          <p:nvPr/>
        </p:nvSpPr>
        <p:spPr>
          <a:xfrm>
            <a:off x="8714509" y="3482154"/>
            <a:ext cx="26622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امضا کلاینت روی بسته پیام</a:t>
            </a:r>
            <a:endParaRPr lang="fa-IR" sz="24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35C5E07-CC67-021D-C946-FB3406453F30}"/>
              </a:ext>
            </a:extLst>
          </p:cNvPr>
          <p:cNvSpPr txBox="1"/>
          <p:nvPr/>
        </p:nvSpPr>
        <p:spPr>
          <a:xfrm>
            <a:off x="2545745" y="3157463"/>
            <a:ext cx="25680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پیام رمزگذاری شده</a:t>
            </a:r>
            <a:endParaRPr lang="fa-IR" sz="24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7FDAEB5F-BDDC-362E-C1A5-48260EF032FD}"/>
              </a:ext>
            </a:extLst>
          </p:cNvPr>
          <p:cNvCxnSpPr>
            <a:cxnSpLocks/>
            <a:endCxn id="10" idx="3"/>
          </p:cNvCxnSpPr>
          <p:nvPr/>
        </p:nvCxnSpPr>
        <p:spPr>
          <a:xfrm rot="10800000" flipV="1">
            <a:off x="3212356" y="4842011"/>
            <a:ext cx="1327456" cy="744274"/>
          </a:xfrm>
          <a:prstGeom prst="bentConnector3">
            <a:avLst>
              <a:gd name="adj1" fmla="val 50000"/>
            </a:avLst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4EE3198C-5D85-0DFA-3584-02E585FB3511}"/>
              </a:ext>
            </a:extLst>
          </p:cNvPr>
          <p:cNvCxnSpPr>
            <a:cxnSpLocks/>
            <a:endCxn id="13" idx="3"/>
          </p:cNvCxnSpPr>
          <p:nvPr/>
        </p:nvCxnSpPr>
        <p:spPr>
          <a:xfrm rot="16200000" flipH="1">
            <a:off x="5004753" y="5262005"/>
            <a:ext cx="1213198" cy="417526"/>
          </a:xfrm>
          <a:prstGeom prst="bentConnector4">
            <a:avLst>
              <a:gd name="adj1" fmla="val 36681"/>
              <a:gd name="adj2" fmla="val 154751"/>
            </a:avLst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49C6AC8C-74F1-D905-DC3D-EC911E7BDEDE}"/>
              </a:ext>
            </a:extLst>
          </p:cNvPr>
          <p:cNvCxnSpPr>
            <a:cxnSpLocks/>
            <a:endCxn id="16" idx="1"/>
          </p:cNvCxnSpPr>
          <p:nvPr/>
        </p:nvCxnSpPr>
        <p:spPr>
          <a:xfrm rot="16200000" flipH="1">
            <a:off x="6564681" y="4988138"/>
            <a:ext cx="1131086" cy="883146"/>
          </a:xfrm>
          <a:prstGeom prst="bentConnector2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3BD53DF0-936B-2DCC-FA8C-7D41A3788D71}"/>
              </a:ext>
            </a:extLst>
          </p:cNvPr>
          <p:cNvCxnSpPr>
            <a:cxnSpLocks/>
            <a:endCxn id="30" idx="3"/>
          </p:cNvCxnSpPr>
          <p:nvPr/>
        </p:nvCxnSpPr>
        <p:spPr>
          <a:xfrm rot="10800000">
            <a:off x="5113815" y="3342129"/>
            <a:ext cx="2457982" cy="1159142"/>
          </a:xfrm>
          <a:prstGeom prst="bentConnector3">
            <a:avLst>
              <a:gd name="adj1" fmla="val 50000"/>
            </a:avLst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95BDF586-7FD6-6ED9-AB76-BF6A1B794B05}"/>
              </a:ext>
            </a:extLst>
          </p:cNvPr>
          <p:cNvCxnSpPr>
            <a:cxnSpLocks/>
            <a:endCxn id="19" idx="3"/>
          </p:cNvCxnSpPr>
          <p:nvPr/>
        </p:nvCxnSpPr>
        <p:spPr>
          <a:xfrm rot="16200000" flipV="1">
            <a:off x="7415326" y="3728560"/>
            <a:ext cx="1238695" cy="306727"/>
          </a:xfrm>
          <a:prstGeom prst="bentConnector2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A0B72892-18D8-53D3-6E8A-45245B50EDD5}"/>
              </a:ext>
            </a:extLst>
          </p:cNvPr>
          <p:cNvCxnSpPr>
            <a:cxnSpLocks/>
            <a:endCxn id="23" idx="2"/>
          </p:cNvCxnSpPr>
          <p:nvPr/>
        </p:nvCxnSpPr>
        <p:spPr>
          <a:xfrm flipV="1">
            <a:off x="8755639" y="3851486"/>
            <a:ext cx="1289999" cy="599465"/>
          </a:xfrm>
          <a:prstGeom prst="bentConnector2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DF3DF205-F4C7-78E3-7CB5-D5ADA8B12AC0}"/>
              </a:ext>
            </a:extLst>
          </p:cNvPr>
          <p:cNvSpPr/>
          <p:nvPr/>
        </p:nvSpPr>
        <p:spPr>
          <a:xfrm flipH="1">
            <a:off x="837112" y="579276"/>
            <a:ext cx="6852160" cy="830996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fa-IR" sz="2800" dirty="0"/>
              <a:t>Signed-Benaloh Homomorphic Encryption</a:t>
            </a:r>
            <a:endParaRPr lang="fa-IR" sz="6000" dirty="0"/>
          </a:p>
        </p:txBody>
      </p:sp>
    </p:spTree>
    <p:extLst>
      <p:ext uri="{BB962C8B-B14F-4D97-AF65-F5344CB8AC3E}">
        <p14:creationId xmlns:p14="http://schemas.microsoft.com/office/powerpoint/2010/main" val="12011930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5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3" grpId="0"/>
      <p:bldP spid="30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2BD10-177E-92C2-623E-991F806DC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D1755772-2853-6106-8E9A-012FC65AD3DD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195AEC36-9E5E-0766-15B0-53822D41DADE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4D93412-3F25-B1A0-1B1C-9F9A72F7E0C4}"/>
                  </a:ext>
                </a:extLst>
              </p:cNvPr>
              <p:cNvSpPr txBox="1"/>
              <p:nvPr/>
            </p:nvSpPr>
            <p:spPr>
              <a:xfrm>
                <a:off x="-1294868" y="1828370"/>
                <a:ext cx="9813882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>
                      <m:r>
                        <a:rPr lang="en-US" sz="3200" i="1" smtClean="0"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𝐼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𝑅𝐼𝐷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𝑛𝑜𝑢𝑛𝑐𝑒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4D93412-3F25-B1A0-1B1C-9F9A72F7E0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294868" y="1828370"/>
                <a:ext cx="9813882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0004073-8077-C8C8-23CC-5DF6D1A86634}"/>
                  </a:ext>
                </a:extLst>
              </p:cNvPr>
              <p:cNvSpPr txBox="1"/>
              <p:nvPr/>
            </p:nvSpPr>
            <p:spPr>
              <a:xfrm>
                <a:off x="1495496" y="2694709"/>
                <a:ext cx="3199663" cy="6270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𝑃</m:t>
                          </m:r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0004073-8077-C8C8-23CC-5DF6D1A866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5496" y="2694709"/>
                <a:ext cx="3199663" cy="62709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570D4F6-12C2-F833-DBB6-3C822C63A061}"/>
                  </a:ext>
                </a:extLst>
              </p:cNvPr>
              <p:cNvSpPr txBox="1"/>
              <p:nvPr/>
            </p:nvSpPr>
            <p:spPr>
              <a:xfrm>
                <a:off x="1647102" y="3496370"/>
                <a:ext cx="3963195" cy="6326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𝑆𝑖𝑔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3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570D4F6-12C2-F833-DBB6-3C822C63A0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7102" y="3496370"/>
                <a:ext cx="3963195" cy="63267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C39AC19-EF89-C4B9-C8FF-8E5DBB78FCA0}"/>
                  </a:ext>
                </a:extLst>
              </p:cNvPr>
              <p:cNvSpPr txBox="1"/>
              <p:nvPr/>
            </p:nvSpPr>
            <p:spPr>
              <a:xfrm>
                <a:off x="1647102" y="4303610"/>
                <a:ext cx="606987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rtl="1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𝐼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</a:rPr>
                        <m:t>∥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𝑅𝐼𝐷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∥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𝑛𝑜𝑛𝑐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</a:rPr>
                        <m:t>∥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</a:rPr>
                        <m:t>∥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C39AC19-EF89-C4B9-C8FF-8E5DBB78FC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7102" y="4303610"/>
                <a:ext cx="6069879" cy="58477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2F8870FA-F4C6-4545-BD07-52AAAC5C9BB9}"/>
              </a:ext>
            </a:extLst>
          </p:cNvPr>
          <p:cNvSpPr/>
          <p:nvPr/>
        </p:nvSpPr>
        <p:spPr>
          <a:xfrm flipH="1">
            <a:off x="837112" y="565421"/>
            <a:ext cx="6852160" cy="830996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fa-IR" sz="2800" dirty="0"/>
              <a:t>Signed-Benaloh Homomorphic Encryption</a:t>
            </a:r>
            <a:endParaRPr lang="fa-IR" sz="6000" dirty="0"/>
          </a:p>
        </p:txBody>
      </p:sp>
    </p:spTree>
    <p:extLst>
      <p:ext uri="{BB962C8B-B14F-4D97-AF65-F5344CB8AC3E}">
        <p14:creationId xmlns:p14="http://schemas.microsoft.com/office/powerpoint/2010/main" val="41330422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1" grpId="0"/>
      <p:bldP spid="14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8E0D4-290F-3BCA-2BF2-3340B3C44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9929DE49-B382-8226-0925-17BFA0D527FA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DC64EE30-7A52-C23C-9B80-DFCBF131838B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C06C7E76-ED6E-329E-7A4E-187907A56392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E86767-B622-C8D4-ECFB-DF0B8EEA9EC6}"/>
              </a:ext>
            </a:extLst>
          </p:cNvPr>
          <p:cNvSpPr txBox="1"/>
          <p:nvPr/>
        </p:nvSpPr>
        <p:spPr>
          <a:xfrm>
            <a:off x="1688611" y="1920929"/>
            <a:ext cx="98138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sz="2400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زمانی که بسته به سرور می‌رسد، ابتدا صلاحیت پیام مورد بررسی قرار می‌گیرد.</a:t>
            </a:r>
            <a:endParaRPr lang="fa-IR" sz="32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1425352-BF6C-F305-57B6-0FE480C7D9F1}"/>
                  </a:ext>
                </a:extLst>
              </p:cNvPr>
              <p:cNvSpPr txBox="1"/>
              <p:nvPr/>
            </p:nvSpPr>
            <p:spPr>
              <a:xfrm>
                <a:off x="1351351" y="2851152"/>
                <a:ext cx="9813882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>
                      <m:r>
                        <a:rPr lang="en-US" sz="3200" i="1" smtClean="0"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𝐼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𝑅𝐼𝐷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𝑛𝑜𝑢𝑛𝑐𝑒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1425352-BF6C-F305-57B6-0FE480C7D9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1351" y="2851152"/>
                <a:ext cx="9813882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6859D6EF-BD7C-EA47-A5CB-C71101B855F2}"/>
              </a:ext>
            </a:extLst>
          </p:cNvPr>
          <p:cNvSpPr/>
          <p:nvPr/>
        </p:nvSpPr>
        <p:spPr>
          <a:xfrm flipH="1">
            <a:off x="837112" y="565421"/>
            <a:ext cx="6852160" cy="830996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fa-IR" sz="2800" dirty="0"/>
              <a:t>Signed-Benaloh Homomorphic Encryption</a:t>
            </a:r>
            <a:endParaRPr lang="fa-IR" sz="6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51212C8-0F47-3B4F-69CE-6EEB24ED5F8B}"/>
                  </a:ext>
                </a:extLst>
              </p:cNvPr>
              <p:cNvSpPr txBox="1"/>
              <p:nvPr/>
            </p:nvSpPr>
            <p:spPr>
              <a:xfrm>
                <a:off x="1688611" y="3819976"/>
                <a:ext cx="981388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 rtl="1"/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مجاز بودن کلاینت برای ارسال به کمک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𝐼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مورد ارزیابی قرار می‌گیرد.</a:t>
                </a:r>
                <a:endParaRPr lang="fa-IR" sz="3200" dirty="0">
                  <a:solidFill>
                    <a:srgbClr val="000000"/>
                  </a:solidFill>
                  <a:latin typeface="Vazir FD" pitchFamily="2" charset="-78"/>
                  <a:cs typeface="Vazir FD" pitchFamily="2" charset="-78"/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51212C8-0F47-3B4F-69CE-6EEB24ED5F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8611" y="3819976"/>
                <a:ext cx="9813882" cy="461665"/>
              </a:xfrm>
              <a:prstGeom prst="rect">
                <a:avLst/>
              </a:prstGeom>
              <a:blipFill>
                <a:blip r:embed="rId4"/>
                <a:stretch>
                  <a:fillRect t="-8000" r="-994" b="-33333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47554EB-29B2-AFB8-C0C9-E1018787FC47}"/>
                  </a:ext>
                </a:extLst>
              </p:cNvPr>
              <p:cNvSpPr txBox="1"/>
              <p:nvPr/>
            </p:nvSpPr>
            <p:spPr>
              <a:xfrm>
                <a:off x="1688611" y="4317940"/>
                <a:ext cx="981388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 rtl="1"/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صلاحیت دور به کمک بررسی سه تایی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𝐼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𝑅𝐼𝐷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𝑛𝑜𝑢𝑛𝑐𝑒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 محقق می‌شود.</a:t>
                </a:r>
                <a:endParaRPr lang="fa-IR" sz="3200" dirty="0">
                  <a:solidFill>
                    <a:srgbClr val="000000"/>
                  </a:solidFill>
                  <a:latin typeface="Vazir FD" pitchFamily="2" charset="-78"/>
                  <a:cs typeface="Vazir FD" pitchFamily="2" charset="-78"/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47554EB-29B2-AFB8-C0C9-E1018787FC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8611" y="4317940"/>
                <a:ext cx="9813882" cy="461665"/>
              </a:xfrm>
              <a:prstGeom prst="rect">
                <a:avLst/>
              </a:prstGeom>
              <a:blipFill>
                <a:blip r:embed="rId5"/>
                <a:stretch>
                  <a:fillRect t="-7895" r="-994" b="-31579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7B4E594-8935-5D7D-8EAA-DD9A0F3A5D18}"/>
                  </a:ext>
                </a:extLst>
              </p:cNvPr>
              <p:cNvSpPr txBox="1"/>
              <p:nvPr/>
            </p:nvSpPr>
            <p:spPr>
              <a:xfrm>
                <a:off x="1688611" y="4873309"/>
                <a:ext cx="981388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 rtl="1"/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اعتبار پیا با تابع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𝑉𝑒𝑟𝑖𝑓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d>
                      <m:dPr>
                        <m:sepChr m:val=",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 بررسی می‌شود.</a:t>
                </a:r>
                <a:endParaRPr lang="fa-IR" sz="3200" dirty="0">
                  <a:solidFill>
                    <a:srgbClr val="000000"/>
                  </a:solidFill>
                  <a:latin typeface="Vazir FD" pitchFamily="2" charset="-78"/>
                  <a:cs typeface="Vazir FD" pitchFamily="2" charset="-78"/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7B4E594-8935-5D7D-8EAA-DD9A0F3A5D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8611" y="4873309"/>
                <a:ext cx="9813882" cy="461665"/>
              </a:xfrm>
              <a:prstGeom prst="rect">
                <a:avLst/>
              </a:prstGeom>
              <a:blipFill>
                <a:blip r:embed="rId6"/>
                <a:stretch>
                  <a:fillRect t="-10526" r="-994" b="-28947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35050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9" grpId="0"/>
      <p:bldP spid="32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F3A5E-5313-A55B-3BEF-68B8F0C9B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87927384-4354-A635-B3BF-562405E7204A}"/>
              </a:ext>
            </a:extLst>
          </p:cNvPr>
          <p:cNvSpPr/>
          <p:nvPr/>
        </p:nvSpPr>
        <p:spPr>
          <a:xfrm>
            <a:off x="573692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3051BCB5-846E-8638-4A97-EB82297001A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130E04BE-4268-425D-F9C0-EFE8CCF0EA85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DABD3F5-306F-5AFB-934C-D984455AB52D}"/>
              </a:ext>
            </a:extLst>
          </p:cNvPr>
          <p:cNvSpPr txBox="1"/>
          <p:nvPr/>
        </p:nvSpPr>
        <p:spPr>
          <a:xfrm>
            <a:off x="1688611" y="1920929"/>
            <a:ext cx="98138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sz="2400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بسته‌های پیامی که اعتبار آنها تایید شده باشد، جهت اجماع استفاده می‌شوند.</a:t>
            </a:r>
            <a:endParaRPr lang="fa-IR" sz="32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3BAAD2F-0A8C-A147-9D37-9E0C548E7A40}"/>
                  </a:ext>
                </a:extLst>
              </p:cNvPr>
              <p:cNvSpPr txBox="1"/>
              <p:nvPr/>
            </p:nvSpPr>
            <p:spPr>
              <a:xfrm>
                <a:off x="1351351" y="2851152"/>
                <a:ext cx="9813882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>
                      <m:r>
                        <a:rPr lang="en-US" sz="3200" i="1" smtClean="0"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𝐼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𝑅𝐼𝐷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𝑛𝑜𝑢𝑛𝑐𝑒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3BAAD2F-0A8C-A147-9D37-9E0C548E7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1351" y="2851152"/>
                <a:ext cx="9813882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C5287B43-6F44-A58C-9F92-F7F14164D960}"/>
              </a:ext>
            </a:extLst>
          </p:cNvPr>
          <p:cNvSpPr/>
          <p:nvPr/>
        </p:nvSpPr>
        <p:spPr>
          <a:xfrm flipH="1">
            <a:off x="837112" y="565421"/>
            <a:ext cx="6852160" cy="830996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fa-IR" sz="2800" dirty="0"/>
              <a:t>Signed-Benaloh Homomorphic Encryption</a:t>
            </a:r>
            <a:endParaRPr lang="fa-IR" sz="6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62C4FA7-B57E-12BC-28B7-DF38B99739DD}"/>
                  </a:ext>
                </a:extLst>
              </p:cNvPr>
              <p:cNvSpPr txBox="1"/>
              <p:nvPr/>
            </p:nvSpPr>
            <p:spPr>
              <a:xfrm>
                <a:off x="-672896" y="3812280"/>
                <a:ext cx="6096000" cy="7645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𝑎𝑔𝑔</m:t>
                          </m:r>
                        </m:sub>
                      </m:sSub>
                      <m:r>
                        <a:rPr lang="fa-IR" i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grow m:val="on"/>
                          <m:supHide m:val="on"/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𝒜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fa-I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p>
                          </m:sSubSup>
                        </m:e>
                      </m:nary>
                      <m:r>
                        <a:rPr lang="fa-IR" i="0">
                          <a:latin typeface="Cambria Math" panose="02040503050406030204" pitchFamily="18" charset="0"/>
                        </a:rPr>
                        <m:t>  </m:t>
                      </m:r>
                      <m:d>
                        <m:dPr>
                          <m:ctrlPr>
                            <a:rPr lang="fa-IR" i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a-IR" i="0">
                              <a:latin typeface="Cambria Math" panose="02040503050406030204" pitchFamily="18" charset="0"/>
                            </a:rPr>
                            <m:t>mod</m:t>
                          </m:r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fa-IR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62C4FA7-B57E-12BC-28B7-DF38B99739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672896" y="3812280"/>
                <a:ext cx="6096000" cy="76456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F0B4D3D-776A-DD8E-5EC2-ECEBC0AF03B2}"/>
                  </a:ext>
                </a:extLst>
              </p:cNvPr>
              <p:cNvSpPr txBox="1"/>
              <p:nvPr/>
            </p:nvSpPr>
            <p:spPr>
              <a:xfrm>
                <a:off x="1253836" y="4576848"/>
                <a:ext cx="6435436" cy="8610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fa-IR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grow m:val="on"/>
                          <m:supHide m:val="on"/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𝒜</m:t>
                          </m:r>
                        </m:sub>
                        <m:sup/>
                        <m:e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(</m:t>
                          </m:r>
                        </m:e>
                      </m:nary>
                      <m:sSup>
                        <m:sSup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  <m:sSubSup>
                        <m:sSubSup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bSup>
                      <m:sSup>
                        <m:sSupPr>
                          <m:ctrlPr>
                            <a:rPr lang="fa-IR" i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  <m:r>
                        <a:rPr lang="fa-IR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nary>
                            <m:naryPr>
                              <m:chr m:val="∑"/>
                              <m:limLoc m:val="undOvr"/>
                              <m:grow m:val="on"/>
                              <m:supHide m:val="on"/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a-IR" i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fa-IR" i="0">
                                  <a:latin typeface="Cambria Math" panose="02040503050406030204" pitchFamily="18" charset="0"/>
                                </a:rPr>
                                <m:t>𝒜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fa-I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  <m:r>
                        <a:rPr lang="fa-IR" i="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∏"/>
                                  <m:limLoc m:val="undOvr"/>
                                  <m:grow m:val="on"/>
                                  <m:supHide m:val="on"/>
                                  <m:ctrlPr>
                                    <a:rPr lang="fa-IR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fa-IR" i="0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a:rPr lang="fa-IR" i="0">
                                      <a:latin typeface="Cambria Math" panose="02040503050406030204" pitchFamily="18" charset="0"/>
                                    </a:rPr>
                                    <m:t>𝒜</m:t>
                                  </m:r>
                                </m:sub>
                                <m:sup/>
                                <m:e>
                                  <m:sSubSup>
                                    <m:sSubSupPr>
                                      <m:ctrlPr>
                                        <a:rPr lang="fa-I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a-I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fa-I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sSub>
                                        <m:sSubPr>
                                          <m:ctrlPr>
                                            <a:rPr lang="fa-I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a-IR" i="1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fa-I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sup>
                                  </m:sSub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  <m:r>
                        <a:rPr lang="fa-IR" i="0">
                          <a:latin typeface="Cambria Math" panose="02040503050406030204" pitchFamily="18" charset="0"/>
                        </a:rPr>
                        <m:t>  </m:t>
                      </m:r>
                      <m:d>
                        <m:dPr>
                          <m:ctrlPr>
                            <a:rPr lang="fa-IR" i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a-IR" i="0">
                              <a:latin typeface="Cambria Math" panose="02040503050406030204" pitchFamily="18" charset="0"/>
                            </a:rPr>
                            <m:t>mod</m:t>
                          </m:r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fa-IR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F0B4D3D-776A-DD8E-5EC2-ECEBC0AF03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3836" y="4576848"/>
                <a:ext cx="6435436" cy="86100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90B45F0-4CE1-6070-3378-FEAE765F26E1}"/>
                  </a:ext>
                </a:extLst>
              </p:cNvPr>
              <p:cNvSpPr txBox="1"/>
              <p:nvPr/>
            </p:nvSpPr>
            <p:spPr>
              <a:xfrm>
                <a:off x="-177144" y="5463698"/>
                <a:ext cx="6435436" cy="8288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𝑎𝑔𝑔</m:t>
                          </m:r>
                        </m:sub>
                      </m:sSub>
                      <m:r>
                        <a:rPr lang="fa-I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𝑃</m:t>
                          </m:r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limLoc m:val="undOvr"/>
                              <m:grow m:val="on"/>
                              <m:supHide m:val="on"/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a-IR" i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fa-IR" i="0">
                                  <a:latin typeface="Cambria Math" panose="02040503050406030204" pitchFamily="18" charset="0"/>
                                </a:rPr>
                                <m:t>𝒜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fa-I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fa-IR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90B45F0-4CE1-6070-3378-FEAE765F26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77144" y="5463698"/>
                <a:ext cx="6435436" cy="82888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293240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0" grpId="0"/>
      <p:bldP spid="12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1DCDE-C734-183C-2D91-7CEFF1AE8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CFF7B6B8-C757-EE23-CDFC-B52CA6B1E858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A186926-F22B-5614-D40D-F3D96D9277D9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FB25C1BC-6A1D-3BC3-74D0-157CE7954E50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55AFFA8-455F-B898-4DC8-C654A193E541}"/>
                  </a:ext>
                </a:extLst>
              </p:cNvPr>
              <p:cNvSpPr txBox="1"/>
              <p:nvPr/>
            </p:nvSpPr>
            <p:spPr>
              <a:xfrm>
                <a:off x="1351351" y="2851152"/>
                <a:ext cx="9813882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>
                      <m:r>
                        <a:rPr lang="en-US" sz="3200" i="1" smtClean="0"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𝐼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𝑅𝐼𝐷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𝑛𝑜𝑢𝑛𝑐𝑒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55AFFA8-455F-B898-4DC8-C654A193E5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1351" y="2851152"/>
                <a:ext cx="9813882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1ED5F9E-8635-EB5B-E3A8-BF7973F9DE72}"/>
                  </a:ext>
                </a:extLst>
              </p:cNvPr>
              <p:cNvSpPr txBox="1"/>
              <p:nvPr/>
            </p:nvSpPr>
            <p:spPr>
              <a:xfrm>
                <a:off x="3099455" y="4508378"/>
                <a:ext cx="6096000" cy="7645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fa-IR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fa-IR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𝑎𝑔𝑔</m:t>
                              </m:r>
                            </m:sub>
                          </m:sSub>
                        </m:e>
                      </m:d>
                      <m:r>
                        <a:rPr lang="fa-IR" i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grow m:val="on"/>
                          <m:supHide m:val="on"/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𝒜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fa-IR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1ED5F9E-8635-EB5B-E3A8-BF7973F9DE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9455" y="4508378"/>
                <a:ext cx="6096000" cy="76456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81BE6A75-99EF-1707-5797-DCDDBA01C5A4}"/>
              </a:ext>
            </a:extLst>
          </p:cNvPr>
          <p:cNvSpPr/>
          <p:nvPr/>
        </p:nvSpPr>
        <p:spPr>
          <a:xfrm flipH="1">
            <a:off x="837112" y="565421"/>
            <a:ext cx="6852160" cy="830996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fa-IR" sz="2800" dirty="0"/>
              <a:t>Signed-Benaloh Homomorphic Encryption</a:t>
            </a:r>
            <a:endParaRPr lang="fa-IR" sz="6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878740-A271-2D3C-7807-8414500A390D}"/>
              </a:ext>
            </a:extLst>
          </p:cNvPr>
          <p:cNvSpPr txBox="1"/>
          <p:nvPr/>
        </p:nvSpPr>
        <p:spPr>
          <a:xfrm>
            <a:off x="1688611" y="1920929"/>
            <a:ext cx="98138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sz="2400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بسته‌های پیامی که اعتبار آنها تایید شده باشد، جهت اجماع استفاده می‌شوند.</a:t>
            </a:r>
            <a:endParaRPr lang="fa-IR" sz="32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EF0C827-E3DB-F2EB-FDD3-11A3D08C6D00}"/>
                  </a:ext>
                </a:extLst>
              </p:cNvPr>
              <p:cNvSpPr txBox="1"/>
              <p:nvPr/>
            </p:nvSpPr>
            <p:spPr>
              <a:xfrm>
                <a:off x="2878282" y="3616082"/>
                <a:ext cx="6435436" cy="8288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𝑎𝑔𝑔</m:t>
                          </m:r>
                        </m:sub>
                      </m:sSub>
                      <m:r>
                        <a:rPr lang="fa-I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𝑃</m:t>
                          </m:r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limLoc m:val="undOvr"/>
                              <m:grow m:val="on"/>
                              <m:supHide m:val="on"/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a-IR" i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fa-IR" i="0">
                                  <a:latin typeface="Cambria Math" panose="02040503050406030204" pitchFamily="18" charset="0"/>
                                </a:rPr>
                                <m:t>𝒜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fa-I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fa-IR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EF0C827-E3DB-F2EB-FDD3-11A3D08C6D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8282" y="3616082"/>
                <a:ext cx="6435436" cy="82888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71477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21B3B-84E8-67CC-9AB9-D4D0946A2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A4B235B-DEBB-15F3-B076-EF12F00F5A24}"/>
              </a:ext>
            </a:extLst>
          </p:cNvPr>
          <p:cNvSpPr/>
          <p:nvPr/>
        </p:nvSpPr>
        <p:spPr>
          <a:xfrm>
            <a:off x="573692" y="357594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35690BA0-5AE1-DCBD-60C1-F8E1EDED64B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AD395D77-2D6C-7B92-A956-EF31D4EB54DE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1A838510-A99A-7932-8338-8EBE1A665DAF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F57B8A6-7934-721C-DC54-99BF401349B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313" y="1508070"/>
            <a:ext cx="10731374" cy="418547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883305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16F09-AB8B-E37C-C7F2-9861D2DDC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113DD75-4D32-DB06-37F4-C2861472A655}"/>
              </a:ext>
            </a:extLst>
          </p:cNvPr>
          <p:cNvSpPr/>
          <p:nvPr/>
        </p:nvSpPr>
        <p:spPr>
          <a:xfrm>
            <a:off x="573692" y="357594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7983040B-9F61-352A-48CF-88742D01F972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C9429F5A-EBA4-0885-A8AE-F31564BDC8F6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72A2A9DB-B5EB-2DEF-192D-6A7007F122DF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53E198-2608-E83E-C228-4F45EB73A1B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3032" y="1500831"/>
            <a:ext cx="10185935" cy="385633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753572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54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چالش‌ها و دستاوردها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1BF98D-14FD-8EA9-D495-A46C64E8608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9540188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93EA0-96A5-BDD4-1503-92F29F4BD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2FA3434-A5E0-5616-2EE9-5EB31B4AD179}"/>
              </a:ext>
            </a:extLst>
          </p:cNvPr>
          <p:cNvSpPr/>
          <p:nvPr/>
        </p:nvSpPr>
        <p:spPr>
          <a:xfrm>
            <a:off x="304799" y="357594"/>
            <a:ext cx="11499273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0E891A6-48A1-8F60-2249-89BF2CD7EE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40189" y="666265"/>
            <a:ext cx="8839082" cy="774676"/>
          </a:xfrm>
        </p:spPr>
        <p:txBody>
          <a:bodyPr>
            <a:noAutofit/>
          </a:bodyPr>
          <a:lstStyle/>
          <a:p>
            <a:pPr rtl="1"/>
            <a:r>
              <a:rPr lang="fa-IR" sz="44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چه کردیم؟</a:t>
            </a:r>
          </a:p>
        </p:txBody>
      </p:sp>
      <p:sp>
        <p:nvSpPr>
          <p:cNvPr id="12" name="Arrow: Chevron 11">
            <a:hlinkClick r:id="rId2" action="ppaction://hlinksldjump"/>
            <a:extLst>
              <a:ext uri="{FF2B5EF4-FFF2-40B4-BE49-F238E27FC236}">
                <a16:creationId xmlns:a16="http://schemas.microsoft.com/office/drawing/2014/main" id="{272F625D-85DD-8558-C615-104AF7B7DDBC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3" name="Arrow: Chevron 12">
            <a:hlinkClick r:id="rId2" action="ppaction://hlinksldjump"/>
            <a:extLst>
              <a:ext uri="{FF2B5EF4-FFF2-40B4-BE49-F238E27FC236}">
                <a16:creationId xmlns:a16="http://schemas.microsoft.com/office/drawing/2014/main" id="{3CFCF5BC-F621-44D5-3716-16C89EA28222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41D8C8D6-CCD3-FD41-6761-64275DBEAA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3455" y="1749612"/>
            <a:ext cx="11002532" cy="4303631"/>
          </a:xfrm>
        </p:spPr>
        <p:txBody>
          <a:bodyPr>
            <a:normAutofit/>
          </a:bodyPr>
          <a:lstStyle/>
          <a:p>
            <a:pPr marL="457200" indent="-457200" algn="just" rtl="1">
              <a:lnSpc>
                <a:spcPct val="170000"/>
              </a:lnSpc>
              <a:buFont typeface="Wingdings" panose="05000000000000000000" pitchFamily="2" charset="2"/>
              <a:buChar char="v"/>
            </a:pPr>
            <a:r>
              <a:rPr lang="fa-IR" sz="2000" dirty="0">
                <a:effectLst/>
                <a:latin typeface="Vazir FD" charset="-78"/>
                <a:cs typeface="Vazir FD" charset="-78"/>
              </a:rPr>
              <a:t>بررسی و ارا</a:t>
            </a:r>
            <a:r>
              <a:rPr lang="fa-IR" sz="2000" dirty="0">
                <a:latin typeface="Vazir FD" charset="-78"/>
                <a:cs typeface="Vazir FD" charset="-78"/>
              </a:rPr>
              <a:t>ئه بیس‌لاینی از مدل‌های یادگیری ماشین مناسب برای تحلیل متن‌های روانشناختی.</a:t>
            </a:r>
          </a:p>
          <a:p>
            <a:pPr marL="457200" indent="-457200" algn="just" rtl="1">
              <a:lnSpc>
                <a:spcPct val="170000"/>
              </a:lnSpc>
              <a:buFont typeface="Wingdings" panose="05000000000000000000" pitchFamily="2" charset="2"/>
              <a:buChar char="v"/>
            </a:pPr>
            <a:r>
              <a:rPr lang="fa-IR" sz="2000" dirty="0">
                <a:latin typeface="Vazir FD" charset="-78"/>
                <a:cs typeface="Vazir FD" charset="-78"/>
              </a:rPr>
              <a:t>آموزش </a:t>
            </a:r>
            <a:r>
              <a:rPr lang="fa-IR" sz="2000" dirty="0">
                <a:effectLst/>
                <a:latin typeface="Vazir FD" charset="-78"/>
                <a:cs typeface="Vazir FD" charset="-78"/>
              </a:rPr>
              <a:t>مدل‌های یادگیری ماشین به صورت مشارکتی جهت بررسی احتمال وقوع خودکشی.</a:t>
            </a:r>
          </a:p>
          <a:p>
            <a:pPr marL="457200" indent="-457200" algn="just" rtl="1">
              <a:lnSpc>
                <a:spcPct val="170000"/>
              </a:lnSpc>
              <a:buFont typeface="Wingdings" panose="05000000000000000000" pitchFamily="2" charset="2"/>
              <a:buChar char="v"/>
            </a:pPr>
            <a:r>
              <a:rPr lang="fa-IR" sz="2000" dirty="0">
                <a:latin typeface="Vazir FD" charset="-78"/>
                <a:cs typeface="Vazir FD" charset="-78"/>
              </a:rPr>
              <a:t>استفاده از متدهای رمزنگاری همریخت جهت افزایش امنیت مدل‌های پیشبینی خودکشی.</a:t>
            </a:r>
          </a:p>
          <a:p>
            <a:pPr marL="457200" indent="-457200" algn="just" rtl="1">
              <a:lnSpc>
                <a:spcPct val="170000"/>
              </a:lnSpc>
              <a:buFont typeface="Wingdings" panose="05000000000000000000" pitchFamily="2" charset="2"/>
              <a:buChar char="v"/>
            </a:pPr>
            <a:r>
              <a:rPr lang="fa-IR" sz="2000" dirty="0">
                <a:latin typeface="Vazir FD" charset="-78"/>
                <a:cs typeface="Vazir FD" charset="-78"/>
              </a:rPr>
              <a:t>ارائه طرح امنیتی </a:t>
            </a:r>
            <a:r>
              <a:rPr lang="en-US" sz="2000" dirty="0">
                <a:latin typeface="Vazir FD" charset="-78"/>
                <a:cs typeface="Vazir FD" charset="-78"/>
              </a:rPr>
              <a:t>Signed-</a:t>
            </a:r>
            <a:r>
              <a:rPr lang="en-US" sz="2000" dirty="0" err="1">
                <a:latin typeface="Vazir FD" charset="-78"/>
                <a:cs typeface="Vazir FD" charset="-78"/>
              </a:rPr>
              <a:t>Benaloh</a:t>
            </a:r>
            <a:r>
              <a:rPr lang="en-US" sz="2000" dirty="0">
                <a:latin typeface="Vazir FD" charset="-78"/>
                <a:cs typeface="Vazir FD" charset="-78"/>
              </a:rPr>
              <a:t> Homomorphic Encryption</a:t>
            </a:r>
            <a:r>
              <a:rPr lang="fa-IR" sz="2000" dirty="0">
                <a:latin typeface="Vazir FD" charset="-78"/>
                <a:cs typeface="Vazir FD" charset="-78"/>
              </a:rPr>
              <a:t> جهت تضمین امنیت مدل یادگیری مشارکتی.</a:t>
            </a:r>
            <a:endParaRPr lang="fa-IR" sz="2000" dirty="0">
              <a:effectLst/>
              <a:latin typeface="Vazir FD" charset="-78"/>
              <a:cs typeface="Vazir FD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3520057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799" y="357594"/>
            <a:ext cx="11499273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5861" y="650895"/>
            <a:ext cx="8839082" cy="774676"/>
          </a:xfrm>
        </p:spPr>
        <p:txBody>
          <a:bodyPr>
            <a:noAutofit/>
          </a:bodyPr>
          <a:lstStyle/>
          <a:p>
            <a:pPr rtl="1"/>
            <a:r>
              <a:rPr lang="fa-IR" sz="44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چالش‌ها و فرصت‌های پیش رو</a:t>
            </a:r>
          </a:p>
        </p:txBody>
      </p:sp>
      <p:sp>
        <p:nvSpPr>
          <p:cNvPr id="12" name="Arrow: Chevron 11">
            <a:hlinkClick r:id="rId2" action="ppaction://hlinksldjump"/>
            <a:extLst>
              <a:ext uri="{FF2B5EF4-FFF2-40B4-BE49-F238E27FC236}">
                <a16:creationId xmlns:a16="http://schemas.microsoft.com/office/drawing/2014/main" id="{7483CB28-0A21-D4F9-E0C3-ADED8875FE8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3" name="Arrow: Chevron 12">
            <a:hlinkClick r:id="rId2" action="ppaction://hlinksldjump"/>
            <a:extLst>
              <a:ext uri="{FF2B5EF4-FFF2-40B4-BE49-F238E27FC236}">
                <a16:creationId xmlns:a16="http://schemas.microsoft.com/office/drawing/2014/main" id="{EFDC4F8A-F85F-95BC-9386-B89D80BB72F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C13FC5F6-23A8-5CE2-AB17-BDC6456887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42229" y="1749612"/>
            <a:ext cx="4683758" cy="4303631"/>
          </a:xfrm>
        </p:spPr>
        <p:txBody>
          <a:bodyPr>
            <a:normAutofit/>
          </a:bodyPr>
          <a:lstStyle/>
          <a:p>
            <a:pPr marL="457200" indent="-457200" algn="just" rtl="1">
              <a:lnSpc>
                <a:spcPct val="170000"/>
              </a:lnSpc>
              <a:buFont typeface="Wingdings" panose="05000000000000000000" pitchFamily="2" charset="2"/>
              <a:buChar char="v"/>
            </a:pPr>
            <a:r>
              <a:rPr lang="fa-IR" sz="2000" dirty="0">
                <a:effectLst/>
                <a:latin typeface="Vazir FD" charset="-78"/>
                <a:cs typeface="Vazir FD" charset="-78"/>
              </a:rPr>
              <a:t>در یادگیری مشارکتی، وزن تمام کلاینت‌ها را برابر فرض کرده‌ایم.</a:t>
            </a:r>
          </a:p>
          <a:p>
            <a:pPr marL="457200" indent="-457200" algn="just" rtl="1">
              <a:lnSpc>
                <a:spcPct val="170000"/>
              </a:lnSpc>
              <a:buFont typeface="Wingdings" panose="05000000000000000000" pitchFamily="2" charset="2"/>
              <a:buChar char="v"/>
            </a:pPr>
            <a:r>
              <a:rPr lang="fa-IR" sz="2000" dirty="0">
                <a:effectLst/>
                <a:latin typeface="Vazir FD" charset="-78"/>
                <a:cs typeface="Vazir FD" charset="-78"/>
              </a:rPr>
              <a:t>مدل هیچ واکنشی به خروجی‌های پرت از سوی کلاینت‌ها ندارد.</a:t>
            </a:r>
          </a:p>
          <a:p>
            <a:pPr marL="457200" indent="-457200" algn="just" rtl="1">
              <a:lnSpc>
                <a:spcPct val="170000"/>
              </a:lnSpc>
              <a:buFont typeface="Wingdings" panose="05000000000000000000" pitchFamily="2" charset="2"/>
              <a:buChar char="v"/>
            </a:pPr>
            <a:r>
              <a:rPr lang="fa-IR" sz="2000" dirty="0">
                <a:latin typeface="Vazir FD" charset="-78"/>
                <a:cs typeface="Vazir FD" charset="-78"/>
              </a:rPr>
              <a:t>صرفا روی داده‌های فضای مجازی دو کلاسه آموزش دیده و داده‌های کلینیکال در آن لحاظ نشده‌اند.</a:t>
            </a:r>
            <a:endParaRPr lang="fa-IR" sz="2000" dirty="0">
              <a:effectLst/>
              <a:latin typeface="Vazir FD" charset="-78"/>
              <a:cs typeface="Vazir FD" charset="-78"/>
            </a:endParaRP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B9449A8E-E416-AE29-7FA3-681097125CCF}"/>
              </a:ext>
            </a:extLst>
          </p:cNvPr>
          <p:cNvSpPr txBox="1">
            <a:spLocks/>
          </p:cNvSpPr>
          <p:nvPr/>
        </p:nvSpPr>
        <p:spPr>
          <a:xfrm>
            <a:off x="1467674" y="1749612"/>
            <a:ext cx="4683758" cy="43036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just" rtl="1">
              <a:lnSpc>
                <a:spcPct val="170000"/>
              </a:lnSpc>
              <a:buFont typeface="Wingdings" panose="05000000000000000000" pitchFamily="2" charset="2"/>
              <a:buChar char="v"/>
            </a:pPr>
            <a:r>
              <a:rPr lang="fa-IR" sz="2000" dirty="0">
                <a:latin typeface="Vazir FD" charset="-78"/>
                <a:cs typeface="Vazir FD" charset="-78"/>
              </a:rPr>
              <a:t>مدل‌های یادگیری ماشین کاملا کلاسیک هستند.</a:t>
            </a:r>
          </a:p>
          <a:p>
            <a:pPr marL="457200" indent="-457200" algn="just" rtl="1">
              <a:lnSpc>
                <a:spcPct val="170000"/>
              </a:lnSpc>
              <a:buFont typeface="Wingdings" panose="05000000000000000000" pitchFamily="2" charset="2"/>
              <a:buChar char="v"/>
            </a:pPr>
            <a:r>
              <a:rPr lang="fa-IR" sz="2000" dirty="0">
                <a:latin typeface="Vazir FD" charset="-78"/>
                <a:cs typeface="Vazir FD" charset="-78"/>
              </a:rPr>
              <a:t>مدل در برابر حملات کوانتومی آسیب‌پذیر است.</a:t>
            </a:r>
          </a:p>
          <a:p>
            <a:pPr marL="457200" indent="-457200" algn="just" rtl="1">
              <a:lnSpc>
                <a:spcPct val="170000"/>
              </a:lnSpc>
              <a:buFont typeface="Wingdings" panose="05000000000000000000" pitchFamily="2" charset="2"/>
              <a:buChar char="v"/>
            </a:pPr>
            <a:r>
              <a:rPr lang="fa-IR" sz="2000" dirty="0">
                <a:latin typeface="Vazir FD" charset="-78"/>
                <a:cs typeface="Vazir FD" charset="-78"/>
              </a:rPr>
              <a:t>سناریوهایی که در آنها کلاینت رفتار خصمانه داشته باشد در نظر گرفته نشده است.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1D0D79-500D-B986-A6E3-6B41E4542971}"/>
              </a:ext>
            </a:extLst>
          </p:cNvPr>
          <p:cNvSpPr txBox="1"/>
          <p:nvPr/>
        </p:nvSpPr>
        <p:spPr>
          <a:xfrm>
            <a:off x="13175673" y="2854036"/>
            <a:ext cx="184731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5026062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0075A-2831-DFC8-871B-ADCBF3390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E8DE86B8-A041-9B1C-167F-9D3AB03DD2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14951" y="369731"/>
            <a:ext cx="8839082" cy="774676"/>
          </a:xfrm>
        </p:spPr>
        <p:txBody>
          <a:bodyPr>
            <a:noAutofit/>
          </a:bodyPr>
          <a:lstStyle/>
          <a:p>
            <a:pPr rtl="1"/>
            <a:r>
              <a:rPr lang="fa-IR" sz="44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فرصت‌های عملیاتی</a:t>
            </a:r>
          </a:p>
        </p:txBody>
      </p:sp>
      <p:sp>
        <p:nvSpPr>
          <p:cNvPr id="12" name="Arrow: Chevron 11">
            <a:hlinkClick r:id="rId2" action="ppaction://hlinksldjump"/>
            <a:extLst>
              <a:ext uri="{FF2B5EF4-FFF2-40B4-BE49-F238E27FC236}">
                <a16:creationId xmlns:a16="http://schemas.microsoft.com/office/drawing/2014/main" id="{EDFF6518-0ABA-2030-933B-36F1466C71C3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3" name="Arrow: Chevron 12">
            <a:hlinkClick r:id="rId2" action="ppaction://hlinksldjump"/>
            <a:extLst>
              <a:ext uri="{FF2B5EF4-FFF2-40B4-BE49-F238E27FC236}">
                <a16:creationId xmlns:a16="http://schemas.microsoft.com/office/drawing/2014/main" id="{6BF6C942-8742-A894-BB54-FD5337ABBCB2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B8FFEA2E-B07B-C33E-8642-6473B548BB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51432" y="4128655"/>
            <a:ext cx="5474555" cy="1924588"/>
          </a:xfrm>
        </p:spPr>
        <p:txBody>
          <a:bodyPr>
            <a:normAutofit/>
          </a:bodyPr>
          <a:lstStyle/>
          <a:p>
            <a:pPr rtl="1">
              <a:lnSpc>
                <a:spcPct val="170000"/>
              </a:lnSpc>
            </a:pPr>
            <a:r>
              <a:rPr lang="fa-IR" sz="2000" dirty="0">
                <a:latin typeface="Vazir FD" charset="-78"/>
                <a:cs typeface="Vazir FD" charset="-78"/>
              </a:rPr>
              <a:t>دنا، پکیج کلمات </a:t>
            </a:r>
            <a:r>
              <a:rPr lang="fa-IR" sz="2000">
                <a:latin typeface="Vazir FD" charset="-78"/>
                <a:cs typeface="Vazir FD" charset="-78"/>
              </a:rPr>
              <a:t>پربسامد فارسی</a:t>
            </a:r>
            <a:endParaRPr lang="fa-IR" sz="2000" dirty="0">
              <a:latin typeface="Vazir FD" charset="-78"/>
              <a:cs typeface="Vazir FD" charset="-78"/>
            </a:endParaRPr>
          </a:p>
          <a:p>
            <a:pPr>
              <a:lnSpc>
                <a:spcPct val="170000"/>
              </a:lnSpc>
            </a:pPr>
            <a:r>
              <a:rPr lang="en-US" sz="1400" dirty="0">
                <a:latin typeface="Vazir FD" charset="-78"/>
                <a:cs typeface="+mj-cs"/>
              </a:rPr>
              <a:t>sajjadranjbaryazdi.me/blogs/104_Dena_stopwords.php</a:t>
            </a:r>
            <a:endParaRPr lang="fa-IR" sz="1400" dirty="0">
              <a:effectLst/>
              <a:latin typeface="Vazir FD" charset="-78"/>
              <a:cs typeface="+mj-cs"/>
            </a:endParaRP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5667A730-4886-8B45-3188-D4C2D28E34CD}"/>
              </a:ext>
            </a:extLst>
          </p:cNvPr>
          <p:cNvSpPr txBox="1">
            <a:spLocks/>
          </p:cNvSpPr>
          <p:nvPr/>
        </p:nvSpPr>
        <p:spPr>
          <a:xfrm>
            <a:off x="817418" y="4128655"/>
            <a:ext cx="5334014" cy="19245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1">
              <a:lnSpc>
                <a:spcPct val="170000"/>
              </a:lnSpc>
            </a:pPr>
            <a:r>
              <a:rPr lang="fa-IR" sz="2000" dirty="0">
                <a:latin typeface="Vazir FD" charset="-78"/>
                <a:cs typeface="Vazir FD" charset="-78"/>
              </a:rPr>
              <a:t>سیستم کنترل و رصد مخاطرات مربروط به خودکشی در نرم‌افزار مدیریت سالن‌مطالعه</a:t>
            </a:r>
          </a:p>
          <a:p>
            <a:pPr rtl="1">
              <a:lnSpc>
                <a:spcPct val="170000"/>
              </a:lnSpc>
            </a:pPr>
            <a:r>
              <a:rPr lang="en-US" sz="2000" dirty="0">
                <a:latin typeface="Vazir FD" charset="-78"/>
                <a:cs typeface="Vazir FD" charset="-78"/>
              </a:rPr>
              <a:t>salonmotalee.ir</a:t>
            </a:r>
            <a:endParaRPr lang="fa-IR" sz="2000" dirty="0">
              <a:latin typeface="Vazir FD" charset="-78"/>
              <a:cs typeface="Vazir FD" charset="-78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CD47848-CD06-EFDD-9BF9-680CFC71E9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6106" y="1777976"/>
            <a:ext cx="2395126" cy="239512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92B033E-1002-C222-5114-858123E19C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2954" y="2110160"/>
            <a:ext cx="2062942" cy="2062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3608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34836" y="2317953"/>
            <a:ext cx="9033163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از توجه شما سپاسگزارم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BADFCF-3974-2359-3632-148C34B4EB7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880444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Nova">
      <a:dk1>
        <a:srgbClr val="172144"/>
      </a:dk1>
      <a:lt1>
        <a:srgbClr val="FFFFFF"/>
      </a:lt1>
      <a:dk2>
        <a:srgbClr val="4956E4"/>
      </a:dk2>
      <a:lt2>
        <a:srgbClr val="4D3FBD"/>
      </a:lt2>
      <a:accent1>
        <a:srgbClr val="807AF2"/>
      </a:accent1>
      <a:accent2>
        <a:srgbClr val="799CEA"/>
      </a:accent2>
      <a:accent3>
        <a:srgbClr val="FF4041"/>
      </a:accent3>
      <a:accent4>
        <a:srgbClr val="FF0A0B"/>
      </a:accent4>
      <a:accent5>
        <a:srgbClr val="8694FD"/>
      </a:accent5>
      <a:accent6>
        <a:srgbClr val="4D61FC"/>
      </a:accent6>
      <a:hlink>
        <a:srgbClr val="2F8299"/>
      </a:hlink>
      <a:folHlink>
        <a:srgbClr val="8C8C8C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1978</TotalTime>
  <Words>2095</Words>
  <Application>Microsoft Office PowerPoint</Application>
  <PresentationFormat>Widescreen</PresentationFormat>
  <Paragraphs>534</Paragraphs>
  <Slides>57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71" baseType="lpstr">
      <vt:lpstr>Shabnam</vt:lpstr>
      <vt:lpstr>Calibri Light</vt:lpstr>
      <vt:lpstr>inherit</vt:lpstr>
      <vt:lpstr>Calibri</vt:lpstr>
      <vt:lpstr>Vazir FD</vt:lpstr>
      <vt:lpstr>Cambria Math</vt:lpstr>
      <vt:lpstr>Vazir Light FD\</vt:lpstr>
      <vt:lpstr>B Titr</vt:lpstr>
      <vt:lpstr>Arial</vt:lpstr>
      <vt:lpstr>Wingdings</vt:lpstr>
      <vt:lpstr>Vazir Light FD</vt:lpstr>
      <vt:lpstr>Estedad Black</vt:lpstr>
      <vt:lpstr>S Besmellah 1</vt:lpstr>
      <vt:lpstr>Office Theme</vt:lpstr>
      <vt:lpstr>PowerPoint Presentation</vt:lpstr>
      <vt:lpstr>PowerPoint Presentation</vt:lpstr>
      <vt:lpstr>فصل اول</vt:lpstr>
      <vt:lpstr>جایی که جان‌ها نبودن را بر بودن ترجیح می‌دهند</vt:lpstr>
      <vt:lpstr>جایی که جان‌ها نبودن را بر بودن ترجیح می‌دهند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فصل دوم</vt:lpstr>
      <vt:lpstr>مجموعه داده</vt:lpstr>
      <vt:lpstr>PowerPoint Presentation</vt:lpstr>
      <vt:lpstr>PowerPoint Presentation</vt:lpstr>
      <vt:lpstr>PowerPoint Presentation</vt:lpstr>
      <vt:lpstr>راه حل؟</vt:lpstr>
      <vt:lpstr>PowerPoint Presentation</vt:lpstr>
      <vt:lpstr>PowerPoint Presentation</vt:lpstr>
      <vt:lpstr>PowerPoint Presentation</vt:lpstr>
      <vt:lpstr>فصل سوم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فصل چهارم</vt:lpstr>
      <vt:lpstr>قفل محکمی ساختیم، اما کلید را زیر گلدان گذاشتیم!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چالش‌ها و دستاوردها</vt:lpstr>
      <vt:lpstr>چه کردیم؟</vt:lpstr>
      <vt:lpstr>چالش‌ها و فرصت‌های پیش رو</vt:lpstr>
      <vt:lpstr>فرصت‌های عملیاتی</vt:lpstr>
      <vt:lpstr>از توجه شما سپاسگزارم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windows</dc:creator>
  <cp:lastModifiedBy>Plus</cp:lastModifiedBy>
  <cp:revision>48</cp:revision>
  <dcterms:created xsi:type="dcterms:W3CDTF">2023-11-11T09:29:25Z</dcterms:created>
  <dcterms:modified xsi:type="dcterms:W3CDTF">2026-10-18T08:38:05Z</dcterms:modified>
</cp:coreProperties>
</file>