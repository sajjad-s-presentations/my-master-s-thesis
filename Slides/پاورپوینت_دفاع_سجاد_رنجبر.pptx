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3.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eadcae00d234862" /><Relationship Type="http://schemas.openxmlformats.org/officeDocument/2006/relationships/extended-properties" Target="/docProps/app.xml" Id="R64a82d0894864a81" /><Relationship Type="http://schemas.openxmlformats.org/officeDocument/2006/relationships/officeDocument" Target="/ppt/presentation.xml" Id="Rfc34e5eec5774a39" /></Relationships>
</file>

<file path=ppt/presentation.xml><?xml version="1.0" encoding="utf-8"?>
<p:presentation xmlns:p="http://schemas.openxmlformats.org/presentationml/2006/main">
  <p:sldMasterIdLst>
    <p:sldMasterId xmlns:r="http://schemas.openxmlformats.org/officeDocument/2006/relationships" id="2147483648" r:id="R23a289c5c1a24667"/>
  </p:sldMasterIdLst>
  <p:notesMasterIdLst>
    <p:notesMasterId xmlns:r="http://schemas.openxmlformats.org/officeDocument/2006/relationships" r:id="R097ed440e3d944e5"/>
  </p:notesMasterIdLst>
  <p:sldIdLst>
    <p:sldId xmlns:r="http://schemas.openxmlformats.org/officeDocument/2006/relationships" id="256" r:id="R483b7c9a335a442e"/>
    <p:sldId xmlns:r="http://schemas.openxmlformats.org/officeDocument/2006/relationships" id="257" r:id="R4f3364f285444c42"/>
    <p:sldId xmlns:r="http://schemas.openxmlformats.org/officeDocument/2006/relationships" id="258" r:id="Re09a02b58b0c44c0"/>
    <p:sldId xmlns:r="http://schemas.openxmlformats.org/officeDocument/2006/relationships" id="259" r:id="R635cb63f3bd84f05"/>
    <p:sldId xmlns:r="http://schemas.openxmlformats.org/officeDocument/2006/relationships" id="260" r:id="Rd9b013058d724485"/>
    <p:sldId xmlns:r="http://schemas.openxmlformats.org/officeDocument/2006/relationships" id="261" r:id="Ra1b0d2b449ff4b9d"/>
    <p:sldId xmlns:r="http://schemas.openxmlformats.org/officeDocument/2006/relationships" id="262" r:id="R6d8c38f628d84ae4"/>
    <p:sldId xmlns:r="http://schemas.openxmlformats.org/officeDocument/2006/relationships" id="263" r:id="Rf1b514f4a96249f2"/>
    <p:sldId xmlns:r="http://schemas.openxmlformats.org/officeDocument/2006/relationships" id="264" r:id="Re4814a068d9e4158"/>
    <p:sldId xmlns:r="http://schemas.openxmlformats.org/officeDocument/2006/relationships" id="265" r:id="Rba4c014f670c4fc3"/>
    <p:sldId xmlns:r="http://schemas.openxmlformats.org/officeDocument/2006/relationships" id="266" r:id="R4a7063193d6b401f"/>
    <p:sldId xmlns:r="http://schemas.openxmlformats.org/officeDocument/2006/relationships" id="267" r:id="Rf2c97d61c4334b13"/>
    <p:sldId xmlns:r="http://schemas.openxmlformats.org/officeDocument/2006/relationships" id="268" r:id="R4c4422eac07f4f6d"/>
    <p:sldId xmlns:r="http://schemas.openxmlformats.org/officeDocument/2006/relationships" id="269" r:id="R0a414133328b465c"/>
    <p:sldId xmlns:r="http://schemas.openxmlformats.org/officeDocument/2006/relationships" id="270" r:id="R7db683bc79da46b1"/>
    <p:sldId xmlns:r="http://schemas.openxmlformats.org/officeDocument/2006/relationships" id="271" r:id="R30d83f6b1fda4ee5"/>
    <p:sldId xmlns:r="http://schemas.openxmlformats.org/officeDocument/2006/relationships" id="272" r:id="Rdf83c7f83c8d4a73"/>
    <p:sldId xmlns:r="http://schemas.openxmlformats.org/officeDocument/2006/relationships" id="273" r:id="R887821fb20834624"/>
    <p:sldId xmlns:r="http://schemas.openxmlformats.org/officeDocument/2006/relationships" id="274" r:id="Refb193a29a6d413d"/>
    <p:sldId xmlns:r="http://schemas.openxmlformats.org/officeDocument/2006/relationships" id="275" r:id="R3670e01a0cf943c3"/>
    <p:sldId xmlns:r="http://schemas.openxmlformats.org/officeDocument/2006/relationships" id="276" r:id="R959c36f754254889"/>
    <p:sldId xmlns:r="http://schemas.openxmlformats.org/officeDocument/2006/relationships" id="277" r:id="Re859e5811a8846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bff5b8e8a54083" /><Relationship Type="http://schemas.openxmlformats.org/officeDocument/2006/relationships/slideMaster" Target="/ppt/slideMasters/slideMaster1.xml" Id="R23a289c5c1a24667" /><Relationship Type="http://schemas.openxmlformats.org/officeDocument/2006/relationships/notesMaster" Target="/ppt/notesMasters/notesMaster1.xml" Id="R097ed440e3d944e5" /><Relationship Type="http://schemas.openxmlformats.org/officeDocument/2006/relationships/presProps" Target="/ppt/presProps.xml" Id="Redf8c4e94db94ab0" /><Relationship Type="http://schemas.openxmlformats.org/officeDocument/2006/relationships/tableStyles" Target="/ppt/tableStyles.xml" Id="Rb60828c525ac480b" /><Relationship Type="http://schemas.openxmlformats.org/officeDocument/2006/relationships/slide" Target="/ppt/slides/slide1.xml" Id="R483b7c9a335a442e" /><Relationship Type="http://schemas.openxmlformats.org/officeDocument/2006/relationships/slide" Target="/ppt/slides/slide2.xml" Id="R4f3364f285444c42" /><Relationship Type="http://schemas.openxmlformats.org/officeDocument/2006/relationships/slide" Target="/ppt/slides/slide3.xml" Id="Re09a02b58b0c44c0" /><Relationship Type="http://schemas.openxmlformats.org/officeDocument/2006/relationships/slide" Target="/ppt/slides/slide4.xml" Id="R635cb63f3bd84f05" /><Relationship Type="http://schemas.openxmlformats.org/officeDocument/2006/relationships/slide" Target="/ppt/slides/slide5.xml" Id="Rd9b013058d724485" /><Relationship Type="http://schemas.openxmlformats.org/officeDocument/2006/relationships/slide" Target="/ppt/slides/slide6.xml" Id="Ra1b0d2b449ff4b9d" /><Relationship Type="http://schemas.openxmlformats.org/officeDocument/2006/relationships/slide" Target="/ppt/slides/slide7.xml" Id="R6d8c38f628d84ae4" /><Relationship Type="http://schemas.openxmlformats.org/officeDocument/2006/relationships/slide" Target="/ppt/slides/slide8.xml" Id="Rf1b514f4a96249f2" /><Relationship Type="http://schemas.openxmlformats.org/officeDocument/2006/relationships/slide" Target="/ppt/slides/slide9.xml" Id="Re4814a068d9e4158" /><Relationship Type="http://schemas.openxmlformats.org/officeDocument/2006/relationships/slide" Target="/ppt/slides/slide10.xml" Id="Rba4c014f670c4fc3" /><Relationship Type="http://schemas.openxmlformats.org/officeDocument/2006/relationships/slide" Target="/ppt/slides/slide11.xml" Id="R4a7063193d6b401f" /><Relationship Type="http://schemas.openxmlformats.org/officeDocument/2006/relationships/slide" Target="/ppt/slides/slide12.xml" Id="Rf2c97d61c4334b13" /><Relationship Type="http://schemas.openxmlformats.org/officeDocument/2006/relationships/slide" Target="/ppt/slides/slide13.xml" Id="R4c4422eac07f4f6d" /><Relationship Type="http://schemas.openxmlformats.org/officeDocument/2006/relationships/slide" Target="/ppt/slides/slide14.xml" Id="R0a414133328b465c" /><Relationship Type="http://schemas.openxmlformats.org/officeDocument/2006/relationships/slide" Target="/ppt/slides/slide15.xml" Id="R7db683bc79da46b1" /><Relationship Type="http://schemas.openxmlformats.org/officeDocument/2006/relationships/slide" Target="/ppt/slides/slide16.xml" Id="R30d83f6b1fda4ee5" /><Relationship Type="http://schemas.openxmlformats.org/officeDocument/2006/relationships/slide" Target="/ppt/slides/slide17.xml" Id="Rdf83c7f83c8d4a73" /><Relationship Type="http://schemas.openxmlformats.org/officeDocument/2006/relationships/slide" Target="/ppt/slides/slide18.xml" Id="R887821fb20834624" /><Relationship Type="http://schemas.openxmlformats.org/officeDocument/2006/relationships/slide" Target="/ppt/slides/slide19.xml" Id="Refb193a29a6d413d" /><Relationship Type="http://schemas.openxmlformats.org/officeDocument/2006/relationships/slide" Target="/ppt/slides/slide20.xml" Id="R3670e01a0cf943c3" /><Relationship Type="http://schemas.openxmlformats.org/officeDocument/2006/relationships/slide" Target="/ppt/slides/slide21.xml" Id="R959c36f754254889" /><Relationship Type="http://schemas.openxmlformats.org/officeDocument/2006/relationships/slide" Target="/ppt/slides/slide22.xml" Id="Re859e5811a8846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cad7ca28b543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2b0f20036244c9" /><Relationship Type="http://schemas.openxmlformats.org/officeDocument/2006/relationships/notesMaster" Target="/ppt/notesMasters/notesMaster1.xml" Id="Rdb166e541a3448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b708e3886e40c8" /><Relationship Type="http://schemas.openxmlformats.org/officeDocument/2006/relationships/notesMaster" Target="/ppt/notesMasters/notesMaster1.xml" Id="R5278295224674c6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dcc470821f434f" /><Relationship Type="http://schemas.openxmlformats.org/officeDocument/2006/relationships/notesMaster" Target="/ppt/notesMasters/notesMaster1.xml" Id="R88995a1bd9c747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99bd5387134595" /><Relationship Type="http://schemas.openxmlformats.org/officeDocument/2006/relationships/notesMaster" Target="/ppt/notesMasters/notesMaster1.xml" Id="R9ae738f3546948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fe01892ccd48ac" /><Relationship Type="http://schemas.openxmlformats.org/officeDocument/2006/relationships/notesMaster" Target="/ppt/notesMasters/notesMaster1.xml" Id="R4e73b90420aa47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d0fd95d5504592" /><Relationship Type="http://schemas.openxmlformats.org/officeDocument/2006/relationships/notesMaster" Target="/ppt/notesMasters/notesMaster1.xml" Id="R3b6e2b5191ae4e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f6ef674332346d6" /><Relationship Type="http://schemas.openxmlformats.org/officeDocument/2006/relationships/notesMaster" Target="/ppt/notesMasters/notesMaster1.xml" Id="R7d1ce0bf59e24e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81722823364b7a" /><Relationship Type="http://schemas.openxmlformats.org/officeDocument/2006/relationships/notesMaster" Target="/ppt/notesMasters/notesMaster1.xml" Id="Reb201d9a01b8456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997786d55ca486c" /><Relationship Type="http://schemas.openxmlformats.org/officeDocument/2006/relationships/notesMaster" Target="/ppt/notesMasters/notesMaster1.xml" Id="R5ab7520e6ae74b2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129faec9a434dcc" /><Relationship Type="http://schemas.openxmlformats.org/officeDocument/2006/relationships/notesMaster" Target="/ppt/notesMasters/notesMaster1.xml" Id="R025fb98f05274a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2dec93026654c99" /><Relationship Type="http://schemas.openxmlformats.org/officeDocument/2006/relationships/notesMaster" Target="/ppt/notesMasters/notesMaster1.xml" Id="R4acc651a5969491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b2d037f3b7a40b6" /><Relationship Type="http://schemas.openxmlformats.org/officeDocument/2006/relationships/notesMaster" Target="/ppt/notesMasters/notesMaster1.xml" Id="Rfac41c580ece443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30e708c6dc24bd4" /><Relationship Type="http://schemas.openxmlformats.org/officeDocument/2006/relationships/notesMaster" Target="/ppt/notesMasters/notesMaster1.xml" Id="R31086d3f1644444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7c6f83a669748fa" /><Relationship Type="http://schemas.openxmlformats.org/officeDocument/2006/relationships/notesMaster" Target="/ppt/notesMasters/notesMaster1.xml" Id="R55d469f05156437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587e33f4300462a" /><Relationship Type="http://schemas.openxmlformats.org/officeDocument/2006/relationships/notesMaster" Target="/ppt/notesMasters/notesMaster1.xml" Id="Rd79b7ae5e25c4bf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51643427ae842c6" /><Relationship Type="http://schemas.openxmlformats.org/officeDocument/2006/relationships/notesMaster" Target="/ppt/notesMasters/notesMaster1.xml" Id="Rdb041df4ffdf48d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83d2dc13d0d4ac6" /><Relationship Type="http://schemas.openxmlformats.org/officeDocument/2006/relationships/notesMaster" Target="/ppt/notesMasters/notesMaster1.xml" Id="Rdb6169a542c9442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5e37c0179aa4a2a" /><Relationship Type="http://schemas.openxmlformats.org/officeDocument/2006/relationships/notesMaster" Target="/ppt/notesMasters/notesMaster1.xml" Id="Rd85adb688b1a483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089340e6d124b4d" /><Relationship Type="http://schemas.openxmlformats.org/officeDocument/2006/relationships/notesMaster" Target="/ppt/notesMasters/notesMaster1.xml" Id="R2c642f0ecef643e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b835fa3fa324e4a" /><Relationship Type="http://schemas.openxmlformats.org/officeDocument/2006/relationships/notesMaster" Target="/ppt/notesMasters/notesMaster1.xml" Id="Ra8cc6bd7d5704a2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837d9d4976944d8" /><Relationship Type="http://schemas.openxmlformats.org/officeDocument/2006/relationships/notesMaster" Target="/ppt/notesMasters/notesMaster1.xml" Id="R7bc127c143cd450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4a44e0208dc45c8" /><Relationship Type="http://schemas.openxmlformats.org/officeDocument/2006/relationships/notesMaster" Target="/ppt/notesMasters/notesMaster1.xml" Id="R9ac7929e8a3042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rPr lang="fa-IR">
                <a:cs typeface="DejaVu Sans"/>
              </a:rPr>
              <a:t>زمان پیشنهادی: 30 ثانیه</a:t>
            </a:r>
          </a:p>
          <a:p xmlns:a="http://schemas.openxmlformats.org/drawingml/2006/main">
            <a:pPr rtl="1"/>
            <a:r>
              <a:rPr lang="fa-IR">
                <a:cs typeface="DejaVu Sans"/>
              </a:rPr>
              <a:t>بازه در ارائه: 0:00 تا 0:30</a:t>
            </a:r>
          </a:p>
          <a:p xmlns:a="http://schemas.openxmlformats.org/drawingml/2006/main">
            <a:pPr rtl="0"/>
            <a:r>
              <a:rPr lang="en-US"/>
              <a:t/>
            </a:r>
          </a:p>
          <a:p xmlns:a="http://schemas.openxmlformats.org/drawingml/2006/main">
            <a:pPr rtl="1"/>
            <a:r>
              <a:rPr lang="fa-IR">
                <a:cs typeface="DejaVu Sans"/>
              </a:rPr>
              <a:t>با سلام و احترام خدمت استاد راهنما و اعضای هیئت داوران. من سجاد رنجبر یزدی هستم و در این ارائه، چارچوب پایان‌نامه‌ام را برای حفظ امنیت داده‌های حساس در پیش‌بینی خطر خودکشی توضیح می‌دهم. مسئله اصلی، استفاده از اطلاعات چند منبع مستقل برای پیش‌بینی است، در حالی که داده‌های خام در محل باقی بمانند و خروجی‌های عددی در مسیر تبادل محافظت شوند. ابتدا روش تحلیل متن و نتایج مدل‌ها را نشان می‌دهم و سپس بر پروتکل تجمیع امن و ارزیابی کارایی آن تمرکز می‌کنم.</a:t>
            </a:r>
          </a:p>
          <a:p xmlns:a="http://schemas.openxmlformats.org/drawingml/2006/main">
            <a:pPr rtl="0"/>
            <a:r>
              <a:rPr lang="en-US"/>
              <a:t/>
            </a:r>
          </a:p>
          <a:p xmlns:a="http://schemas.openxmlformats.org/drawingml/2006/main">
            <a:pPr rtl="1"/>
            <a:r>
              <a:rPr lang="fa-IR">
                <a:cs typeface="DejaVu Sans"/>
              </a:rPr>
              <a:t>منبع: پایان‌نامه، صفحه چاپی ۴ و چکیده صفحه ۱۱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rPr lang="fa-IR">
                <a:cs typeface="DejaVu Sans"/>
              </a:rPr>
              <a:t>زمان پیشنهادی: 60 ثانیه</a:t>
            </a:r>
          </a:p>
          <a:p xmlns:a="http://schemas.openxmlformats.org/drawingml/2006/main">
            <a:pPr rtl="1"/>
            <a:r>
              <a:rPr lang="fa-IR">
                <a:cs typeface="DejaVu Sans"/>
              </a:rPr>
              <a:t>بازه در ارائه: 0:30 تا 1:30</a:t>
            </a:r>
          </a:p>
          <a:p xmlns:a="http://schemas.openxmlformats.org/drawingml/2006/main">
            <a:pPr rtl="0"/>
            <a:r>
              <a:rPr lang="en-US"/>
              <a:t/>
            </a:r>
          </a:p>
          <a:p xmlns:a="http://schemas.openxmlformats.org/drawingml/2006/main">
            <a:pPr rtl="1"/>
            <a:r>
              <a:rPr lang="fa-IR">
                <a:cs typeface="DejaVu Sans"/>
              </a:rPr>
              <a:t>متن می‌تواند نشانه‌هایی از وضعیت روانی نویسنده را در خود داشته باشد. برای استفاده از این نشانه‌ها به نمونه‌های متنوع نیاز داریم، اما تمرکز داده‌های حساس در یک مخزن مشترک، خطر افشا و دشواری اشتراک‌گذاری را افزایش می‌دهد. در معماری مشارکتی، داده آموزشی نزد هر منبع باقی می‌ماند. با این حال، خود این معماری برای امنیت پیام‌ها کافی نیست. خروجی احتمال، وزن و هویت فرستنده نیز باید محافظت شوند. بنابراین مسئله این پژوهش در دو سطح تعریف می‌شود: کیفیت طبقه‌بندی متن و امنیت تبادل و تجمیع خروجی منابع مستقل. کاربرد مورد نظر، غربالگری و کمک به بررسی متخصص است.</a:t>
            </a:r>
          </a:p>
          <a:p xmlns:a="http://schemas.openxmlformats.org/drawingml/2006/main">
            <a:pPr rtl="0"/>
            <a:r>
              <a:rPr lang="en-US"/>
              <a:t/>
            </a:r>
          </a:p>
          <a:p xmlns:a="http://schemas.openxmlformats.org/drawingml/2006/main">
            <a:pPr rtl="1"/>
            <a:r>
              <a:rPr lang="fa-IR">
                <a:cs typeface="DejaVu Sans"/>
              </a:rPr>
              <a:t>منبع: پایان‌نامه، صفحات چاپی ۲۰ تا ۲۵ و ۲۸ تا ۳۱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rPr lang="fa-IR">
                <a:cs typeface="DejaVu Sans"/>
              </a:rPr>
              <a:t>زمان پیشنهادی: 60 ثانیه</a:t>
            </a:r>
          </a:p>
          <a:p xmlns:a="http://schemas.openxmlformats.org/drawingml/2006/main">
            <a:pPr rtl="1"/>
            <a:r>
              <a:rPr lang="fa-IR">
                <a:cs typeface="DejaVu Sans"/>
              </a:rPr>
              <a:t>بازه در ارائه: 1:30 تا 2:30</a:t>
            </a:r>
          </a:p>
          <a:p xmlns:a="http://schemas.openxmlformats.org/drawingml/2006/main">
            <a:pPr rtl="0"/>
            <a:r>
              <a:rPr lang="en-US"/>
              <a:t/>
            </a:r>
          </a:p>
          <a:p xmlns:a="http://schemas.openxmlformats.org/drawingml/2006/main">
            <a:pPr rtl="1"/>
            <a:r>
              <a:rPr lang="fa-IR">
                <a:cs typeface="DejaVu Sans"/>
              </a:rPr>
              <a:t>پرسش پژوهش این است که چگونه می‌توان پیش‌بینی متنی چندمنبعی را با تبادل امن خروجی‌ها ترکیب کرد. سهم اول، پیاده‌سازی یک خط لوله تحلیل متن و مقایسه چهار خانواده مدل برای انتخاب مدل پایه است. سهم اصلی در بخش امنیت، طراحی یک بسته احرازشده پیرامون رمز Benaloh است. امضا، شناسه دور و nonce در مرحله پذیرش کنترل می‌شوند و عملیات هم‌ریخت فقط بر متن رمز انجام می‌شود. در نهایت این معماری با تغییر تعداد کلاینت‌ها و اندازه کلید، از نظر زمان اجرا ارزیابی شده است. من سهم پژوهش را در سطح طراحی و پیاده‌سازی این چارچوب بیان می‌کنم. ادعای تقدم تاریخی مطلق یا نوآوری در خود الگوریتم Benaloh ندارم.</a:t>
            </a:r>
          </a:p>
          <a:p xmlns:a="http://schemas.openxmlformats.org/drawingml/2006/main">
            <a:pPr rtl="0"/>
            <a:r>
              <a:rPr lang="en-US"/>
              <a:t/>
            </a:r>
          </a:p>
          <a:p xmlns:a="http://schemas.openxmlformats.org/drawingml/2006/main">
            <a:pPr rtl="1"/>
            <a:r>
              <a:rPr lang="fa-IR">
                <a:cs typeface="DejaVu Sans"/>
              </a:rPr>
              <a:t>منبع: پایان‌نامه، صفحات چاپی ۲۲ تا ۲۵، ۳۶ تا ۳۷ و ۱۳۳ تا ۱۳۸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rPr lang="fa-IR">
                <a:cs typeface="DejaVu Sans"/>
              </a:rPr>
              <a:t>زمان پیشنهادی: 80 ثانیه</a:t>
            </a:r>
          </a:p>
          <a:p xmlns:a="http://schemas.openxmlformats.org/drawingml/2006/main">
            <a:pPr rtl="1"/>
            <a:r>
              <a:rPr lang="fa-IR">
                <a:cs typeface="DejaVu Sans"/>
              </a:rPr>
              <a:t>بازه در ارائه: 2:30 تا 3:50</a:t>
            </a:r>
          </a:p>
          <a:p xmlns:a="http://schemas.openxmlformats.org/drawingml/2006/main">
            <a:pPr rtl="0"/>
            <a:r>
              <a:rPr lang="en-US"/>
              <a:t/>
            </a:r>
          </a:p>
          <a:p xmlns:a="http://schemas.openxmlformats.org/drawingml/2006/main">
            <a:pPr rtl="1"/>
            <a:r>
              <a:rPr lang="fa-IR">
                <a:cs typeface="DejaVu Sans"/>
              </a:rPr>
              <a:t>این شکل، معماری مشارکتی گزارش‌شده در پایان‌نامه را نشان می‌دهد. هر کلاینت، داده آموزشی و مدل محلی خود را دارد. سرور یک ورودی جدید را برای پیش‌بینی در اختیار کلاینت‌ها می‌گذارد. کلاینت‌ها خروجی احتمالی مدل خود را تولید می‌کنند و سرور این خروجی‌ها را به صورت میانگین وزنی ترکیب می‌کند. در لایه امنیت، متن ورودی با AES-GCM منتقل می‌شود و خروجی‌های عددی با Benaloh رمز و با Ed25519 امضا می‌شوند. نکته مهم در تفسیر این معماری این است که آنچه اینجا تجمیع می‌شود، خروجی احتمال مدل‌های محلی است. فرایند نمایش‌داده‌شده، تجمیع گرادیان یا وزن شبکه به روش FedAvg نیست. سرور مرکزی در مدل تهدید پایان‌نامه قابل اعتماد فرض شده است.</a:t>
            </a:r>
          </a:p>
          <a:p xmlns:a="http://schemas.openxmlformats.org/drawingml/2006/main">
            <a:pPr rtl="0"/>
            <a:r>
              <a:rPr lang="en-US"/>
              <a:t/>
            </a:r>
          </a:p>
          <a:p xmlns:a="http://schemas.openxmlformats.org/drawingml/2006/main">
            <a:pPr rtl="1"/>
            <a:r>
              <a:rPr lang="fa-IR">
                <a:cs typeface="DejaVu Sans"/>
              </a:rPr>
              <a:t>منبع: پایان‌نامه، شکل ۱-۱ در صفحه چاپی ۳۰ و معماری امنیتی صفحه ۹۲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rPr lang="fa-IR">
                <a:cs typeface="DejaVu Sans"/>
              </a:rPr>
              <a:t>زمان پیشنهادی: 65 ثانیه</a:t>
            </a:r>
          </a:p>
          <a:p xmlns:a="http://schemas.openxmlformats.org/drawingml/2006/main">
            <a:pPr rtl="1"/>
            <a:r>
              <a:rPr lang="fa-IR">
                <a:cs typeface="DejaVu Sans"/>
              </a:rPr>
              <a:t>بازه در ارائه: 3:50 تا 4:55</a:t>
            </a:r>
          </a:p>
          <a:p xmlns:a="http://schemas.openxmlformats.org/drawingml/2006/main">
            <a:pPr rtl="0"/>
            <a:r>
              <a:rPr lang="en-US"/>
              <a:t/>
            </a:r>
          </a:p>
          <a:p xmlns:a="http://schemas.openxmlformats.org/drawingml/2006/main">
            <a:pPr rtl="1"/>
            <a:r>
              <a:rPr lang="fa-IR">
                <a:cs typeface="DejaVu Sans"/>
              </a:rPr>
              <a:t>مجموعه داده در فصل دوم پایان‌نامه، ۴۶۴ هزار و ۱۴۸ ردیف متنی برچسب‌دار گزارش شده است و برچسب‌ها به دو گروه خودکشی و غیرخودکشی تقسیم می‌شوند. در معرفی پژوهش، داده غیربالینی و خط لوله چندزبانه توصیف شده‌اند. مراحل پاک‌سازی به صورت پیکربندی‌پذیر اجرا می‌شوند: حذف نشانه‌های HTML، آدرس‌ها و عناصر اضافی، نرمال‌سازی حروف و فاصله‌های فارسی و سپس توکن‌سازی بر اساس فضای سفید. هدف، ساخت یک ورودی یکنواخت برای مرحله نمایش عددی است. حذف هر نوع عنصر باید با ماهیت داده سازگار باشد، زیرا بعضی عناصر حذف‌شده ممکن است در کاربرد دیگر نشانه تشخیصی باشند. ابزار دنا نیز در پیوست، برای واژگان توقف فارسی معرفی شده است.</a:t>
            </a:r>
          </a:p>
          <a:p xmlns:a="http://schemas.openxmlformats.org/drawingml/2006/main">
            <a:pPr rtl="0"/>
            <a:r>
              <a:rPr lang="en-US"/>
              <a:t/>
            </a:r>
          </a:p>
          <a:p xmlns:a="http://schemas.openxmlformats.org/drawingml/2006/main">
            <a:pPr rtl="1"/>
            <a:r>
              <a:rPr lang="fa-IR">
                <a:cs typeface="DejaVu Sans"/>
              </a:rPr>
              <a:t>نکته پیش از دفاع: حجم ۴۶۴٬۱۴۸ عیناً از متن پایان‌نامه نقل شده است. شناسنامه نسخه داده، سهم زبان‌ها، حذف تکراری‌ها و تفکیک train/test باید با داده و کد اصلی تطبیق داده شود. از متن فعلی، نسبت دقیق تقسیم داده را نمی‌توان با اطمینان استخراج کرد.</a:t>
            </a:r>
          </a:p>
          <a:p xmlns:a="http://schemas.openxmlformats.org/drawingml/2006/main">
            <a:pPr rtl="0"/>
            <a:r>
              <a:rPr lang="en-US"/>
              <a:t/>
            </a:r>
          </a:p>
          <a:p xmlns:a="http://schemas.openxmlformats.org/drawingml/2006/main">
            <a:pPr rtl="1"/>
            <a:r>
              <a:rPr lang="fa-IR">
                <a:cs typeface="DejaVu Sans"/>
              </a:rPr>
              <a:t>منبع: پایان‌نامه، صفحات چاپی ۲۵، ۴۴ تا ۵۰ و پیوست دنا ۱۴۰ تا ۱۴۵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rPr lang="fa-IR">
                <a:cs typeface="DejaVu Sans"/>
              </a:rPr>
              <a:t>زمان پیشنهادی: 60 ثانیه</a:t>
            </a:r>
          </a:p>
          <a:p xmlns:a="http://schemas.openxmlformats.org/drawingml/2006/main">
            <a:pPr rtl="1"/>
            <a:r>
              <a:rPr lang="fa-IR">
                <a:cs typeface="DejaVu Sans"/>
              </a:rPr>
              <a:t>بازه در ارائه: 4:55 تا 5:55</a:t>
            </a:r>
          </a:p>
          <a:p xmlns:a="http://schemas.openxmlformats.org/drawingml/2006/main">
            <a:pPr rtl="0"/>
            <a:r>
              <a:rPr lang="en-US"/>
              <a:t/>
            </a:r>
          </a:p>
          <a:p xmlns:a="http://schemas.openxmlformats.org/drawingml/2006/main">
            <a:pPr rtl="1"/>
            <a:r>
              <a:rPr lang="fa-IR">
                <a:cs typeface="DejaVu Sans"/>
              </a:rPr>
              <a:t>برای نمایش عددی متن، Word2Vec با معماری Skip-Gram انتخاب شده است. مدل برای هر واژه یک بردار صدبعدی می‌سازد و از واژه هدف برای یادگیری واژه‌های زمینه استفاده می‌کند. پنجره زمینه پنج در نظر گرفته شده است. چون طبقه‌بند به یک بردار ثابت برای هر سند نیاز دارد، بردارهای واژه‌های موجود در واژگان مدل، میانگین‌گیری می‌شوند. سندی که هیچ واژه شناخته‌شده‌ای ندارد، بردار صفر دریافت می‌کند. این روش، نمایش متراکم و با ابعاد ثابت ایجاد می‌کند و هزینه استفاده از ویژگی‌ها را کنترل می‌کند. محدودیت آن این است که ترتیب دقیق واژگان در میانگین نهایی حفظ نمی‌شود. این انتخاب، روش اصلی نسخه نهایی پژوهش است و نباید با بخش‌های قدیمی مبتنی بر TF-IDF اشتباه گرفته شود.</a:t>
            </a:r>
          </a:p>
          <a:p xmlns:a="http://schemas.openxmlformats.org/drawingml/2006/main">
            <a:pPr rtl="0"/>
            <a:r>
              <a:rPr lang="en-US"/>
              <a:t/>
            </a:r>
          </a:p>
          <a:p xmlns:a="http://schemas.openxmlformats.org/drawingml/2006/main">
            <a:pPr rtl="1"/>
            <a:r>
              <a:rPr lang="fa-IR">
                <a:cs typeface="DejaVu Sans"/>
              </a:rPr>
              <a:t>منبع: پایان‌نامه، صفحات چاپی ۵۱ تا ۵۶</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rPr lang="fa-IR">
                <a:cs typeface="DejaVu Sans"/>
              </a:rPr>
              <a:t>زمان پیشنهادی: 80 ثانیه</a:t>
            </a:r>
          </a:p>
          <a:p xmlns:a="http://schemas.openxmlformats.org/drawingml/2006/main">
            <a:pPr rtl="1"/>
            <a:r>
              <a:rPr lang="fa-IR">
                <a:cs typeface="DejaVu Sans"/>
              </a:rPr>
              <a:t>بازه در ارائه: 5:55 تا 7:15</a:t>
            </a:r>
          </a:p>
          <a:p xmlns:a="http://schemas.openxmlformats.org/drawingml/2006/main">
            <a:pPr rtl="0"/>
            <a:r>
              <a:rPr lang="en-US"/>
              <a:t/>
            </a:r>
          </a:p>
          <a:p xmlns:a="http://schemas.openxmlformats.org/drawingml/2006/main">
            <a:pPr rtl="1"/>
            <a:r>
              <a:rPr lang="fa-IR">
                <a:cs typeface="DejaVu Sans"/>
              </a:rPr>
              <a:t>چهار خانواده مدل روی نمایش متنی مقایسه شده‌اند. دقت کلی XGBoost حدود ۹۳٫۶۳ درصد، جنگل تصادفی ۹۲٫۳۱ درصد، درخت تصمیم ۸۷٫۱۵ درصد و بیز ساده ۸۲٫۶۴ درصد گزارش شده است. اختلاف XGBoost با نزدیک‌ترین رقیب، حدود ۱٫۳۲ واحد درصد است. از دید این کاربرد، صرف دقت کلی برای انتخاب کافی نیست و باید Recall و F1 کلاس هدف نیز بررسی شوند. در اسلاید بعد نشان می‌دهم که XGBoost در این معیارها نیز در جدول مقایسه پایان‌نامه برتر است. این نتیجه مربوط به مجموعه ارزیابی گزارش‌شده است و به خودی خود، برتری در داده مستقل یا کاربرد بالینی را اثبات نمی‌کند.</a:t>
            </a:r>
          </a:p>
          <a:p xmlns:a="http://schemas.openxmlformats.org/drawingml/2006/main">
            <a:pPr rtl="0"/>
            <a:r>
              <a:rPr lang="en-US"/>
              <a:t/>
            </a:r>
          </a:p>
          <a:p xmlns:a="http://schemas.openxmlformats.org/drawingml/2006/main">
            <a:pPr rtl="1"/>
            <a:r>
              <a:rPr lang="fa-IR">
                <a:cs typeface="DejaVu Sans"/>
              </a:rPr>
              <a:t>نکته پیش از دفاع: در جداول ۲-۱ تا ۲-۴، AUC-ROC برای همه مدل‌ها به‌صورت عدد یکسان ثبت شده است. این مقدار در ارائه مقایسه نشده، چون باید با خروجی کد تطبیق داده شود.</a:t>
            </a:r>
          </a:p>
          <a:p xmlns:a="http://schemas.openxmlformats.org/drawingml/2006/main">
            <a:pPr rtl="0"/>
            <a:r>
              <a:rPr lang="en-US"/>
              <a:t/>
            </a:r>
          </a:p>
          <a:p xmlns:a="http://schemas.openxmlformats.org/drawingml/2006/main">
            <a:pPr rtl="1"/>
            <a:r>
              <a:rPr lang="fa-IR">
                <a:cs typeface="DejaVu Sans"/>
              </a:rPr>
              <a:t>منبع: پایان‌نامه، جدول‌های ۲-۱ تا ۲-۵، صفحات چاپی ۶۲، ۶۸، ۷۴، ۸۱ و ۸۳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rPr lang="fa-IR">
                <a:cs typeface="DejaVu Sans"/>
              </a:rPr>
              <a:t>زمان پیشنهادی: 60 ثانیه</a:t>
            </a:r>
          </a:p>
          <a:p xmlns:a="http://schemas.openxmlformats.org/drawingml/2006/main">
            <a:pPr rtl="1"/>
            <a:r>
              <a:rPr lang="fa-IR">
                <a:cs typeface="DejaVu Sans"/>
              </a:rPr>
              <a:t>بازه در ارائه: 7:15 تا 8:15</a:t>
            </a:r>
          </a:p>
          <a:p xmlns:a="http://schemas.openxmlformats.org/drawingml/2006/main">
            <a:pPr rtl="0"/>
            <a:r>
              <a:rPr lang="en-US"/>
              <a:t/>
            </a:r>
          </a:p>
          <a:p xmlns:a="http://schemas.openxmlformats.org/drawingml/2006/main">
            <a:pPr rtl="1"/>
            <a:r>
              <a:rPr lang="fa-IR">
                <a:cs typeface="DejaVu Sans"/>
              </a:rPr>
              <a:t>در جدول نتایج، Precision، Recall و F1 برای کلاس خودکشی در مدل XGBoost همگی حدود ۰٫۹۴ هستند. این مقدار Recall یعنی در مجموعه ارزیابی، حدود ۹۴ درصد نمونه‌های دارای برچسب خودکشی شناسایی شده‌اند. جنگل تصادفی و بیز ساده Recall حدود ۰٫۹۱ دارند، اما Precision بیز ساده تا ۰٫۷۸ پایین می‌آید. بنابراین افزایش هشدارهای مثبت در آن مدل، با مثبت کاذب بیشتری همراه است. XGBoost با حفظ تعادل بین Precision و Recall، مدل منتخب این مرحله است. در تفسیر خروجی، برچسب متنی را از تشخیص بالینی یا پیش‌بینی وقوع واقعی خودکشی جدا می‌کنیم.</a:t>
            </a:r>
          </a:p>
          <a:p xmlns:a="http://schemas.openxmlformats.org/drawingml/2006/main">
            <a:pPr rtl="0"/>
            <a:r>
              <a:rPr lang="en-US"/>
              <a:t/>
            </a:r>
          </a:p>
          <a:p xmlns:a="http://schemas.openxmlformats.org/drawingml/2006/main">
            <a:pPr rtl="1"/>
            <a:r>
              <a:rPr lang="fa-IR">
                <a:cs typeface="DejaVu Sans"/>
              </a:rPr>
              <a:t>نکته پیش از دفاع: شکل ماتریس سردرگمی XGBoost در صفحه ۷۴، اعدادی نمایش می‌دهد که با Support و دقت جدول همان صفحه سازگار نیستند. این اسلاید اعداد جدول‌های ۲-۳ و ۲-۵ را نقل می‌کند. شکل ناسازگار بازتولید نشده است. مجموع Support دو کلاس در جداول ۴۶٬۴۱۴ است، اما بخش تحلیل حساسیت ۴۶٬۴۱۵ را ذکر می‌کند.</a:t>
            </a:r>
          </a:p>
          <a:p xmlns:a="http://schemas.openxmlformats.org/drawingml/2006/main">
            <a:pPr rtl="0"/>
            <a:r>
              <a:rPr lang="en-US"/>
              <a:t/>
            </a:r>
          </a:p>
          <a:p xmlns:a="http://schemas.openxmlformats.org/drawingml/2006/main">
            <a:pPr rtl="1"/>
            <a:r>
              <a:rPr lang="fa-IR">
                <a:cs typeface="DejaVu Sans"/>
              </a:rPr>
              <a:t>منبع: پایان‌نامه، جدول‌های ۲-۳ و ۲-۵، صفحات چاپی ۷۴ و ۸۳، تحلیل صفحه ۸۴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rPr lang="fa-IR">
                <a:cs typeface="DejaVu Sans"/>
              </a:rPr>
              <a:t>زمان پیشنهادی: 75 ثانیه</a:t>
            </a:r>
          </a:p>
          <a:p xmlns:a="http://schemas.openxmlformats.org/drawingml/2006/main">
            <a:pPr rtl="1"/>
            <a:r>
              <a:rPr lang="fa-IR">
                <a:cs typeface="DejaVu Sans"/>
              </a:rPr>
              <a:t>بازه در ارائه: 8:15 تا 9:30</a:t>
            </a:r>
          </a:p>
          <a:p xmlns:a="http://schemas.openxmlformats.org/drawingml/2006/main">
            <a:pPr rtl="0"/>
            <a:r>
              <a:rPr lang="en-US"/>
              <a:t/>
            </a:r>
          </a:p>
          <a:p xmlns:a="http://schemas.openxmlformats.org/drawingml/2006/main">
            <a:pPr rtl="1"/>
            <a:r>
              <a:rPr lang="fa-IR">
                <a:cs typeface="DejaVu Sans"/>
              </a:rPr>
              <a:t>کلاینت‌ها مدل خود را روی داده محلی آموزش می‌دهند. هنگام دریافت متن جدید، هر مدل یک احتمال p_i تولید می‌کند. سرور خروجی‌ها را با وزن‌های مثبت ترکیب می‌کند و احتمال نهایی را با آستانه تصمیم مقایسه می‌کند. فرمول اسلاید همان میانگین وزنی احتمالات است. در ادامه، بخش امنیتی همین عمل را روی احتمالات رمز‌شده اجرا می‌کند. وزن‌ها جزئی از بسته امضاشده‌اند تا مهاجم شبکه نتواند آن‌ها را تغییر دهد. باید میان ارزیابی مدل پایه و ارزیابی کل سامانه مشارکتی تمایز گذاشت: عدد ۹۳٫۶۳ درصد، نتیجه جدول مدل XGBoost است. آن را به عنوان دقت مستقل سامانه چندکلاینتی معرفی نمی‌کنم، چون در فایل فعلی جدول مجزایی برای این ادعا ارائه نشده است.</a:t>
            </a:r>
          </a:p>
          <a:p xmlns:a="http://schemas.openxmlformats.org/drawingml/2006/main">
            <a:pPr rtl="0"/>
            <a:r>
              <a:rPr lang="en-US"/>
              <a:t/>
            </a:r>
          </a:p>
          <a:p xmlns:a="http://schemas.openxmlformats.org/drawingml/2006/main">
            <a:pPr rtl="1"/>
            <a:r>
              <a:rPr lang="fa-IR">
                <a:cs typeface="DejaVu Sans"/>
              </a:rPr>
              <a:t>منبع: پایان‌نامه، صفحات چاپی ۳۰ تا ۳۱، ۹۲ و ۱۲۴ تا ۱۲۹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rPr lang="fa-IR">
                <a:cs typeface="DejaVu Sans"/>
              </a:rPr>
              <a:t>زمان پیشنهادی: 65 ثانیه</a:t>
            </a:r>
          </a:p>
          <a:p xmlns:a="http://schemas.openxmlformats.org/drawingml/2006/main">
            <a:pPr rtl="1"/>
            <a:r>
              <a:rPr lang="fa-IR">
                <a:cs typeface="DejaVu Sans"/>
              </a:rPr>
              <a:t>بازه در ارائه: 9:30 تا 10:35</a:t>
            </a:r>
          </a:p>
          <a:p xmlns:a="http://schemas.openxmlformats.org/drawingml/2006/main">
            <a:pPr rtl="0"/>
            <a:r>
              <a:rPr lang="en-US"/>
              <a:t/>
            </a:r>
          </a:p>
          <a:p xmlns:a="http://schemas.openxmlformats.org/drawingml/2006/main">
            <a:pPr rtl="1"/>
            <a:r>
              <a:rPr lang="fa-IR">
                <a:cs typeface="DejaVu Sans"/>
              </a:rPr>
              <a:t>لایه اول برای انتقال متن است. سرور متن را به UTF-8 تبدیل می‌کند و با یک کلید نشست ۲۵۶ بیتی، AES-GCM را اجرا می‌کند. در کنار متن رمز، nonce و برچسب احراز تولید می‌شوند. GCM هنگام رمزگشایی، تغییر پیام را کنترل می‌کند. برای توزیع اختیار بازسازی کلید، طرح شامیر با پارامترهای t و n استفاده می‌شود. داشتن حداقل t سهم، امکان بازسازی کلید را فراهم می‌کند و داشتن سهم‌های کمتر کافی نیست. در پیکربندی پیش‌فرض پایان‌نامه t برابر n است. نکته مهم این است که شامیر سیاست دسترسی به کلید را توزیع می‌کند. پس از بازسازی و رمزگشایی برای پیش‌بینی محلی، متن برای کلاینت‌های مجاز آشکار است. بنابراین این بخش، استنتاج مستقیم روی متن رمز نیست. امنیت انتقال سهم‌ها و مدیریت کلید نیز از فرض‌های اجرایی است.</a:t>
            </a:r>
          </a:p>
          <a:p xmlns:a="http://schemas.openxmlformats.org/drawingml/2006/main">
            <a:pPr rtl="0"/>
            <a:r>
              <a:rPr lang="en-US"/>
              <a:t/>
            </a:r>
          </a:p>
          <a:p xmlns:a="http://schemas.openxmlformats.org/drawingml/2006/main">
            <a:pPr rtl="1"/>
            <a:r>
              <a:rPr lang="fa-IR">
                <a:cs typeface="DejaVu Sans"/>
              </a:rPr>
              <a:t>منبع: پایان‌نامه، صفحات چاپی ۹۲ تا ۹۵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rPr lang="fa-IR">
                <a:cs typeface="DejaVu Sans"/>
              </a:rPr>
              <a:t>زمان پیشنهادی: 70 ثانیه</a:t>
            </a:r>
          </a:p>
          <a:p xmlns:a="http://schemas.openxmlformats.org/drawingml/2006/main">
            <a:pPr rtl="1"/>
            <a:r>
              <a:rPr lang="fa-IR">
                <a:cs typeface="DejaVu Sans"/>
              </a:rPr>
              <a:t>بازه در ارائه: 10:35 تا 11:45</a:t>
            </a:r>
          </a:p>
          <a:p xmlns:a="http://schemas.openxmlformats.org/drawingml/2006/main">
            <a:pPr rtl="0"/>
            <a:r>
              <a:rPr lang="en-US"/>
              <a:t/>
            </a:r>
          </a:p>
          <a:p xmlns:a="http://schemas.openxmlformats.org/drawingml/2006/main">
            <a:pPr rtl="1"/>
            <a:r>
              <a:rPr lang="fa-IR">
                <a:cs typeface="DejaVu Sans"/>
              </a:rPr>
              <a:t>عمل مورد نیاز، جمع وزنی احتمالات است. بنابراین طرح‌های جمعی Benaloh، Paillier و Damgård–Jurik با این عمل سازگارند. ElGamal و RSA پایه، هم‌ریختی ضربی دارند و برای جمع وزنی مستقیم انتخاب مناسبی در این معماری نیستند. در مقایسه تجربی فصل سوم و با پیکربندی گزارش‌شده، زمان کل Benaloh برای صد کلاینت و کلید آزمایشی ۱۰۲۴ بیتی حدود ۳۷۶ میلی‌ثانیه بوده است. در همان گزارش، دو طرح جمعی دیگر هزینه بیشتری داشته‌اند. انتخاب Benaloh بر همین نتایج و اندازه محدود پیام عددی استوار است. این اعداد، رتبه‌بندی عمومی همه پیاده‌سازی‌ها یا اندازه کلیدهای امنیتی هم‌ارز را اثبات نمی‌کنند. محدودیت Benaloh، فضای پیام Z_r و هزینه بازیابی پیام در رمزگشایی است.</a:t>
            </a:r>
          </a:p>
          <a:p xmlns:a="http://schemas.openxmlformats.org/drawingml/2006/main">
            <a:pPr rtl="0"/>
            <a:r>
              <a:rPr lang="en-US"/>
              <a:t/>
            </a:r>
          </a:p>
          <a:p xmlns:a="http://schemas.openxmlformats.org/drawingml/2006/main">
            <a:pPr rtl="1"/>
            <a:r>
              <a:rPr lang="fa-IR">
                <a:cs typeface="DejaVu Sans"/>
              </a:rPr>
              <a:t>منبع: پایان‌نامه، جدول ۳-۱ و تحلیل صفحات چاپی ۱۱۲ تا ۱۱۹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rPr lang="fa-IR">
                <a:cs typeface="DejaVu Sans"/>
              </a:rPr>
              <a:t>زمان پیشنهادی: 85 ثانیه</a:t>
            </a:r>
          </a:p>
          <a:p xmlns:a="http://schemas.openxmlformats.org/drawingml/2006/main">
            <a:pPr rtl="1"/>
            <a:r>
              <a:rPr lang="fa-IR">
                <a:cs typeface="DejaVu Sans"/>
              </a:rPr>
              <a:t>بازه در ارائه: 11:45 تا 13:10</a:t>
            </a:r>
          </a:p>
          <a:p xmlns:a="http://schemas.openxmlformats.org/drawingml/2006/main">
            <a:pPr rtl="0"/>
            <a:r>
              <a:rPr lang="en-US"/>
              <a:t/>
            </a:r>
          </a:p>
          <a:p xmlns:a="http://schemas.openxmlformats.org/drawingml/2006/main">
            <a:pPr rtl="1"/>
            <a:r>
              <a:rPr lang="fa-IR">
                <a:cs typeface="DejaVu Sans"/>
              </a:rPr>
              <a:t>کلاینت ابتدا احتمال را با مقیاس ثابت به عدد صحیح تبدیل می‌کند و Benaloh را روی آن اجرا می‌کند. سپس بسته‌ای شامل شناسه کلاینت، شناسه دور، nonce، متن رمز، وزن و امضا می‌سازد. امضا روی نمایش کانونیکال مجموعه فیلدهای مؤثر در تجمیع تولید می‌شود. در پیاده‌سازی گزارش‌شده، JSON با ترتیب ثابت کلیدها و حذف فاصله‌های اضافی، دنباله بایت یکسان را برای امضا و تأیید فراهم می‌کند. وزن باید همراه متن رمز امضا شود، زیرا تغییر وزن حتی بدون تغییر مقدار رمز‌شده می‌تواند نتیجه را منحرف کند. RID بسته را به دور جاری مقید می‌کند و nonce برای تشخیص تکرار همان بسته به کار می‌رود. امضای Ed25519 از متن رمز جداست. در مرحله محاسبه، تنها مؤلفه C_i وارد عملیات هم‌ریختی می‌شود و امضاها به صورت مستقل تأیید می‌شوند.</a:t>
            </a:r>
          </a:p>
          <a:p xmlns:a="http://schemas.openxmlformats.org/drawingml/2006/main">
            <a:pPr rtl="0"/>
            <a:r>
              <a:rPr lang="en-US"/>
              <a:t/>
            </a:r>
          </a:p>
          <a:p xmlns:a="http://schemas.openxmlformats.org/drawingml/2006/main">
            <a:pPr rtl="1"/>
            <a:r>
              <a:rPr lang="fa-IR">
                <a:cs typeface="DejaVu Sans"/>
              </a:rPr>
              <a:t>منبع: پایان‌نامه، صفحات چاپی ۱۲۴ تا ۱۲۷ و ۱۳۱ تا ۱۳۳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rPr lang="fa-IR">
                <a:cs typeface="DejaVu Sans"/>
              </a:rPr>
              <a:t>زمان پیشنهادی: 65 ثانیه</a:t>
            </a:r>
          </a:p>
          <a:p xmlns:a="http://schemas.openxmlformats.org/drawingml/2006/main">
            <a:pPr rtl="1"/>
            <a:r>
              <a:rPr lang="fa-IR">
                <a:cs typeface="DejaVu Sans"/>
              </a:rPr>
              <a:t>بازه در ارائه: 13:10 تا 14:15</a:t>
            </a:r>
          </a:p>
          <a:p xmlns:a="http://schemas.openxmlformats.org/drawingml/2006/main">
            <a:pPr rtl="0"/>
            <a:r>
              <a:rPr lang="en-US"/>
              <a:t/>
            </a:r>
          </a:p>
          <a:p xmlns:a="http://schemas.openxmlformats.org/drawingml/2006/main">
            <a:pPr rtl="1"/>
            <a:r>
              <a:rPr lang="fa-IR">
                <a:cs typeface="DejaVu Sans"/>
              </a:rPr>
              <a:t>پذیرش بسته در سرور چند کنترل دارد. ابتدا شناسه باید در فهرست کلاینت‌های مجاز باشد و RID با دور جاری مطابقت کند. سرور ترکیب شناسه، دور و nonce را با بسته‌های پذیرفته‌شده مقایسه می‌کند تا تکرار را تشخیص دهد. پس از تأیید امضا و بررسی عضویت متن رمز در فضای معتبر، مقدار وارد مجموعه پذیرفته‌شده A می‌شود. این ترتیب مانع ورود بسته‌های دستکاری‌شده یا ناشناس به محاسبه است. این کنترل‌ها درباره هویت و تمامیت پیام هستند. امضای معتبر به تنهایی ثابت نمی‌کند که کلاینت مجاز، احتمال درست یا مقدار در دامنه مورد انتظار را گزارش کرده است. برای مقابله با کلاینت مجاز بدخواه، کنترل سیاست وزن و در صورت نیاز اثبات دامنه باید جداگانه بررسی شود.</a:t>
            </a:r>
          </a:p>
          <a:p xmlns:a="http://schemas.openxmlformats.org/drawingml/2006/main">
            <a:pPr rtl="0"/>
            <a:r>
              <a:rPr lang="en-US"/>
              <a:t/>
            </a:r>
          </a:p>
          <a:p xmlns:a="http://schemas.openxmlformats.org/drawingml/2006/main">
            <a:pPr rtl="1"/>
            <a:r>
              <a:rPr lang="fa-IR">
                <a:cs typeface="DejaVu Sans"/>
              </a:rPr>
              <a:t>منبع: پایان‌نامه، صفحات چاپی ۱۲۷ تا ۱۳۱. تفکیک تمامیت پیام از صداقت مقدار، استنتاج از مدل سیستم تعریف‌شده در صفحه ۱۲۳ است.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rPr lang="fa-IR">
                <a:cs typeface="DejaVu Sans"/>
              </a:rPr>
              <a:t>زمان پیشنهادی: 85 ثانیه</a:t>
            </a:r>
          </a:p>
          <a:p xmlns:a="http://schemas.openxmlformats.org/drawingml/2006/main">
            <a:pPr rtl="1"/>
            <a:r>
              <a:rPr lang="fa-IR">
                <a:cs typeface="DejaVu Sans"/>
              </a:rPr>
              <a:t>بازه در ارائه: 14:15 تا 15:40</a:t>
            </a:r>
          </a:p>
          <a:p xmlns:a="http://schemas.openxmlformats.org/drawingml/2006/main">
            <a:pPr rtl="0"/>
            <a:r>
              <a:rPr lang="en-US"/>
              <a:t/>
            </a:r>
          </a:p>
          <a:p xmlns:a="http://schemas.openxmlformats.org/drawingml/2006/main">
            <a:pPr rtl="1"/>
            <a:r>
              <a:rPr lang="fa-IR">
                <a:cs typeface="DejaVu Sans"/>
              </a:rPr>
              <a:t>Benaloh روی عدد صحیح عمل می‌کند. برای احتمال دارای حداکثر چهار رقم اعشار، مقیاس S برابر ده هزار انتخاب می‌شود. مثلاً احتمال ۰٫۷۳۱۴ به عدد ۷۳۱۴ نگاشت می‌شود. پس از پذیرش بسته‌ها، سرور حاصل‌ضرب C_i به توان w_i را به پیمانه n محاسبه می‌کند. به دلیل هم‌ریختی جمعی، این حاصل‌ضرب رمز مجموع وزن‌دار پیام‌های صحیح است. سرور فقط متن رمز تجمیعی را در مسیر اجرای پروتکل رمزگشایی می‌کند و M را به دست می‌آورد. سپس M بر ده هزار ضرب‌در مجموع وزن‌ها تقسیم می‌شود تا میانگین احتمال به دست آید. شرط ده هزار W کوچک‌تر از r، مانع سرریز در فضای پیام است. برابری دقیق نسبت به داده‌های چهاررقم‌اعشاری معتبر است و برای احتمالات با دقت بیشتر، سیاست تبدیل عدد باید مشخص شود. چون کلید خصوصی نزد سرور است، این رفتار متکی به اعتماد به سرور است.</a:t>
            </a:r>
          </a:p>
          <a:p xmlns:a="http://schemas.openxmlformats.org/drawingml/2006/main">
            <a:pPr rtl="0"/>
            <a:r>
              <a:rPr lang="en-US"/>
              <a:t/>
            </a:r>
          </a:p>
          <a:p xmlns:a="http://schemas.openxmlformats.org/drawingml/2006/main">
            <a:pPr rtl="1"/>
            <a:r>
              <a:rPr lang="fa-IR">
                <a:cs typeface="DejaVu Sans"/>
              </a:rPr>
              <a:t>منبع: پایان‌نامه، صفحات چاپی ۱۲۴ تا ۱۳۰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rPr lang="fa-IR">
                <a:cs typeface="DejaVu Sans"/>
              </a:rPr>
              <a:t>زمان پیشنهادی: 75 ثانیه</a:t>
            </a:r>
          </a:p>
          <a:p xmlns:a="http://schemas.openxmlformats.org/drawingml/2006/main">
            <a:pPr rtl="1"/>
            <a:r>
              <a:rPr lang="fa-IR">
                <a:cs typeface="DejaVu Sans"/>
              </a:rPr>
              <a:t>بازه در ارائه: 15:40 تا 16:55</a:t>
            </a:r>
          </a:p>
          <a:p xmlns:a="http://schemas.openxmlformats.org/drawingml/2006/main">
            <a:pPr rtl="0"/>
            <a:r>
              <a:rPr lang="en-US"/>
              <a:t/>
            </a:r>
          </a:p>
          <a:p xmlns:a="http://schemas.openxmlformats.org/drawingml/2006/main">
            <a:pPr rtl="1"/>
            <a:r>
              <a:rPr lang="fa-IR">
                <a:cs typeface="DejaVu Sans"/>
              </a:rPr>
              <a:t>فصل چهارم زمان کل پروتکل را با سه اندازه کلید و سه تعداد کلاینت گزارش کرده است. نمودار از اعداد میانگین گزارش‌شده ساخته شده و واحد محور عمودی میلی‌ثانیه است. برای اندازه کلید آزمایشی ۲۵۶ بیت، زمان صد کلاینت حدود ۱۱۹ و سیصد کلاینت حدود ۲۷۶ میلی‌ثانیه است. برای اندازه ۵۱۲ بیت، این دو مقدار حدود ۱۵۲ و ۳۳۹ هستند و برای اندازه ۱۰۲۴ بیت، حدود ۴۱۱ و ۷۲۳ میلی‌ثانیه. در همه این پیکربندی‌ها، با افزایش کلاینت‌ها زمان بالا رفته است. بیشترین مقدار میانگین گزارش‌شده کمتر از یک ثانیه است، اما این نتیجه مربوط به محیط آزمایشی و هزینه‌های ثبت‌شده است. از آن نمی‌توان زمان پاسخ کل سامانه روی شبکه واقعی یا امنیت کافی این طول کلیدها را نتیجه گرفت.</a:t>
            </a:r>
          </a:p>
          <a:p xmlns:a="http://schemas.openxmlformats.org/drawingml/2006/main">
            <a:pPr rtl="0"/>
            <a:r>
              <a:rPr lang="en-US"/>
              <a:t/>
            </a:r>
          </a:p>
          <a:p xmlns:a="http://schemas.openxmlformats.org/drawingml/2006/main">
            <a:pPr rtl="1"/>
            <a:r>
              <a:rPr lang="fa-IR">
                <a:cs typeface="DejaVu Sans"/>
              </a:rPr>
              <a:t>نکته: طول کلید آزمایشی را با قدرت امنیتی یکسان نمی‌دانیم. برای استقرار باید پارامترهای مناسب جداگانه انتخاب و همان‌جا کارایی دوباره اندازه‌گیری شوند.</a:t>
            </a:r>
          </a:p>
          <a:p xmlns:a="http://schemas.openxmlformats.org/drawingml/2006/main">
            <a:pPr rtl="0"/>
            <a:r>
              <a:rPr lang="en-US"/>
              <a:t/>
            </a:r>
          </a:p>
          <a:p xmlns:a="http://schemas.openxmlformats.org/drawingml/2006/main">
            <a:pPr rtl="1"/>
            <a:r>
              <a:rPr lang="fa-IR">
                <a:cs typeface="DejaVu Sans"/>
              </a:rPr>
              <a:t>منبع: پایان‌نامه، شکل ۴-۲ و تحلیل صفحات چاپی ۱۳۳ تا ۱۳۸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rPr lang="fa-IR">
                <a:cs typeface="DejaVu Sans"/>
              </a:rPr>
              <a:t>زمان پیشنهادی: 65 ثانیه</a:t>
            </a:r>
          </a:p>
          <a:p xmlns:a="http://schemas.openxmlformats.org/drawingml/2006/main">
            <a:pPr rtl="1"/>
            <a:r>
              <a:rPr lang="fa-IR">
                <a:cs typeface="DejaVu Sans"/>
              </a:rPr>
              <a:t>بازه در ارائه: 16:55 تا 18:00</a:t>
            </a:r>
          </a:p>
          <a:p xmlns:a="http://schemas.openxmlformats.org/drawingml/2006/main">
            <a:pPr rtl="0"/>
            <a:r>
              <a:rPr lang="en-US"/>
              <a:t/>
            </a:r>
          </a:p>
          <a:p xmlns:a="http://schemas.openxmlformats.org/drawingml/2006/main">
            <a:pPr rtl="1"/>
            <a:r>
              <a:rPr lang="fa-IR">
                <a:cs typeface="DejaVu Sans"/>
              </a:rPr>
              <a:t>در نمودار تفکیکی، دو سناریوی صدکلاینتی با اندازه کلید ۲۵۶ و ۱۰۲۴ بیت را مقایسه می‌کنم. در حالت ۲۵۶ بیت، تجمیع حدود ۵۵ میلی‌ثانیه و نزدیک به ۴۶ درصد زمان کل را تشکیل می‌دهد. در حالت ۱۰۲۴ بیت، هزینه راه‌اندازی حدود ۲۹۴ میلی‌ثانیه است و بیش از ۷۱ درصد زمان کل را شامل می‌شود. رمزگشایی نهایی در هر دو حالت نسبت به راه‌اندازی و عملیات دیگر کم‌هزینه‌تر گزارش شده است. این یافته، محل بهینه‌سازی را مشخص می‌کند: در کلیدهای کوچک‌تر تجمیع و با افزایش اندازه کلید، Setup اهمیت بیشتری پیدا می‌کند. بهینه‌سازی استفاده مجدد از پارامترها یا اجرای موازی باید با شرایط امنیتی و روش اندازه‌گیری سازگار باشد. در گزارش فعلی، هزینه مستقل تولید و تأیید امضا و تأخیر شبکه جداگانه مشخص نشده است.</a:t>
            </a:r>
          </a:p>
          <a:p xmlns:a="http://schemas.openxmlformats.org/drawingml/2006/main">
            <a:pPr rtl="0"/>
            <a:r>
              <a:rPr lang="en-US"/>
              <a:t/>
            </a:r>
          </a:p>
          <a:p xmlns:a="http://schemas.openxmlformats.org/drawingml/2006/main">
            <a:pPr rtl="1"/>
            <a:r>
              <a:rPr lang="fa-IR">
                <a:cs typeface="DejaVu Sans"/>
              </a:rPr>
              <a:t>منبع: پایان‌نامه، صفحات چاپی ۱۳۴ تا ۱۳۶</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rPr lang="fa-IR">
                <a:cs typeface="DejaVu Sans"/>
              </a:rPr>
              <a:t>زمان پیشنهادی: 75 ثانیه</a:t>
            </a:r>
          </a:p>
          <a:p xmlns:a="http://schemas.openxmlformats.org/drawingml/2006/main">
            <a:pPr rtl="1"/>
            <a:r>
              <a:rPr lang="fa-IR">
                <a:cs typeface="DejaVu Sans"/>
              </a:rPr>
              <a:t>بازه در ارائه: 18:00 تا 19:15</a:t>
            </a:r>
          </a:p>
          <a:p xmlns:a="http://schemas.openxmlformats.org/drawingml/2006/main">
            <a:pPr rtl="0"/>
            <a:r>
              <a:rPr lang="en-US"/>
              <a:t/>
            </a:r>
          </a:p>
          <a:p xmlns:a="http://schemas.openxmlformats.org/drawingml/2006/main">
            <a:pPr rtl="1"/>
            <a:r>
              <a:rPr lang="fa-IR">
                <a:cs typeface="DejaVu Sans"/>
              </a:rPr>
              <a:t>حدود ادعای پژوهش باید روشن باشد. مدل روی داده غیربالینی ارزیابی شده و برای استفاده عملی، داده مستقل و اعتبارسنجی بالینی لازم است. پروتکل به سرور مرکزی قابل اعتماد و ثبت امن کلیدهای عمومی متکی است. سرور صاحب کلید خصوصی Benaloh است، بنابراین محرمانگی در برابر خود سرور بدخواه، تضمین این مدل نیست. اندازه‌های کلید گزارش‌شده، پیکربندی‌های آزمایشی‌اند و به معنای تأیید امنیت برای استقرار نیستند. فضای پیام محدود است و شرط عدم سرریز باید قبل از تجمیع کنترل شود. همچنین Ed25519 در این طرح تجمیع‌پذیر نیست و تأیید مستقل بسته‌ها با رشد تعداد کلاینت‌ها هزینه دارد. مسیرهای توسعه عبارت‌اند از اعتبارسنجی مستقل، انتخاب پارامترهای امن، مدیریت چرخه کلید و بررسی امضاهای تجمیع‌پذیر یا رمزگشایی آستانه‌ای. ادغام LLM برای موارد مبهم نیز در پایان‌نامه به عنوان کار آینده پیشنهاد شده است.</a:t>
            </a:r>
          </a:p>
          <a:p xmlns:a="http://schemas.openxmlformats.org/drawingml/2006/main">
            <a:pPr rtl="0"/>
            <a:r>
              <a:rPr lang="en-US"/>
              <a:t/>
            </a:r>
          </a:p>
          <a:p xmlns:a="http://schemas.openxmlformats.org/drawingml/2006/main">
            <a:pPr rtl="1"/>
            <a:r>
              <a:rPr lang="fa-IR">
                <a:cs typeface="DejaVu Sans"/>
              </a:rPr>
              <a:t>منبع: پایان‌نامه، صفحات چاپی ۲۵، ۸۴، ۸۹ تا ۹۰، ۱۲۳ و ۱۳۱ تا ۱۳۸. برای تمایز طول کلید و قدرت امنیتی: NIST SP 800-57 Part 1 Rev.5، جدول ۲، https://doi.org/10.6028/NIST.SP.800-57pt1r5. توضیح اعتماد به سرور، استنتاج از مالکیت کلید خصوصی در مدل سیستم است.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rPr lang="fa-IR">
                <a:cs typeface="DejaVu Sans"/>
              </a:rPr>
              <a:t>زمان پیشنهادی: 45 ثانیه</a:t>
            </a:r>
          </a:p>
          <a:p xmlns:a="http://schemas.openxmlformats.org/drawingml/2006/main">
            <a:pPr rtl="1"/>
            <a:r>
              <a:rPr lang="fa-IR">
                <a:cs typeface="DejaVu Sans"/>
              </a:rPr>
              <a:t>بازه در ارائه: 19:15 تا 20:00</a:t>
            </a:r>
          </a:p>
          <a:p xmlns:a="http://schemas.openxmlformats.org/drawingml/2006/main">
            <a:pPr rtl="0"/>
            <a:r>
              <a:rPr lang="en-US"/>
              <a:t/>
            </a:r>
          </a:p>
          <a:p xmlns:a="http://schemas.openxmlformats.org/drawingml/2006/main">
            <a:pPr rtl="1"/>
            <a:r>
              <a:rPr lang="fa-IR">
                <a:cs typeface="DejaVu Sans"/>
              </a:rPr>
              <a:t>نتیجه اول، انتخاب XGBoost با دقت حدود ۹۳٫۶۳ درصد و Recall حدود ۰٫۹۴ برای کلاس هدف در ارزیابی گزارش‌شده است. نتیجه دوم، طراحی SBHE-Benaloh است که پذیرش احرازشده بسته را با تجمیع جمعی احتمالات رمز‌شده ترکیب می‌کند. نتیجه سوم، امکان‌پذیری اجرایی این سازوکار در سناریوهای آزمایشی تا سیصد کلاینت است. سهم اصلی پایان‌نامه، پیاده‌سازی یک چارچوب چندمنبعی با تفکیک لایه محاسبه هم‌ریخت و لایه احراز هویت است. برای کاربرد عملی، اعتبارسنجی مستقل و بازتنظیم پارامترهای امنیتی مرحله بعدی خواهد بود. از توجه استاد راهنما و اعضای هیئت داوران سپاسگزارم و آماده پاسخ‌گویی به پرسش‌ها هستم.</a:t>
            </a:r>
          </a:p>
          <a:p xmlns:a="http://schemas.openxmlformats.org/drawingml/2006/main">
            <a:pPr rtl="0"/>
            <a:r>
              <a:rPr lang="en-US"/>
              <a:t/>
            </a:r>
          </a:p>
          <a:p xmlns:a="http://schemas.openxmlformats.org/drawingml/2006/main">
            <a:pPr rtl="1"/>
            <a:r>
              <a:rPr lang="fa-IR">
                <a:cs typeface="DejaVu Sans"/>
              </a:rPr>
              <a:t>منبع: پایان‌نامه، جدول ۲-۵ در صفحه ۸۳ و جمع‌بندی صفحات ۱۳۷ تا ۱۳۸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rPr lang="fa-IR">
                <a:cs typeface="DejaVu Sans"/>
              </a:rPr>
              <a:t>اسلاید پشتیبان. خارج از زمان ۲۰ دقیقه و مخفی در نمایش عادی.</a:t>
            </a:r>
          </a:p>
          <a:p xmlns:a="http://schemas.openxmlformats.org/drawingml/2006/main">
            <a:pPr rtl="0"/>
            <a:r>
              <a:rPr lang="en-US"/>
              <a:t/>
            </a:r>
          </a:p>
          <a:p xmlns:a="http://schemas.openxmlformats.org/drawingml/2006/main">
            <a:pPr rtl="1"/>
            <a:r>
              <a:rPr lang="fa-IR">
                <a:cs typeface="DejaVu Sans"/>
              </a:rPr>
              <a:t>این اسلاید برای پاسخ به پرسش ریاضی است. با جایگذاری C_i = y^{m_i} u_i^r در حاصل‌ضرب توان‌دار، توان‌های y جمع می‌شوند و جمله تصادفی همچنان یک توان r-ام باقی می‌ماند. بنابراین حاصل‌ضرب رمز‌ها، متن رمز معتبری برای مجموع w_i m_i است. پس از رمزگشایی، در صورت عدم سرریز، M دقیقاً همان مجموع وزن‌دار پیام‌های صحیح است. تقسیم بر S W میانگین داده‌های دارای دقت چهار رقم اعشار را بازیابی می‌کند. کلید معتبر و شرایط صحیح مرتبه، فرض‌های درستی رمزگشایی هستند.</a:t>
            </a:r>
          </a:p>
          <a:p xmlns:a="http://schemas.openxmlformats.org/drawingml/2006/main">
            <a:pPr rtl="0"/>
            <a:r>
              <a:rPr lang="en-US"/>
              <a:t/>
            </a:r>
          </a:p>
          <a:p xmlns:a="http://schemas.openxmlformats.org/drawingml/2006/main">
            <a:pPr rtl="1"/>
            <a:r>
              <a:rPr lang="fa-IR">
                <a:cs typeface="DejaVu Sans"/>
              </a:rPr>
              <a:t>مرجع تکمیلی برای شرایط اصلاح‌شده تولید کلید Benaloh: Fousse, Lafourcade, Alnuaimi (2010), Benaloh’s Dense Probabilistic Encryption Revisited، https://arxiv.org/abs/1008.2991. در این ارائه، شرایط ناقص تولید کلید متن بازتولید نشده است.</a:t>
            </a:r>
          </a:p>
          <a:p xmlns:a="http://schemas.openxmlformats.org/drawingml/2006/main">
            <a:pPr rtl="0"/>
            <a:r>
              <a:rPr lang="en-US"/>
              <a:t/>
            </a:r>
          </a:p>
          <a:p xmlns:a="http://schemas.openxmlformats.org/drawingml/2006/main">
            <a:pPr rtl="1"/>
            <a:r>
              <a:rPr lang="fa-IR">
                <a:cs typeface="DejaVu Sans"/>
              </a:rPr>
              <a:t>منبع: پایان‌نامه، صفحات چاپی ۱۲۵ و ۱۲۸ تا ۱۳۰. مرجع تکمیلی: https://arxiv.org/abs/1008.2991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rPr lang="fa-IR">
                <a:cs typeface="DejaVu Sans"/>
              </a:rPr>
              <a:t>اسلاید پشتیبان. خارج از زمان ۲۰ دقیقه و مخفی در نمایش عادی.</a:t>
            </a:r>
          </a:p>
          <a:p xmlns:a="http://schemas.openxmlformats.org/drawingml/2006/main">
            <a:pPr rtl="0"/>
            <a:r>
              <a:rPr lang="en-US"/>
              <a:t/>
            </a:r>
          </a:p>
          <a:p xmlns:a="http://schemas.openxmlformats.org/drawingml/2006/main">
            <a:pPr rtl="1"/>
            <a:r>
              <a:rPr lang="fa-IR">
                <a:cs typeface="DejaVu Sans"/>
              </a:rPr>
              <a:t>این اسلاید مرز تضمین امنیت را روشن می‌کند. در مدل پایان‌نامه، مهاجم شبکه می‌تواند بسته‌ها را مشاهده، تغییر یا بازپخش کند، ولی کلید خصوصی کلاینت مجاز را ندارد. امضا و شناسه‌ها از پیام در برابر این تهدیدها محافظت می‌کنند. خود سرور مالک کلید خصوصی رمزگشایی است و باید رفتار پروتکل، یعنی رمزگشایی فقط نتیجه نهایی، را رعایت کند. جلوگیری رمزنگاری‌شده از رمزگشایی تک‌تک خروجی‌ها توسط سرور، به تغییر مدل کلید و احتمالاً رمزگشایی آستانه‌ای نیاز دارد. کلاینت مجاز با امضای معتبر همچنان می‌تواند داده نادرست گزارش کند. همچنین پس از بازسازی کلید AES، متن برای کلاینت مجاز آشکار می‌شود. این محدودیت‌ها با مدل اعتماد پایان‌نامه سازگارند و نباید به تضمین‌های قوی‌تر تعمیم داده شوند.</a:t>
            </a:r>
          </a:p>
          <a:p xmlns:a="http://schemas.openxmlformats.org/drawingml/2006/main">
            <a:pPr rtl="0"/>
            <a:r>
              <a:rPr lang="en-US"/>
              <a:t/>
            </a:r>
          </a:p>
          <a:p xmlns:a="http://schemas.openxmlformats.org/drawingml/2006/main">
            <a:pPr rtl="1"/>
            <a:r>
              <a:rPr lang="fa-IR">
                <a:cs typeface="DejaVu Sans"/>
              </a:rPr>
              <a:t>منبع: پایان‌نامه، صفحات چاپی ۹۲ تا ۹۵، ۱۲۳ تا ۱۲۴ و ۱۳۱. موارد مربوط به سرور بدخواه و کلاینت مجاز بدخواه، استنتاج از مدل اعتماد و ساختار کنترل‌ها هستند.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rPr lang="fa-IR">
                <a:cs typeface="DejaVu Sans"/>
              </a:rPr>
              <a:t>اسلاید پشتیبان. خارج از زمان ۲۰ دقیقه و مخفی در نمایش عادی.</a:t>
            </a:r>
          </a:p>
          <a:p xmlns:a="http://schemas.openxmlformats.org/drawingml/2006/main">
            <a:pPr rtl="0"/>
            <a:r>
              <a:rPr lang="en-US"/>
              <a:t/>
            </a:r>
          </a:p>
          <a:p xmlns:a="http://schemas.openxmlformats.org/drawingml/2006/main">
            <a:pPr rtl="1"/>
            <a:r>
              <a:rPr lang="fa-IR">
                <a:cs typeface="DejaVu Sans"/>
              </a:rPr>
              <a:t>مقادیر این جدول، میانگین و انحراف معیار گزارش‌شده در فصل چهارم‌اند و واحد همه ستون‌های زمانی میلی‌ثانیه است. در صورت پرسش درباره پایداری، به افزایش پراکندگی در پیکربندی ۱۰۲۴ بیتی اشاره می‌کنم. بدون مشخصات کامل سخت‌افزار، تعریف دقیق مرز مراحل و اطلاعات شبکه، این جدول تنها کارایی همان محیط آزمایشی را نشان می‌دهد. عبارت ۱۰۰ اجرای آزمایشی از جمع‌بندی پایان‌نامه نقل شده و تعداد دقیق تکرار هر پیکربندی باید با لاگ اجرا بررسی شود.</a:t>
            </a:r>
          </a:p>
          <a:p xmlns:a="http://schemas.openxmlformats.org/drawingml/2006/main">
            <a:pPr rtl="0"/>
            <a:r>
              <a:rPr lang="en-US"/>
              <a:t/>
            </a:r>
          </a:p>
          <a:p xmlns:a="http://schemas.openxmlformats.org/drawingml/2006/main">
            <a:pPr rtl="1"/>
            <a:r>
              <a:rPr lang="fa-IR">
                <a:cs typeface="DejaVu Sans"/>
              </a:rPr>
              <a:t>منبع: پایان‌نامه، صفحات چاپی ۱۳۳ تا ۱۳۷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rPr lang="fa-IR">
                <a:cs typeface="DejaVu Sans"/>
              </a:rPr>
              <a:t>اسلاید پشتیبان. خارج از زمان ۲۰ دقیقه و مخفی در نمایش عادی.</a:t>
            </a:r>
          </a:p>
          <a:p xmlns:a="http://schemas.openxmlformats.org/drawingml/2006/main">
            <a:pPr rtl="0"/>
            <a:r>
              <a:rPr lang="en-US"/>
              <a:t/>
            </a:r>
          </a:p>
          <a:p xmlns:a="http://schemas.openxmlformats.org/drawingml/2006/main">
            <a:pPr rtl="1"/>
            <a:r>
              <a:rPr lang="fa-IR">
                <a:cs typeface="DejaVu Sans"/>
              </a:rPr>
              <a:t>این شکل اصلی پایان‌نامه برای مرور جزئیات مراحل کلاینت و سرور نگهداری شده است. مسیر سمت کلاینت شامل تبدیل fixed-point، رمزگذاری، ساخت پیام و امضا است. سمت سرور، کنترل‌های پذیرش، تجمیع و رمزگشایی نهایی را نشان می‌دهد. بر ثبت اولیه امن کلید عمومی و شرط ۱۰۰۰۰ W &lt; r تأکید می‌کنم. شکل منبع شامل جزئیات ریز است و برای ارائه اصلی از اسلایدهای مستقل استفاده شده است.</a:t>
            </a:r>
          </a:p>
          <a:p xmlns:a="http://schemas.openxmlformats.org/drawingml/2006/main">
            <a:pPr rtl="0"/>
            <a:r>
              <a:rPr lang="en-US"/>
              <a:t/>
            </a:r>
          </a:p>
          <a:p xmlns:a="http://schemas.openxmlformats.org/drawingml/2006/main">
            <a:pPr rtl="1"/>
            <a:r>
              <a:rPr lang="fa-IR">
                <a:cs typeface="DejaVu Sans"/>
              </a:rPr>
              <a:t>منبع: پایان‌نامه، شکل ۴-۱، صفحه چاپی ۱۲۳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9e94aa24c2412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7a9fdd06937466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44daa74549c468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52478d40bed416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9bea150967f4ca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99d00500cbf42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95C214-B23C-477D-B3F2-58B656E1343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64394D8-1EFA-41F5-806A-FA01FC1E364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FE066CE-783D-4439-8474-82F750E4237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D53C18-DD92-460B-96E5-8C2D9EBE91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5C62798-DDD5-4F82-906B-B834995CDCB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80C7D25-A34E-4103-B8CF-4E7FFD3EC4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D472942-51E1-47CC-B6C3-32F35D79942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764EA04-F972-406C-9CA0-E93193A8719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AE4882-B691-4ACD-B256-52C531F31A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C23D6BC-A79E-4CB0-B5E2-56BFBD16B8F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b96e286b974976" /><Relationship Type="http://schemas.openxmlformats.org/officeDocument/2006/relationships/slideLayout" Target="/ppt/slideLayouts/slideLayout1.xml" Id="Rb3ba32ae449c4cf5" /><Relationship Type="http://schemas.openxmlformats.org/officeDocument/2006/relationships/slideLayout" Target="/ppt/slideLayouts/slideLayout2.xml" Id="R1c8a87f328c14c34" /><Relationship Type="http://schemas.openxmlformats.org/officeDocument/2006/relationships/slideLayout" Target="/ppt/slideLayouts/slideLayout3.xml" Id="R02e5a03292a14c2a" /><Relationship Type="http://schemas.openxmlformats.org/officeDocument/2006/relationships/slideLayout" Target="/ppt/slideLayouts/slideLayout4.xml" Id="R635a959e5e8d44f5" /><Relationship Type="http://schemas.openxmlformats.org/officeDocument/2006/relationships/slideLayout" Target="/ppt/slideLayouts/slideLayout5.xml" Id="Rd0bfc464123b42e8" /><Relationship Type="http://schemas.openxmlformats.org/officeDocument/2006/relationships/slideLayout" Target="/ppt/slideLayouts/slideLayout6.xml" Id="R9e5f555c5d214c2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ba32ae449c4cf5"/>
    <p:sldLayoutId xmlns:r="http://schemas.openxmlformats.org/officeDocument/2006/relationships" id="2147483650" r:id="R1c8a87f328c14c34"/>
    <p:sldLayoutId xmlns:r="http://schemas.openxmlformats.org/officeDocument/2006/relationships" id="2147483651" r:id="R02e5a03292a14c2a"/>
    <p:sldLayoutId xmlns:r="http://schemas.openxmlformats.org/officeDocument/2006/relationships" id="2147483652" r:id="R635a959e5e8d44f5"/>
    <p:sldLayoutId xmlns:r="http://schemas.openxmlformats.org/officeDocument/2006/relationships" id="2147483653" r:id="Rd0bfc464123b42e8"/>
    <p:sldLayoutId xmlns:r="http://schemas.openxmlformats.org/officeDocument/2006/relationships" id="2147483654" r:id="R9e5f555c5d214c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9c097a87b424673" /><Relationship Type="http://schemas.openxmlformats.org/officeDocument/2006/relationships/image" Target="/ppt/media/image.png" Id="Ra626a396937540a6" /><Relationship Type="http://schemas.openxmlformats.org/officeDocument/2006/relationships/notesSlide" Target="/ppt/notesSlides/notesSlide1.xml" Id="R6705af433bc845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780162245da41b9" /><Relationship Type="http://schemas.openxmlformats.org/officeDocument/2006/relationships/notesSlide" Target="/ppt/notesSlides/notesSlide2.xml" Id="R5a00defc38244d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207cfe5cd0347cc" /><Relationship Type="http://schemas.openxmlformats.org/officeDocument/2006/relationships/notesSlide" Target="/ppt/notesSlides/notesSlide3.xml" Id="R0daacbfddeaa4c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3e362c629c24d1f" /><Relationship Type="http://schemas.openxmlformats.org/officeDocument/2006/relationships/image" Target="/ppt/media/image2.png" Id="Rf8327c93a1af4d93" /><Relationship Type="http://schemas.openxmlformats.org/officeDocument/2006/relationships/notesSlide" Target="/ppt/notesSlides/notesSlide4.xml" Id="Ra89efe38fe4b4d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153b3d2d9f84657" /><Relationship Type="http://schemas.openxmlformats.org/officeDocument/2006/relationships/notesSlide" Target="/ppt/notesSlides/notesSlide5.xml" Id="R6ec58a3025504e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88937667616421e" /><Relationship Type="http://schemas.openxmlformats.org/officeDocument/2006/relationships/notesSlide" Target="/ppt/notesSlides/notesSlide6.xml" Id="R8162d20a1a7e49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44bfe4b3b884a95" /><Relationship Type="http://schemas.openxmlformats.org/officeDocument/2006/relationships/chart" Target="/ppt/slides/charts/chart1.xml" Id="R6c49688637e7499e" /><Relationship Type="http://schemas.openxmlformats.org/officeDocument/2006/relationships/notesSlide" Target="/ppt/notesSlides/notesSlide7.xml" Id="Rd5ceb12436e5440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ea8941b12314dfe" /><Relationship Type="http://schemas.openxmlformats.org/officeDocument/2006/relationships/notesSlide" Target="/ppt/notesSlides/notesSlide8.xml" Id="Ref723332bb374a5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d052a1c67e149ff" /><Relationship Type="http://schemas.openxmlformats.org/officeDocument/2006/relationships/notesSlide" Target="/ppt/notesSlides/notesSlide9.xml" Id="Rf2889319944247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001d9c0afad4fa0" /><Relationship Type="http://schemas.openxmlformats.org/officeDocument/2006/relationships/notesSlide" Target="/ppt/notesSlides/notesSlide10.xml" Id="Rf781d6347b9446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2033251e4d34dbb" /><Relationship Type="http://schemas.openxmlformats.org/officeDocument/2006/relationships/notesSlide" Target="/ppt/notesSlides/notesSlide11.xml" Id="R399f8568476449c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31364f8ebc34e08" /><Relationship Type="http://schemas.openxmlformats.org/officeDocument/2006/relationships/notesSlide" Target="/ppt/notesSlides/notesSlide12.xml" Id="Ra2181f4977644f8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c104edd0fd648e3" /><Relationship Type="http://schemas.openxmlformats.org/officeDocument/2006/relationships/notesSlide" Target="/ppt/notesSlides/notesSlide13.xml" Id="R705d2cc3c04a409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d5fbb4bd72047ab" /><Relationship Type="http://schemas.openxmlformats.org/officeDocument/2006/relationships/notesSlide" Target="/ppt/notesSlides/notesSlide14.xml" Id="R05c6aa13838e4df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94792248e5e44e3" /><Relationship Type="http://schemas.openxmlformats.org/officeDocument/2006/relationships/chart" Target="/ppt/slides/charts/chart2.xml" Id="R25720adf774b470a" /><Relationship Type="http://schemas.openxmlformats.org/officeDocument/2006/relationships/notesSlide" Target="/ppt/notesSlides/notesSlide15.xml" Id="Ra1c1d606e8ab4c4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65bff43fd884c57" /><Relationship Type="http://schemas.openxmlformats.org/officeDocument/2006/relationships/chart" Target="/ppt/slides/charts/chart3.xml" Id="R8ac0709b4bf74927" /><Relationship Type="http://schemas.openxmlformats.org/officeDocument/2006/relationships/notesSlide" Target="/ppt/notesSlides/notesSlide16.xml" Id="Rf23aa997e5234f4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047221e0b844f38" /><Relationship Type="http://schemas.openxmlformats.org/officeDocument/2006/relationships/notesSlide" Target="/ppt/notesSlides/notesSlide17.xml" Id="Re823c48998704d8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3c410e6816a4c9a" /><Relationship Type="http://schemas.openxmlformats.org/officeDocument/2006/relationships/notesSlide" Target="/ppt/notesSlides/notesSlide18.xml" Id="R96f7c2502bba4d3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9b66d1283c94d70" /><Relationship Type="http://schemas.openxmlformats.org/officeDocument/2006/relationships/notesSlide" Target="/ppt/notesSlides/notesSlide19.xml" Id="R1ca43bed85924d4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d48866ac74140bc" /><Relationship Type="http://schemas.openxmlformats.org/officeDocument/2006/relationships/notesSlide" Target="/ppt/notesSlides/notesSlide20.xml" Id="R3d8a60cc437d452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d4b3fc23ca44cb9" /><Relationship Type="http://schemas.openxmlformats.org/officeDocument/2006/relationships/notesSlide" Target="/ppt/notesSlides/notesSlide21.xml" Id="Rdf0800df11bd487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bfcad61d8d74525" /><Relationship Type="http://schemas.openxmlformats.org/officeDocument/2006/relationships/image" Target="/ppt/media/image3.png" Id="Ref1c831231a148a7" /><Relationship Type="http://schemas.openxmlformats.org/officeDocument/2006/relationships/notesSlide" Target="/ppt/notesSlides/notesSlide22.xml" Id="R4e7d4a6b3fc34220" /></Relationships>
</file>

<file path=ppt/slides/charts/chart1.xml><?xml version="1.0" encoding="utf-8"?>
<c:chartSpace xmlns:c="http://schemas.openxmlformats.org/drawingml/2006/chart">
  <c:lang val="en-US"/>
  <c:chart>
    <c:plotArea>
      <c:barChart>
        <c:barDir val="col"/>
        <c:grouping val="clustered"/>
        <c:varyColors val="0"/>
        <c:ser>
          <c:idx val="0"/>
          <c:order val="0"/>
          <c:tx>
            <c:v>Accuracy</c:v>
          </c:tx>
          <c:spPr>
            <a:solidFill xmlns:a="http://schemas.openxmlformats.org/drawingml/2006/main">
              <a:srgbClr val="507591"/>
            </a:solidFill>
          </c:spPr>
          <c:invertIfNegative val="0"/>
          <c:dPt>
            <c:idx val="3"/>
            <c:invertIfNegative val="0"/>
            <c:spPr>
              <a:solidFill xmlns:a="http://schemas.openxmlformats.org/drawingml/2006/main">
                <a:srgbClr val="087E83"/>
              </a:solidFill>
            </c:spPr>
          </c:dPt>
          <c:cat>
            <c:strLit>
              <c:ptCount val="4"/>
              <c:pt idx="0">
                <c:v>Naive Bayes</c:v>
              </c:pt>
              <c:pt idx="1">
                <c:v>Decision Tree</c:v>
              </c:pt>
              <c:pt idx="2">
                <c:v>Random Forest</c:v>
              </c:pt>
              <c:pt idx="3">
                <c:v>XGBoost</c:v>
              </c:pt>
            </c:strLit>
          </c:cat>
          <c:val>
            <c:numLit>
              <c:formatCode>0%</c:formatCode>
              <c:ptCount val="4"/>
              <c:pt idx="0">
                <c:v>0.826435</c:v>
              </c:pt>
              <c:pt idx="1">
                <c:v>0.871507</c:v>
              </c:pt>
              <c:pt idx="2">
                <c:v>0.923063</c:v>
              </c:pt>
              <c:pt idx="3">
                <c:v>0.936313</c:v>
              </c:pt>
            </c:numLit>
          </c:val>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72F3A"/>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2DAD9"/>
            </a:solidFill>
            <a:prstDash val="solid"/>
          </a:ln>
        </c:spPr>
        <c:txPr>
          <a:bodyPr xmlns:a="http://schemas.openxmlformats.org/drawingml/2006/main" anchorCtr="1"/>
          <a:lstStyle xmlns:a="http://schemas.openxmlformats.org/drawingml/2006/main"/>
          <a:p xmlns:a="http://schemas.openxmlformats.org/drawingml/2006/main">
            <a:pPr>
              <a:defRPr sz="1575">
                <a:solidFill>
                  <a:srgbClr val="546973"/>
                </a:solidFill>
                <a:latin typeface="DejaVu Sans"/>
                <a:ea typeface="DejaVu Sans"/>
                <a:cs typeface="DejaVu Sans"/>
              </a:defRPr>
            </a:pPr>
          </a:p>
        </c:txPr>
        <c:crossAx val="48672768"/>
      </c:catAx>
      <c:valAx>
        <c:axId val="48672768"/>
        <c:scaling>
          <c:orientation val="minMax"/>
          <c:max val="1"/>
          <c:min val="0"/>
        </c:scaling>
        <c:delete val="0"/>
        <c:axPos val="l"/>
        <c:majorGridlines>
          <c:spPr>
            <a:ln xmlns:a="http://schemas.openxmlformats.org/drawingml/2006/main" w="9525">
              <a:solidFill>
                <a:srgbClr val="D2DAD9"/>
              </a:solidFill>
              <a:prstDash val="solid"/>
            </a:ln>
          </c:spPr>
        </c:majorGridlines>
        <c:numFmt formatCode="0%"/>
        <c:majorTickMark val="none"/>
        <c:minorTickMark val="none"/>
        <c:spPr>
          <a:ln xmlns:a="http://schemas.openxmlformats.org/drawingml/2006/main" w="9525">
            <a:solidFill>
              <a:srgbClr val="D2DAD9"/>
            </a:solidFill>
            <a:prstDash val="solid"/>
          </a:ln>
        </c:spPr>
        <c:txPr>
          <a:bodyPr xmlns:a="http://schemas.openxmlformats.org/drawingml/2006/main" anchorCtr="1"/>
          <a:lstStyle xmlns:a="http://schemas.openxmlformats.org/drawingml/2006/main"/>
          <a:p xmlns:a="http://schemas.openxmlformats.org/drawingml/2006/main">
            <a:pPr>
              <a:defRPr sz="1575">
                <a:solidFill>
                  <a:srgbClr val="546973"/>
                </a:solidFill>
                <a:latin typeface="DejaVu Sans"/>
                <a:ea typeface="DejaVu Sans"/>
                <a:cs typeface="DejaVu Sans"/>
              </a:defRPr>
            </a:pPr>
          </a:p>
        </c:txPr>
        <c:crossAx val="48650112"/>
        <c:crossBetween val="between"/>
        <c:majorUnit val="0.2"/>
      </c:valAx>
      <c:spPr>
        <a:solidFill xmlns:a="http://schemas.openxmlformats.org/drawingml/2006/main">
          <a:srgbClr val="F7F6F2"/>
        </a:solidFill>
        <a:ln xmlns:a="http://schemas.openxmlformats.org/drawingml/2006/main" w="0">
          <a:noFill/>
          <a:prstDash val="solid"/>
        </a:ln>
      </c:spPr>
    </c:plotArea>
    <c:plotVisOnly val="1"/>
  </c:chart>
  <c:spPr>
    <a:solidFill xmlns:a="http://schemas.openxmlformats.org/drawingml/2006/main">
      <a:srgbClr val="F7F6F2"/>
    </a:solidFill>
    <a:ln xmlns:a="http://schemas.openxmlformats.org/drawingml/2006/main" w="0">
      <a:noFill/>
      <a:prstDash val="solid"/>
    </a:ln>
  </c:spPr>
</c:chartSpace>
</file>

<file path=ppt/slides/charts/chart2.xml><?xml version="1.0" encoding="utf-8"?>
<c:chartSpace xmlns:c="http://schemas.openxmlformats.org/drawingml/2006/chart">
  <c:lang val="en-US"/>
  <c:chart>
    <c:plotArea>
      <c:lineChart>
        <c:grouping val="standard"/>
        <c:varyColors val="0"/>
        <c:ser>
          <c:idx val="0"/>
          <c:order val="0"/>
          <c:tx>
            <c:v>256 bit</c:v>
          </c:tx>
          <c:spPr>
            <a:ln xmlns:a="http://schemas.openxmlformats.org/drawingml/2006/main" w="38100">
              <a:solidFill>
                <a:srgbClr val="087E83"/>
              </a:solidFill>
              <a:prstDash val="solid"/>
            </a:ln>
          </c:spPr>
          <c:marker>
            <c:symbol val="circle"/>
            <c:size val="7"/>
            <c:spPr>
              <a:solidFill xmlns:a="http://schemas.openxmlformats.org/drawingml/2006/main">
                <a:srgbClr val="087E83"/>
              </a:solidFill>
            </c:spPr>
          </c:marker>
          <c:dLbls>
            <c:numFmt formatCode="0" sourceLinked="0"/>
            <c:txPr>
              <a:bodyPr xmlns:a="http://schemas.openxmlformats.org/drawingml/2006/main" anchorCtr="1"/>
              <a:lstStyle xmlns:a="http://schemas.openxmlformats.org/drawingml/2006/main"/>
              <a:p xmlns:a="http://schemas.openxmlformats.org/drawingml/2006/main">
                <a:pPr>
                  <a:defRPr sz="1650">
                    <a:solidFill>
                      <a:srgbClr val="172F3A"/>
                    </a:solidFill>
                    <a:latin typeface="DejaVu Sans"/>
                    <a:ea typeface="DejaVu Sans"/>
                    <a:cs typeface="DejaVu Sans"/>
                  </a:defRPr>
                </a:pPr>
              </a:p>
            </c:txPr>
            <c:dLblPos val="b"/>
            <c:showLegendKey val="0"/>
            <c:showVal val="1"/>
            <c:showCatName val="0"/>
            <c:showSerName val="0"/>
            <c:showPercent val="0"/>
            <c:showBubbleSize val="0"/>
            <c:showLeaderLines val="0"/>
          </c:dLbls>
          <c:cat>
            <c:numLit>
              <c:formatCode>General</c:formatCode>
              <c:ptCount val="3"/>
              <c:pt idx="0">
                <c:v>100</c:v>
              </c:pt>
              <c:pt idx="1">
                <c:v>200</c:v>
              </c:pt>
              <c:pt idx="2">
                <c:v>300</c:v>
              </c:pt>
            </c:numLit>
          </c:cat>
          <c:val>
            <c:numLit>
              <c:formatCode>General</c:formatCode>
              <c:ptCount val="3"/>
              <c:pt idx="0">
                <c:v>119.0243</c:v>
              </c:pt>
              <c:pt idx="1">
                <c:v>188.0846</c:v>
              </c:pt>
              <c:pt idx="2">
                <c:v>275.682</c:v>
              </c:pt>
            </c:numLit>
          </c:val>
        </c:ser>
        <c:ser>
          <c:idx val="1"/>
          <c:order val="1"/>
          <c:tx>
            <c:v>512 bit</c:v>
          </c:tx>
          <c:spPr>
            <a:ln xmlns:a="http://schemas.openxmlformats.org/drawingml/2006/main" w="38100">
              <a:solidFill>
                <a:srgbClr val="507591"/>
              </a:solidFill>
              <a:prstDash val="solid"/>
            </a:ln>
          </c:spPr>
          <c:marker>
            <c:symbol val="circle"/>
            <c:size val="7"/>
            <c:spPr>
              <a:solidFill xmlns:a="http://schemas.openxmlformats.org/drawingml/2006/main">
                <a:srgbClr val="507591"/>
              </a:solidFill>
            </c:spPr>
          </c:marker>
          <c:cat>
            <c:numLit>
              <c:formatCode>General</c:formatCode>
              <c:ptCount val="3"/>
              <c:pt idx="0">
                <c:v>100</c:v>
              </c:pt>
              <c:pt idx="1">
                <c:v>200</c:v>
              </c:pt>
              <c:pt idx="2">
                <c:v>300</c:v>
              </c:pt>
            </c:numLit>
          </c:cat>
          <c:val>
            <c:numLit>
              <c:formatCode>General</c:formatCode>
              <c:ptCount val="3"/>
              <c:pt idx="0">
                <c:v>152.4137</c:v>
              </c:pt>
              <c:pt idx="1">
                <c:v>242.6216</c:v>
              </c:pt>
              <c:pt idx="2">
                <c:v>338.7937</c:v>
              </c:pt>
            </c:numLit>
          </c:val>
        </c:ser>
        <c:ser>
          <c:idx val="2"/>
          <c:order val="2"/>
          <c:tx>
            <c:v>1024 bit</c:v>
          </c:tx>
          <c:spPr>
            <a:ln xmlns:a="http://schemas.openxmlformats.org/drawingml/2006/main" w="38100">
              <a:solidFill>
                <a:srgbClr val="BE7542"/>
              </a:solidFill>
              <a:prstDash val="solid"/>
            </a:ln>
          </c:spPr>
          <c:marker>
            <c:symbol val="circle"/>
            <c:size val="7"/>
            <c:spPr>
              <a:solidFill xmlns:a="http://schemas.openxmlformats.org/drawingml/2006/main">
                <a:srgbClr val="BE7542"/>
              </a:solidFill>
            </c:spPr>
          </c:marker>
          <c:cat>
            <c:numLit>
              <c:formatCode>General</c:formatCode>
              <c:ptCount val="3"/>
              <c:pt idx="0">
                <c:v>100</c:v>
              </c:pt>
              <c:pt idx="1">
                <c:v>200</c:v>
              </c:pt>
              <c:pt idx="2">
                <c:v>300</c:v>
              </c:pt>
            </c:numLit>
          </c:cat>
          <c:val>
            <c:numLit>
              <c:formatCode>General</c:formatCode>
              <c:ptCount val="3"/>
              <c:pt idx="0">
                <c:v>411.2403</c:v>
              </c:pt>
              <c:pt idx="1">
                <c:v>521.9208</c:v>
              </c:pt>
              <c:pt idx="2">
                <c:v>723.1441</c:v>
              </c:pt>
            </c:numLit>
          </c:val>
        </c:ser>
        <c:dLbls>
          <c:numFmt formatCode="0" sourceLinked="0"/>
          <c:txPr>
            <a:bodyPr xmlns:a="http://schemas.openxmlformats.org/drawingml/2006/main" anchorCtr="1"/>
            <a:lstStyle xmlns:a="http://schemas.openxmlformats.org/drawingml/2006/main"/>
            <a:p xmlns:a="http://schemas.openxmlformats.org/drawingml/2006/main">
              <a:pPr>
                <a:defRPr sz="1650">
                  <a:solidFill>
                    <a:srgbClr val="172F3A"/>
                  </a:solidFill>
                  <a:latin typeface="DejaVu Sans"/>
                  <a:ea typeface="DejaVu Sans"/>
                  <a:cs typeface="DejaVu Sans"/>
                </a:defRPr>
              </a:pPr>
            </a:p>
          </c:txPr>
          <c:dLblPos val="t"/>
          <c:showLegendKey val="0"/>
          <c:showVal val="1"/>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75">
                    <a:solidFill>
                      <a:srgbClr val="546973"/>
                    </a:solidFill>
                    <a:latin typeface="DejaVu Sans"/>
                    <a:ea typeface="DejaVu Sans"/>
                    <a:cs typeface="DejaVu Sans"/>
                  </a:rPr>
                  <a:t>Clients</a:t>
                </a:r>
              </a:p>
            </c:rich>
          </c:tx>
          <c:overlay val="0"/>
          <c:txPr>
            <a:bodyPr xmlns:a="http://schemas.openxmlformats.org/drawingml/2006/main" anchorCtr="1"/>
            <a:lstStyle xmlns:a="http://schemas.openxmlformats.org/drawingml/2006/main"/>
            <a:p xmlns:a="http://schemas.openxmlformats.org/drawingml/2006/main">
              <a:pPr>
                <a:defRPr sz="1575">
                  <a:solidFill>
                    <a:srgbClr val="546973"/>
                  </a:solidFill>
                  <a:latin typeface="DejaVu Sans"/>
                  <a:ea typeface="DejaVu Sans"/>
                  <a:cs typeface="DejaVu Sans"/>
                </a:defRPr>
              </a:pPr>
            </a:p>
          </c:txPr>
        </c:title>
        <c:numFmt formatCode="General"/>
        <c:majorTickMark val="none"/>
        <c:minorTickMark val="none"/>
        <c:spPr>
          <a:ln xmlns:a="http://schemas.openxmlformats.org/drawingml/2006/main" w="9525">
            <a:solidFill>
              <a:srgbClr val="D2DAD9"/>
            </a:solidFill>
            <a:prstDash val="solid"/>
          </a:ln>
        </c:spPr>
        <c:txPr>
          <a:bodyPr xmlns:a="http://schemas.openxmlformats.org/drawingml/2006/main" anchorCtr="1"/>
          <a:lstStyle xmlns:a="http://schemas.openxmlformats.org/drawingml/2006/main"/>
          <a:p xmlns:a="http://schemas.openxmlformats.org/drawingml/2006/main">
            <a:pPr>
              <a:defRPr sz="1575">
                <a:solidFill>
                  <a:srgbClr val="546973"/>
                </a:solidFill>
                <a:latin typeface="DejaVu Sans"/>
                <a:ea typeface="DejaVu Sans"/>
                <a:cs typeface="DejaVu Sans"/>
              </a:defRPr>
            </a:pPr>
          </a:p>
        </c:txPr>
        <c:crossAx val="48672768"/>
      </c:catAx>
      <c:valAx>
        <c:axId val="48672768"/>
        <c:scaling>
          <c:orientation val="minMax"/>
          <c:max val="800"/>
          <c:min val="0"/>
        </c:scaling>
        <c:delete val="0"/>
        <c:axPos val="l"/>
        <c:majorGridlines>
          <c:spPr>
            <a:ln xmlns:a="http://schemas.openxmlformats.org/drawingml/2006/main" w="9525">
              <a:solidFill>
                <a:srgbClr val="D2DAD9"/>
              </a:solidFill>
              <a:prstDash val="solid"/>
            </a:ln>
          </c:spPr>
        </c:majorGridlines>
        <c:title>
          <c:tx>
            <c:rich>
              <a:bodyPr xmlns:a="http://schemas.openxmlformats.org/drawingml/2006/main"/>
              <a:lstStyle xmlns:a="http://schemas.openxmlformats.org/drawingml/2006/main"/>
              <a:p xmlns:a="http://schemas.openxmlformats.org/drawingml/2006/main">
                <a:r>
                  <a:rPr sz="1575">
                    <a:solidFill>
                      <a:srgbClr val="546973"/>
                    </a:solidFill>
                    <a:latin typeface="DejaVu Sans"/>
                    <a:ea typeface="DejaVu Sans"/>
                    <a:cs typeface="DejaVu Sans"/>
                  </a:rPr>
                  <a:t>Total time (ms)</a:t>
                </a:r>
              </a:p>
            </c:rich>
          </c:tx>
          <c:overlay val="0"/>
          <c:txPr>
            <a:bodyPr xmlns:a="http://schemas.openxmlformats.org/drawingml/2006/main" anchorCtr="1"/>
            <a:lstStyle xmlns:a="http://schemas.openxmlformats.org/drawingml/2006/main"/>
            <a:p xmlns:a="http://schemas.openxmlformats.org/drawingml/2006/main">
              <a:pPr>
                <a:defRPr sz="1575">
                  <a:solidFill>
                    <a:srgbClr val="546973"/>
                  </a:solidFill>
                  <a:latin typeface="DejaVu Sans"/>
                  <a:ea typeface="DejaVu Sans"/>
                  <a:cs typeface="DejaVu Sans"/>
                </a:defRPr>
              </a:pPr>
            </a:p>
          </c:txPr>
        </c:title>
        <c:numFmt formatCode="General"/>
        <c:majorTickMark val="none"/>
        <c:minorTickMark val="none"/>
        <c:spPr>
          <a:ln xmlns:a="http://schemas.openxmlformats.org/drawingml/2006/main" w="9525">
            <a:solidFill>
              <a:srgbClr val="D2DAD9"/>
            </a:solidFill>
            <a:prstDash val="solid"/>
          </a:ln>
        </c:spPr>
        <c:txPr>
          <a:bodyPr xmlns:a="http://schemas.openxmlformats.org/drawingml/2006/main" anchorCtr="1"/>
          <a:lstStyle xmlns:a="http://schemas.openxmlformats.org/drawingml/2006/main"/>
          <a:p xmlns:a="http://schemas.openxmlformats.org/drawingml/2006/main">
            <a:pPr>
              <a:defRPr sz="1575">
                <a:solidFill>
                  <a:srgbClr val="546973"/>
                </a:solidFill>
                <a:latin typeface="DejaVu Sans"/>
                <a:ea typeface="DejaVu Sans"/>
                <a:cs typeface="DejaVu Sans"/>
              </a:defRPr>
            </a:pPr>
          </a:p>
        </c:txPr>
        <c:crossAx val="48650112"/>
        <c:crossBetween val="between"/>
        <c:majorUnit val="200"/>
      </c:valAx>
      <c:spPr>
        <a:solidFill xmlns:a="http://schemas.openxmlformats.org/drawingml/2006/main">
          <a:srgbClr val="F7F6F2"/>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72F3A"/>
              </a:solidFill>
              <a:latin typeface="DejaVu Sans"/>
              <a:ea typeface="DejaVu Sans"/>
              <a:cs typeface="DejaVu Sans"/>
            </a:defRPr>
          </a:pPr>
        </a:p>
      </c:txPr>
    </c:legend>
    <c:plotVisOnly val="1"/>
  </c:chart>
  <c:spPr>
    <a:solidFill xmlns:a="http://schemas.openxmlformats.org/drawingml/2006/main">
      <a:srgbClr val="F7F6F2"/>
    </a:solidFill>
    <a:ln xmlns:a="http://schemas.openxmlformats.org/drawingml/2006/main" w="0">
      <a:noFill/>
      <a:prstDash val="solid"/>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256 bit</c:v>
          </c:tx>
          <c:spPr>
            <a:solidFill xmlns:a="http://schemas.openxmlformats.org/drawingml/2006/main">
              <a:srgbClr val="087E83"/>
            </a:solidFill>
          </c:spPr>
          <c:invertIfNegative val="0"/>
          <c:cat>
            <c:strLit>
              <c:ptCount val="4"/>
              <c:pt idx="0">
                <c:v>Setup</c:v>
              </c:pt>
              <c:pt idx="1">
                <c:v>Encryption</c:v>
              </c:pt>
              <c:pt idx="2">
                <c:v>Aggregation</c:v>
              </c:pt>
              <c:pt idx="3">
                <c:v>Decryption</c:v>
              </c:pt>
            </c:strLit>
          </c:cat>
          <c:val>
            <c:numLit>
              <c:formatCode>0</c:formatCode>
              <c:ptCount val="4"/>
              <c:pt idx="0">
                <c:v>33.8433</c:v>
              </c:pt>
              <c:pt idx="1">
                <c:v>27.2437</c:v>
              </c:pt>
              <c:pt idx="2">
                <c:v>55.1685</c:v>
              </c:pt>
              <c:pt idx="3">
                <c:v>1.0871</c:v>
              </c:pt>
            </c:numLit>
          </c:val>
        </c:ser>
        <c:ser>
          <c:idx val="1"/>
          <c:order val="1"/>
          <c:tx>
            <c:v>1024 bit</c:v>
          </c:tx>
          <c:spPr>
            <a:solidFill xmlns:a="http://schemas.openxmlformats.org/drawingml/2006/main">
              <a:srgbClr val="BE7542"/>
            </a:solidFill>
          </c:spPr>
          <c:invertIfNegative val="0"/>
          <c:cat>
            <c:strLit>
              <c:ptCount val="4"/>
              <c:pt idx="0">
                <c:v>Setup</c:v>
              </c:pt>
              <c:pt idx="1">
                <c:v>Encryption</c:v>
              </c:pt>
              <c:pt idx="2">
                <c:v>Aggregation</c:v>
              </c:pt>
              <c:pt idx="3">
                <c:v>Decryption</c:v>
              </c:pt>
            </c:strLit>
          </c:cat>
          <c:val>
            <c:numLit>
              <c:formatCode>0</c:formatCode>
              <c:ptCount val="4"/>
              <c:pt idx="0">
                <c:v>293.5955</c:v>
              </c:pt>
              <c:pt idx="1">
                <c:v>53.0456</c:v>
              </c:pt>
              <c:pt idx="2">
                <c:v>52.4542</c:v>
              </c:pt>
              <c:pt idx="3">
                <c:v>10.7421</c:v>
              </c:pt>
            </c:numLit>
          </c:val>
        </c:ser>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172F3A"/>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2DAD9"/>
            </a:solidFill>
            <a:prstDash val="solid"/>
          </a:ln>
        </c:spPr>
        <c:txPr>
          <a:bodyPr xmlns:a="http://schemas.openxmlformats.org/drawingml/2006/main" anchorCtr="1"/>
          <a:lstStyle xmlns:a="http://schemas.openxmlformats.org/drawingml/2006/main"/>
          <a:p xmlns:a="http://schemas.openxmlformats.org/drawingml/2006/main">
            <a:pPr>
              <a:defRPr sz="1350">
                <a:solidFill>
                  <a:srgbClr val="546973"/>
                </a:solidFill>
                <a:latin typeface="DejaVu Sans"/>
                <a:ea typeface="DejaVu Sans"/>
                <a:cs typeface="DejaVu Sans"/>
              </a:defRPr>
            </a:pPr>
          </a:p>
        </c:txPr>
        <c:crossAx val="48672768"/>
      </c:catAx>
      <c:valAx>
        <c:axId val="48672768"/>
        <c:scaling>
          <c:orientation val="minMax"/>
          <c:max val="350"/>
          <c:min val="0"/>
        </c:scaling>
        <c:delete val="0"/>
        <c:axPos val="l"/>
        <c:majorGridlines>
          <c:spPr>
            <a:ln xmlns:a="http://schemas.openxmlformats.org/drawingml/2006/main" w="9525">
              <a:solidFill>
                <a:srgbClr val="D2DAD9"/>
              </a:solidFill>
              <a:prstDash val="solid"/>
            </a:ln>
          </c:spPr>
        </c:majorGridlines>
        <c:numFmt formatCode="0"/>
        <c:majorTickMark val="none"/>
        <c:minorTickMark val="none"/>
        <c:spPr>
          <a:ln xmlns:a="http://schemas.openxmlformats.org/drawingml/2006/main" w="9525">
            <a:solidFill>
              <a:srgbClr val="D2DAD9"/>
            </a:solidFill>
            <a:prstDash val="solid"/>
          </a:ln>
        </c:spPr>
        <c:txPr>
          <a:bodyPr xmlns:a="http://schemas.openxmlformats.org/drawingml/2006/main" anchorCtr="1"/>
          <a:lstStyle xmlns:a="http://schemas.openxmlformats.org/drawingml/2006/main"/>
          <a:p xmlns:a="http://schemas.openxmlformats.org/drawingml/2006/main">
            <a:pPr>
              <a:defRPr sz="1575">
                <a:solidFill>
                  <a:srgbClr val="546973"/>
                </a:solidFill>
                <a:latin typeface="DejaVu Sans"/>
                <a:ea typeface="DejaVu Sans"/>
                <a:cs typeface="DejaVu Sans"/>
              </a:defRPr>
            </a:pPr>
          </a:p>
        </c:txPr>
        <c:crossAx val="48650112"/>
        <c:crossBetween val="between"/>
        <c:majorUnit val="100"/>
      </c:valAx>
      <c:spPr>
        <a:solidFill xmlns:a="http://schemas.openxmlformats.org/drawingml/2006/main">
          <a:srgbClr val="F7F6F2"/>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72F3A"/>
              </a:solidFill>
              <a:latin typeface="DejaVu Sans"/>
              <a:ea typeface="DejaVu Sans"/>
              <a:cs typeface="DejaVu Sans"/>
            </a:defRPr>
          </a:pPr>
        </a:p>
      </c:txPr>
    </c:legend>
    <c:plotVisOnly val="1"/>
  </c:chart>
  <c:spPr>
    <a:solidFill xmlns:a="http://schemas.openxmlformats.org/drawingml/2006/main">
      <a:srgbClr val="F7F6F2"/>
    </a:solidFill>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rtl_headline">
            <a:extLst xmlns:a="http://schemas.openxmlformats.org/drawingml/2006/main">
              <a:ext uri="{FF2B5EF4-FFF2-40B4-BE49-F238E27FC236}">
                <a16:creationId xmlns:a16="http://schemas.microsoft.com/office/drawing/2014/main" id="{5673123D-8BD8-4979-9866-F88C7E8F8F30}"/>
              </a:ext>
            </a:extLst>
          </p:cNvPr>
          <p:cNvSpPr>
            <a:spLocks xmlns:a="http://schemas.openxmlformats.org/drawingml/2006/main" noGrp="1"/>
          </p:cNvSpPr>
          <p:nvPr/>
        </p:nvSpPr>
        <p:spPr>
          <a:xfrm xmlns:a="http://schemas.openxmlformats.org/drawingml/2006/main">
            <a:off x="609600" y="4191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300" b="1">
                <a:solidFill>
                  <a:srgbClr val="172F3A"/>
                </a:solidFill>
                <a:latin typeface="DejaVu Sans"/>
                <a:ea typeface="DejaVu Sans"/>
                <a:cs typeface="DejaVu Sans"/>
              </a:defRPr>
            </a:defPPr>
          </a:lstStyle>
          <a:p xmlns:a="http://schemas.openxmlformats.org/drawingml/2006/main">
            <a:pPr rtl="0"/>
            <a:r>
              <a:rPr lang="en-US"/>
              <a:t/>
            </a:r>
          </a:p>
        </p:txBody>
      </p:sp>
      <p:sp>
        <p:nvSpPr>
          <p:cNvPr id="2" name="ltr_page">
            <a:extLst xmlns:a="http://schemas.openxmlformats.org/drawingml/2006/main">
              <a:ext uri="{FF2B5EF4-FFF2-40B4-BE49-F238E27FC236}">
                <a16:creationId xmlns:a16="http://schemas.microsoft.com/office/drawing/2014/main" id="{2DC2CBD8-DE57-4CA5-8291-BA06D1466B34}"/>
              </a:ext>
            </a:extLst>
          </p:cNvPr>
          <p:cNvSpPr>
            <a:spLocks xmlns:a="http://schemas.openxmlformats.org/drawingml/2006/main" noGrp="1"/>
          </p:cNvSpPr>
          <p:nvPr/>
        </p:nvSpPr>
        <p:spPr>
          <a:xfrm xmlns:a="http://schemas.openxmlformats.org/drawingml/2006/main">
            <a:off x="609600" y="63436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46973"/>
                </a:solidFill>
                <a:latin typeface="DejaVu Sans"/>
                <a:ea typeface="DejaVu Sans"/>
                <a:cs typeface="DejaVu Sans"/>
              </a:defRPr>
            </a:defPPr>
          </a:lstStyle>
          <a:p xmlns:a="http://schemas.openxmlformats.org/drawingml/2006/main">
            <a:pPr algn="l" rtl="0">
              <a:defRPr sz="1350" b="0">
                <a:solidFill>
                  <a:srgbClr val="546973"/>
                </a:solidFill>
                <a:latin typeface="DejaVu Sans"/>
                <a:ea typeface="DejaVu Sans"/>
                <a:cs typeface="DejaVu Sans"/>
              </a:defRPr>
            </a:pPr>
            <a:r>
              <a:rPr sz="1350" b="0" lang="en-US">
                <a:solidFill>
                  <a:srgbClr val="546973"/>
                </a:solidFill>
                <a:latin typeface="DejaVu Sans"/>
                <a:ea typeface="DejaVu Sans"/>
                <a:cs typeface="DejaVu Sans"/>
              </a:rPr>
              <a:t>01</a:t>
            </a:r>
          </a:p>
        </p:txBody>
      </p:sp>
      <p:pic>
        <p:nvPicPr>
          <p:cNvPr id="3" name="">
            <a:extLst xmlns:a="http://schemas.openxmlformats.org/drawingml/2006/main">
              <a:ext uri="{FF2B5EF4-FFF2-40B4-BE49-F238E27FC236}">
                <a16:creationId xmlns:a16="http://schemas.microsoft.com/office/drawing/2014/main" id="{F4A22BE9-E368-4C06-ABB4-AC3F43D29F56}"/>
              </a:ext>
            </a:extLst>
          </p:cNvPr>
          <p:cNvPicPr>
            <a:picLocks xmlns:a="http://schemas.openxmlformats.org/drawingml/2006/main" noChangeAspect="1"/>
          </p:cNvPicPr>
          <p:nvPr/>
        </p:nvPicPr>
        <p:blipFill>
          <a:blip xmlns:r="http://schemas.openxmlformats.org/officeDocument/2006/relationships" xmlns:a="http://schemas.openxmlformats.org/drawingml/2006/main" r:embed="Ra626a396937540a6"/>
          <a:stretch xmlns:a="http://schemas.openxmlformats.org/drawingml/2006/main"/>
        </p:blipFill>
        <p:spPr>
          <a:xfrm xmlns:a="http://schemas.openxmlformats.org/drawingml/2006/main">
            <a:off x="609600" y="495300"/>
            <a:ext cx="1009650" cy="1009650"/>
          </a:xfrm>
          <a:prstGeom xmlns:a="http://schemas.openxmlformats.org/drawingml/2006/main" prst="rect">
            <a:avLst/>
          </a:prstGeom>
        </p:spPr>
      </p:pic>
      <p:sp>
        <p:nvSpPr>
          <p:cNvPr id="4" name="rtl_text_2">
            <a:extLst xmlns:a="http://schemas.openxmlformats.org/drawingml/2006/main">
              <a:ext uri="{FF2B5EF4-FFF2-40B4-BE49-F238E27FC236}">
                <a16:creationId xmlns:a16="http://schemas.microsoft.com/office/drawing/2014/main" id="{B69EFB3C-6B94-4AE1-9A8A-EBCC2F071693}"/>
              </a:ext>
            </a:extLst>
          </p:cNvPr>
          <p:cNvSpPr>
            <a:spLocks xmlns:a="http://schemas.openxmlformats.org/drawingml/2006/main" noGrp="1"/>
          </p:cNvSpPr>
          <p:nvPr/>
        </p:nvSpPr>
        <p:spPr>
          <a:xfrm xmlns:a="http://schemas.openxmlformats.org/drawingml/2006/main">
            <a:off x="3524250" y="571500"/>
            <a:ext cx="8058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025" b="1">
                <a:solidFill>
                  <a:srgbClr val="172F3A"/>
                </a:solidFill>
                <a:latin typeface="DejaVu Sans"/>
                <a:ea typeface="DejaVu Sans"/>
                <a:cs typeface="DejaVu Sans"/>
              </a:defRPr>
            </a:defPPr>
          </a:lstStyle>
          <a:p xmlns:a="http://schemas.openxmlformats.org/drawingml/2006/main">
            <a:pPr algn="r" rtl="1">
              <a:defRPr sz="2025" b="1">
                <a:solidFill>
                  <a:srgbClr val="172F3A"/>
                </a:solidFill>
                <a:latin typeface="DejaVu Sans"/>
                <a:ea typeface="DejaVu Sans"/>
                <a:cs typeface="DejaVu Sans"/>
              </a:defRPr>
            </a:pPr>
            <a:r>
              <a:rPr sz="2025" b="1" lang="fa-IR">
                <a:solidFill>
                  <a:srgbClr val="172F3A"/>
                </a:solidFill>
                <a:latin typeface="DejaVu Sans"/>
                <a:ea typeface="DejaVu Sans"/>
                <a:cs typeface="DejaVu Sans"/>
              </a:rPr>
              <a:t>دانشگاه شهید بهشتی تهران</a:t>
            </a:r>
          </a:p>
        </p:txBody>
      </p:sp>
      <p:sp>
        <p:nvSpPr>
          <p:cNvPr id="5" name="rtl_text_3">
            <a:extLst xmlns:a="http://schemas.openxmlformats.org/drawingml/2006/main">
              <a:ext uri="{FF2B5EF4-FFF2-40B4-BE49-F238E27FC236}">
                <a16:creationId xmlns:a16="http://schemas.microsoft.com/office/drawing/2014/main" id="{ED775C3A-2A17-4071-8FA9-5FD85830965B}"/>
              </a:ext>
            </a:extLst>
          </p:cNvPr>
          <p:cNvSpPr>
            <a:spLocks xmlns:a="http://schemas.openxmlformats.org/drawingml/2006/main" noGrp="1"/>
          </p:cNvSpPr>
          <p:nvPr/>
        </p:nvSpPr>
        <p:spPr>
          <a:xfrm xmlns:a="http://schemas.openxmlformats.org/drawingml/2006/main">
            <a:off x="3524250" y="981075"/>
            <a:ext cx="8058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0">
                <a:solidFill>
                  <a:srgbClr val="546973"/>
                </a:solidFill>
                <a:latin typeface="DejaVu Sans"/>
                <a:ea typeface="DejaVu Sans"/>
                <a:cs typeface="DejaVu Sans"/>
              </a:defRPr>
            </a:defPPr>
          </a:lstStyle>
          <a:p xmlns:a="http://schemas.openxmlformats.org/drawingml/2006/main">
            <a:pPr algn="r" rtl="1">
              <a:defRPr sz="1800" b="0">
                <a:solidFill>
                  <a:srgbClr val="546973"/>
                </a:solidFill>
                <a:latin typeface="DejaVu Sans"/>
                <a:ea typeface="DejaVu Sans"/>
                <a:cs typeface="DejaVu Sans"/>
              </a:defRPr>
            </a:pPr>
            <a:r>
              <a:rPr sz="1800" b="0" lang="fa-IR">
                <a:solidFill>
                  <a:srgbClr val="546973"/>
                </a:solidFill>
                <a:latin typeface="DejaVu Sans"/>
                <a:ea typeface="DejaVu Sans"/>
                <a:cs typeface="DejaVu Sans"/>
              </a:rPr>
              <a:t>دانشکده علوم ریاضی، گروه علوم کامپیوتر</a:t>
            </a:r>
          </a:p>
        </p:txBody>
      </p:sp>
      <p:sp>
        <p:nvSpPr>
          <p:cNvPr id="6" name="rtl_text_4">
            <a:extLst xmlns:a="http://schemas.openxmlformats.org/drawingml/2006/main">
              <a:ext uri="{FF2B5EF4-FFF2-40B4-BE49-F238E27FC236}">
                <a16:creationId xmlns:a16="http://schemas.microsoft.com/office/drawing/2014/main" id="{A391469C-8AF7-46B4-865B-635417DD9B8D}"/>
              </a:ext>
            </a:extLst>
          </p:cNvPr>
          <p:cNvSpPr>
            <a:spLocks xmlns:a="http://schemas.openxmlformats.org/drawingml/2006/main" noGrp="1"/>
          </p:cNvSpPr>
          <p:nvPr/>
        </p:nvSpPr>
        <p:spPr>
          <a:xfrm xmlns:a="http://schemas.openxmlformats.org/drawingml/2006/main">
            <a:off x="609600" y="1990725"/>
            <a:ext cx="109728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4200" b="1">
                <a:solidFill>
                  <a:srgbClr val="172F3A"/>
                </a:solidFill>
                <a:latin typeface="DejaVu Sans"/>
                <a:ea typeface="DejaVu Sans"/>
                <a:cs typeface="DejaVu Sans"/>
              </a:defRPr>
            </a:defPPr>
          </a:lstStyle>
          <a:p xmlns:a="http://schemas.openxmlformats.org/drawingml/2006/main">
            <a:pPr algn="r" rtl="1">
              <a:defRPr sz="4200" b="1">
                <a:solidFill>
                  <a:srgbClr val="172F3A"/>
                </a:solidFill>
                <a:latin typeface="DejaVu Sans"/>
                <a:ea typeface="DejaVu Sans"/>
                <a:cs typeface="DejaVu Sans"/>
              </a:defRPr>
            </a:pPr>
            <a:r>
              <a:rPr sz="4200" b="1" lang="fa-IR">
                <a:solidFill>
                  <a:srgbClr val="172F3A"/>
                </a:solidFill>
                <a:latin typeface="DejaVu Sans"/>
                <a:ea typeface="DejaVu Sans"/>
                <a:cs typeface="DejaVu Sans"/>
              </a:rPr>
              <a:t>حفظ امنیت داده‌های حساس</a:t>
            </a:r>
          </a:p>
          <a:p xmlns:a="http://schemas.openxmlformats.org/drawingml/2006/main">
            <a:pPr algn="r" rtl="1">
              <a:defRPr sz="4200" b="1">
                <a:solidFill>
                  <a:srgbClr val="172F3A"/>
                </a:solidFill>
                <a:latin typeface="DejaVu Sans"/>
                <a:ea typeface="DejaVu Sans"/>
                <a:cs typeface="DejaVu Sans"/>
              </a:defRPr>
            </a:pPr>
            <a:r>
              <a:rPr sz="4200" b="1" lang="fa-IR">
                <a:solidFill>
                  <a:srgbClr val="172F3A"/>
                </a:solidFill>
                <a:latin typeface="DejaVu Sans"/>
                <a:ea typeface="DejaVu Sans"/>
                <a:cs typeface="DejaVu Sans"/>
              </a:rPr>
              <a:t>در پیش‌بینی خودکشی</a:t>
            </a:r>
          </a:p>
        </p:txBody>
      </p:sp>
      <p:sp>
        <p:nvSpPr>
          <p:cNvPr id="7" name="rtl_text_5">
            <a:extLst xmlns:a="http://schemas.openxmlformats.org/drawingml/2006/main">
              <a:ext uri="{FF2B5EF4-FFF2-40B4-BE49-F238E27FC236}">
                <a16:creationId xmlns:a16="http://schemas.microsoft.com/office/drawing/2014/main" id="{F3B81402-57BA-42D2-8E16-A83B295ED470}"/>
              </a:ext>
            </a:extLst>
          </p:cNvPr>
          <p:cNvSpPr>
            <a:spLocks xmlns:a="http://schemas.openxmlformats.org/drawingml/2006/main" noGrp="1"/>
          </p:cNvSpPr>
          <p:nvPr/>
        </p:nvSpPr>
        <p:spPr>
          <a:xfrm xmlns:a="http://schemas.openxmlformats.org/drawingml/2006/main">
            <a:off x="609600" y="3857625"/>
            <a:ext cx="109728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250" b="0">
                <a:solidFill>
                  <a:srgbClr val="087E83"/>
                </a:solidFill>
                <a:latin typeface="DejaVu Sans"/>
                <a:ea typeface="DejaVu Sans"/>
                <a:cs typeface="DejaVu Sans"/>
              </a:defRPr>
            </a:defPPr>
          </a:lstStyle>
          <a:p xmlns:a="http://schemas.openxmlformats.org/drawingml/2006/main">
            <a:pPr algn="r" rtl="1">
              <a:defRPr sz="2250" b="0">
                <a:solidFill>
                  <a:srgbClr val="087E83"/>
                </a:solidFill>
                <a:latin typeface="DejaVu Sans"/>
                <a:ea typeface="DejaVu Sans"/>
                <a:cs typeface="DejaVu Sans"/>
              </a:defRPr>
            </a:pPr>
            <a:r>
              <a:rPr sz="2250" b="0" lang="fa-IR">
                <a:solidFill>
                  <a:srgbClr val="087E83"/>
                </a:solidFill>
                <a:latin typeface="DejaVu Sans"/>
                <a:ea typeface="DejaVu Sans"/>
                <a:cs typeface="DejaVu Sans"/>
              </a:rPr>
              <a:t>با رویکردی مبتنی بر یادگیری مشارکتی و رمزگذاری هم‌ریخت</a:t>
            </a:r>
          </a:p>
          <a:p xmlns:a="http://schemas.openxmlformats.org/drawingml/2006/main">
            <a:pPr algn="r" rtl="1">
              <a:defRPr sz="2250" b="0">
                <a:solidFill>
                  <a:srgbClr val="087E83"/>
                </a:solidFill>
                <a:latin typeface="DejaVu Sans"/>
                <a:ea typeface="DejaVu Sans"/>
                <a:cs typeface="DejaVu Sans"/>
              </a:defRPr>
            </a:pPr>
            <a:r>
              <a:rPr sz="2250" b="0" lang="fa-IR">
                <a:solidFill>
                  <a:srgbClr val="087E83"/>
                </a:solidFill>
                <a:latin typeface="DejaVu Sans"/>
                <a:ea typeface="DejaVu Sans"/>
                <a:cs typeface="DejaVu Sans"/>
              </a:rPr>
              <a:t>در پردازش زبان طبیعی</a:t>
            </a:r>
          </a:p>
        </p:txBody>
      </p:sp>
      <p:sp>
        <p:nvSpPr>
          <p:cNvPr id="8" name="rtl_text_6">
            <a:extLst xmlns:a="http://schemas.openxmlformats.org/drawingml/2006/main">
              <a:ext uri="{FF2B5EF4-FFF2-40B4-BE49-F238E27FC236}">
                <a16:creationId xmlns:a16="http://schemas.microsoft.com/office/drawing/2014/main" id="{BDA04942-C682-41CC-95CE-A4EAB06C4AE7}"/>
              </a:ext>
            </a:extLst>
          </p:cNvPr>
          <p:cNvSpPr>
            <a:spLocks xmlns:a="http://schemas.openxmlformats.org/drawingml/2006/main" noGrp="1"/>
          </p:cNvSpPr>
          <p:nvPr/>
        </p:nvSpPr>
        <p:spPr>
          <a:xfrm xmlns:a="http://schemas.openxmlformats.org/drawingml/2006/main">
            <a:off x="609600" y="5248275"/>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1">
                <a:solidFill>
                  <a:srgbClr val="172F3A"/>
                </a:solidFill>
                <a:latin typeface="DejaVu Sans"/>
                <a:ea typeface="DejaVu Sans"/>
                <a:cs typeface="DejaVu Sans"/>
              </a:defRPr>
            </a:defPPr>
          </a:lstStyle>
          <a:p xmlns:a="http://schemas.openxmlformats.org/drawingml/2006/main">
            <a:pPr algn="r" rtl="1">
              <a:defRPr sz="2400" b="1">
                <a:solidFill>
                  <a:srgbClr val="172F3A"/>
                </a:solidFill>
                <a:latin typeface="DejaVu Sans"/>
                <a:ea typeface="DejaVu Sans"/>
                <a:cs typeface="DejaVu Sans"/>
              </a:defRPr>
            </a:pPr>
            <a:r>
              <a:rPr sz="2400" b="1" lang="fa-IR">
                <a:solidFill>
                  <a:srgbClr val="172F3A"/>
                </a:solidFill>
                <a:latin typeface="DejaVu Sans"/>
                <a:ea typeface="DejaVu Sans"/>
                <a:cs typeface="DejaVu Sans"/>
              </a:rPr>
              <a:t>سجاد رنجبر یزدی</a:t>
            </a:r>
          </a:p>
        </p:txBody>
      </p:sp>
      <p:sp>
        <p:nvSpPr>
          <p:cNvPr id="9" name="rtl_text_7">
            <a:extLst xmlns:a="http://schemas.openxmlformats.org/drawingml/2006/main">
              <a:ext uri="{FF2B5EF4-FFF2-40B4-BE49-F238E27FC236}">
                <a16:creationId xmlns:a16="http://schemas.microsoft.com/office/drawing/2014/main" id="{AB8AE896-C958-4F14-B898-14B76A2A12D9}"/>
              </a:ext>
            </a:extLst>
          </p:cNvPr>
          <p:cNvSpPr>
            <a:spLocks xmlns:a="http://schemas.openxmlformats.org/drawingml/2006/main" noGrp="1"/>
          </p:cNvSpPr>
          <p:nvPr/>
        </p:nvSpPr>
        <p:spPr>
          <a:xfrm xmlns:a="http://schemas.openxmlformats.org/drawingml/2006/main">
            <a:off x="609600" y="5734050"/>
            <a:ext cx="10972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75" b="0">
                <a:solidFill>
                  <a:srgbClr val="546973"/>
                </a:solidFill>
                <a:latin typeface="DejaVu Sans"/>
                <a:ea typeface="DejaVu Sans"/>
                <a:cs typeface="DejaVu Sans"/>
              </a:defRPr>
            </a:defPPr>
          </a:lstStyle>
          <a:p xmlns:a="http://schemas.openxmlformats.org/drawingml/2006/main">
            <a:pPr algn="r" rtl="1">
              <a:defRPr sz="1875" b="0">
                <a:solidFill>
                  <a:srgbClr val="546973"/>
                </a:solidFill>
                <a:latin typeface="DejaVu Sans"/>
                <a:ea typeface="DejaVu Sans"/>
                <a:cs typeface="DejaVu Sans"/>
              </a:defRPr>
            </a:pPr>
            <a:r>
              <a:rPr sz="1875" b="0" lang="fa-IR">
                <a:solidFill>
                  <a:srgbClr val="546973"/>
                </a:solidFill>
                <a:latin typeface="DejaVu Sans"/>
                <a:ea typeface="DejaVu Sans"/>
                <a:cs typeface="DejaVu Sans"/>
              </a:rPr>
              <a:t>استاد راهنما: دکتر زیبا اسلامی</a:t>
            </a:r>
          </a:p>
        </p:txBody>
      </p:sp>
      <p:sp>
        <p:nvSpPr>
          <p:cNvPr id="10" name="rtl_text_8">
            <a:extLst xmlns:a="http://schemas.openxmlformats.org/drawingml/2006/main">
              <a:ext uri="{FF2B5EF4-FFF2-40B4-BE49-F238E27FC236}">
                <a16:creationId xmlns:a16="http://schemas.microsoft.com/office/drawing/2014/main" id="{EF458FE0-733F-4D22-9685-A2F4BCB71CE6}"/>
              </a:ext>
            </a:extLst>
          </p:cNvPr>
          <p:cNvSpPr>
            <a:spLocks xmlns:a="http://schemas.openxmlformats.org/drawingml/2006/main" noGrp="1"/>
          </p:cNvSpPr>
          <p:nvPr/>
        </p:nvSpPr>
        <p:spPr>
          <a:xfrm xmlns:a="http://schemas.openxmlformats.org/drawingml/2006/main">
            <a:off x="609600" y="6267450"/>
            <a:ext cx="10972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0">
                <a:solidFill>
                  <a:srgbClr val="546973"/>
                </a:solidFill>
                <a:latin typeface="DejaVu Sans"/>
                <a:ea typeface="DejaVu Sans"/>
                <a:cs typeface="DejaVu Sans"/>
              </a:defRPr>
            </a:defPPr>
          </a:lstStyle>
          <a:p xmlns:a="http://schemas.openxmlformats.org/drawingml/2006/main">
            <a:pPr algn="r" rtl="1">
              <a:defRPr sz="1650" b="0">
                <a:solidFill>
                  <a:srgbClr val="546973"/>
                </a:solidFill>
                <a:latin typeface="DejaVu Sans"/>
                <a:ea typeface="DejaVu Sans"/>
                <a:cs typeface="DejaVu Sans"/>
              </a:defRPr>
            </a:pPr>
            <a:r>
              <a:rPr sz="1650" b="0" lang="fa-IR">
                <a:solidFill>
                  <a:srgbClr val="546973"/>
                </a:solidFill>
                <a:latin typeface="DejaVu Sans"/>
                <a:ea typeface="DejaVu Sans"/>
                <a:cs typeface="DejaVu Sans"/>
              </a:rPr>
              <a:t>دفاع کارشناسی ارشد علوم کامپیوتر، گرایش داده‌کاوی</a:t>
            </a:r>
          </a:p>
        </p:txBody>
      </p:sp>
    </p:spTree>
    <p:extLst>
      <p:ext uri="{BB962C8B-B14F-4D97-AF65-F5344CB8AC3E}">
        <p14:creationId xmlns:p14="http://schemas.microsoft.com/office/powerpoint/2010/main" val="368102555"/>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rtl_headline">
            <a:extLst xmlns:a="http://schemas.openxmlformats.org/drawingml/2006/main">
              <a:ext uri="{FF2B5EF4-FFF2-40B4-BE49-F238E27FC236}">
                <a16:creationId xmlns:a16="http://schemas.microsoft.com/office/drawing/2014/main" id="{9CCA385D-63E4-44A4-8CA3-960C1D4AE132}"/>
              </a:ext>
            </a:extLst>
          </p:cNvPr>
          <p:cNvSpPr>
            <a:spLocks xmlns:a="http://schemas.openxmlformats.org/drawingml/2006/main" noGrp="1"/>
          </p:cNvSpPr>
          <p:nvPr/>
        </p:nvSpPr>
        <p:spPr>
          <a:xfrm xmlns:a="http://schemas.openxmlformats.org/drawingml/2006/main">
            <a:off x="609600" y="4191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300" b="1">
                <a:solidFill>
                  <a:srgbClr val="172F3A"/>
                </a:solidFill>
                <a:latin typeface="DejaVu Sans"/>
                <a:ea typeface="DejaVu Sans"/>
                <a:cs typeface="DejaVu Sans"/>
              </a:defRPr>
            </a:defPPr>
          </a:lstStyle>
          <a:p xmlns:a="http://schemas.openxmlformats.org/drawingml/2006/main">
            <a:pPr algn="r" rtl="1">
              <a:defRPr sz="3300" b="1">
                <a:solidFill>
                  <a:srgbClr val="172F3A"/>
                </a:solidFill>
                <a:latin typeface="DejaVu Sans"/>
                <a:ea typeface="DejaVu Sans"/>
                <a:cs typeface="DejaVu Sans"/>
              </a:defRPr>
            </a:pPr>
            <a:r>
              <a:rPr sz="3300" b="1" lang="fa-IR">
                <a:solidFill>
                  <a:srgbClr val="172F3A"/>
                </a:solidFill>
                <a:latin typeface="DejaVu Sans"/>
                <a:ea typeface="DejaVu Sans"/>
                <a:cs typeface="DejaVu Sans"/>
              </a:rPr>
              <a:t>مسئله پژوهش</a:t>
            </a:r>
          </a:p>
        </p:txBody>
      </p:sp>
      <p:sp>
        <p:nvSpPr>
          <p:cNvPr id="2" name="ltr_page">
            <a:extLst xmlns:a="http://schemas.openxmlformats.org/drawingml/2006/main">
              <a:ext uri="{FF2B5EF4-FFF2-40B4-BE49-F238E27FC236}">
                <a16:creationId xmlns:a16="http://schemas.microsoft.com/office/drawing/2014/main" id="{8C11940E-A16E-4781-A8D8-15D7B4680BEC}"/>
              </a:ext>
            </a:extLst>
          </p:cNvPr>
          <p:cNvSpPr>
            <a:spLocks xmlns:a="http://schemas.openxmlformats.org/drawingml/2006/main" noGrp="1"/>
          </p:cNvSpPr>
          <p:nvPr/>
        </p:nvSpPr>
        <p:spPr>
          <a:xfrm xmlns:a="http://schemas.openxmlformats.org/drawingml/2006/main">
            <a:off x="609600" y="63436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46973"/>
                </a:solidFill>
                <a:latin typeface="DejaVu Sans"/>
                <a:ea typeface="DejaVu Sans"/>
                <a:cs typeface="DejaVu Sans"/>
              </a:defRPr>
            </a:defPPr>
          </a:lstStyle>
          <a:p xmlns:a="http://schemas.openxmlformats.org/drawingml/2006/main">
            <a:pPr algn="l" rtl="0">
              <a:defRPr sz="1350" b="0">
                <a:solidFill>
                  <a:srgbClr val="546973"/>
                </a:solidFill>
                <a:latin typeface="DejaVu Sans"/>
                <a:ea typeface="DejaVu Sans"/>
                <a:cs typeface="DejaVu Sans"/>
              </a:defRPr>
            </a:pPr>
            <a:r>
              <a:rPr sz="1350" b="0" lang="en-US">
                <a:solidFill>
                  <a:srgbClr val="546973"/>
                </a:solidFill>
                <a:latin typeface="DejaVu Sans"/>
                <a:ea typeface="DejaVu Sans"/>
                <a:cs typeface="DejaVu Sans"/>
              </a:rPr>
              <a:t>02</a:t>
            </a:r>
          </a:p>
        </p:txBody>
      </p:sp>
      <p:sp>
        <p:nvSpPr>
          <p:cNvPr id="3" name="rtl_text_2">
            <a:extLst xmlns:a="http://schemas.openxmlformats.org/drawingml/2006/main">
              <a:ext uri="{FF2B5EF4-FFF2-40B4-BE49-F238E27FC236}">
                <a16:creationId xmlns:a16="http://schemas.microsoft.com/office/drawing/2014/main" id="{DC71F202-AB65-4FA4-8560-4EA6FF8DC3E7}"/>
              </a:ext>
            </a:extLst>
          </p:cNvPr>
          <p:cNvSpPr>
            <a:spLocks xmlns:a="http://schemas.openxmlformats.org/drawingml/2006/main" noGrp="1"/>
          </p:cNvSpPr>
          <p:nvPr/>
        </p:nvSpPr>
        <p:spPr>
          <a:xfrm xmlns:a="http://schemas.openxmlformats.org/drawingml/2006/main">
            <a:off x="609600" y="166687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325" b="1">
                <a:solidFill>
                  <a:srgbClr val="087E83"/>
                </a:solidFill>
                <a:latin typeface="DejaVu Sans"/>
                <a:ea typeface="DejaVu Sans"/>
                <a:cs typeface="DejaVu Sans"/>
              </a:defRPr>
            </a:defPPr>
          </a:lstStyle>
          <a:p xmlns:a="http://schemas.openxmlformats.org/drawingml/2006/main">
            <a:pPr algn="r" rtl="1">
              <a:defRPr sz="2325" b="1">
                <a:solidFill>
                  <a:srgbClr val="087E83"/>
                </a:solidFill>
                <a:latin typeface="DejaVu Sans"/>
                <a:ea typeface="DejaVu Sans"/>
                <a:cs typeface="DejaVu Sans"/>
              </a:defRPr>
            </a:pPr>
            <a:r>
              <a:rPr sz="2325" b="1" lang="fa-IR">
                <a:solidFill>
                  <a:srgbClr val="087E83"/>
                </a:solidFill>
                <a:latin typeface="DejaVu Sans"/>
                <a:ea typeface="DejaVu Sans"/>
                <a:cs typeface="DejaVu Sans"/>
              </a:rPr>
              <a:t>نشانه‌های خطر در متن</a:t>
            </a:r>
          </a:p>
        </p:txBody>
      </p:sp>
      <p:sp>
        <p:nvSpPr>
          <p:cNvPr id="4" name="rtl_text_3">
            <a:extLst xmlns:a="http://schemas.openxmlformats.org/drawingml/2006/main">
              <a:ext uri="{FF2B5EF4-FFF2-40B4-BE49-F238E27FC236}">
                <a16:creationId xmlns:a16="http://schemas.microsoft.com/office/drawing/2014/main" id="{F7CB680D-36FF-46EA-826F-144DF9793C54}"/>
              </a:ext>
            </a:extLst>
          </p:cNvPr>
          <p:cNvSpPr>
            <a:spLocks xmlns:a="http://schemas.openxmlformats.org/drawingml/2006/main" noGrp="1"/>
          </p:cNvSpPr>
          <p:nvPr/>
        </p:nvSpPr>
        <p:spPr>
          <a:xfrm xmlns:a="http://schemas.openxmlformats.org/drawingml/2006/main">
            <a:off x="609600" y="210502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175" b="0">
                <a:solidFill>
                  <a:srgbClr val="546973"/>
                </a:solidFill>
                <a:latin typeface="DejaVu Sans"/>
                <a:ea typeface="DejaVu Sans"/>
                <a:cs typeface="DejaVu Sans"/>
              </a:defRPr>
            </a:defPPr>
          </a:lstStyle>
          <a:p xmlns:a="http://schemas.openxmlformats.org/drawingml/2006/main">
            <a:pPr algn="r" rtl="1">
              <a:defRPr sz="2175" b="0">
                <a:solidFill>
                  <a:srgbClr val="546973"/>
                </a:solidFill>
                <a:latin typeface="DejaVu Sans"/>
                <a:ea typeface="DejaVu Sans"/>
                <a:cs typeface="DejaVu Sans"/>
              </a:defRPr>
            </a:pPr>
            <a:r>
              <a:rPr sz="2175" b="0" lang="fa-IR">
                <a:solidFill>
                  <a:srgbClr val="546973"/>
                </a:solidFill>
                <a:latin typeface="DejaVu Sans"/>
                <a:ea typeface="DejaVu Sans"/>
                <a:cs typeface="DejaVu Sans"/>
              </a:rPr>
              <a:t>تحلیل خودکار متن برای کمک به غربالگری و بررسی متخصص</a:t>
            </a:r>
          </a:p>
        </p:txBody>
      </p:sp>
      <p:sp>
        <p:nvSpPr>
          <p:cNvPr id="5" name="rtl_text_4">
            <a:extLst xmlns:a="http://schemas.openxmlformats.org/drawingml/2006/main">
              <a:ext uri="{FF2B5EF4-FFF2-40B4-BE49-F238E27FC236}">
                <a16:creationId xmlns:a16="http://schemas.microsoft.com/office/drawing/2014/main" id="{A2606119-F438-49B0-B511-BD3E3F85B543}"/>
              </a:ext>
            </a:extLst>
          </p:cNvPr>
          <p:cNvSpPr>
            <a:spLocks xmlns:a="http://schemas.openxmlformats.org/drawingml/2006/main" noGrp="1"/>
          </p:cNvSpPr>
          <p:nvPr/>
        </p:nvSpPr>
        <p:spPr>
          <a:xfrm xmlns:a="http://schemas.openxmlformats.org/drawingml/2006/main">
            <a:off x="609600" y="292417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325" b="1">
                <a:solidFill>
                  <a:srgbClr val="087E83"/>
                </a:solidFill>
                <a:latin typeface="DejaVu Sans"/>
                <a:ea typeface="DejaVu Sans"/>
                <a:cs typeface="DejaVu Sans"/>
              </a:defRPr>
            </a:defPPr>
          </a:lstStyle>
          <a:p xmlns:a="http://schemas.openxmlformats.org/drawingml/2006/main">
            <a:pPr algn="r" rtl="1">
              <a:defRPr sz="2325" b="1">
                <a:solidFill>
                  <a:srgbClr val="087E83"/>
                </a:solidFill>
                <a:latin typeface="DejaVu Sans"/>
                <a:ea typeface="DejaVu Sans"/>
                <a:cs typeface="DejaVu Sans"/>
              </a:defRPr>
            </a:pPr>
            <a:r>
              <a:rPr sz="2325" b="1" lang="fa-IR">
                <a:solidFill>
                  <a:srgbClr val="087E83"/>
                </a:solidFill>
                <a:latin typeface="DejaVu Sans"/>
                <a:ea typeface="DejaVu Sans"/>
                <a:cs typeface="DejaVu Sans"/>
              </a:rPr>
              <a:t>حساسیت داده‌های روان‌شناختی</a:t>
            </a:r>
          </a:p>
        </p:txBody>
      </p:sp>
      <p:sp>
        <p:nvSpPr>
          <p:cNvPr id="6" name="rtl_text_5">
            <a:extLst xmlns:a="http://schemas.openxmlformats.org/drawingml/2006/main">
              <a:ext uri="{FF2B5EF4-FFF2-40B4-BE49-F238E27FC236}">
                <a16:creationId xmlns:a16="http://schemas.microsoft.com/office/drawing/2014/main" id="{711F4629-A8BD-4B21-AD2B-2EC039FA2FF9}"/>
              </a:ext>
            </a:extLst>
          </p:cNvPr>
          <p:cNvSpPr>
            <a:spLocks xmlns:a="http://schemas.openxmlformats.org/drawingml/2006/main" noGrp="1"/>
          </p:cNvSpPr>
          <p:nvPr/>
        </p:nvSpPr>
        <p:spPr>
          <a:xfrm xmlns:a="http://schemas.openxmlformats.org/drawingml/2006/main">
            <a:off x="609600" y="336232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175" b="0">
                <a:solidFill>
                  <a:srgbClr val="546973"/>
                </a:solidFill>
                <a:latin typeface="DejaVu Sans"/>
                <a:ea typeface="DejaVu Sans"/>
                <a:cs typeface="DejaVu Sans"/>
              </a:defRPr>
            </a:defPPr>
          </a:lstStyle>
          <a:p xmlns:a="http://schemas.openxmlformats.org/drawingml/2006/main">
            <a:pPr algn="r" rtl="1">
              <a:defRPr sz="2175" b="0">
                <a:solidFill>
                  <a:srgbClr val="546973"/>
                </a:solidFill>
                <a:latin typeface="DejaVu Sans"/>
                <a:ea typeface="DejaVu Sans"/>
                <a:cs typeface="DejaVu Sans"/>
              </a:defRPr>
            </a:pPr>
            <a:r>
              <a:rPr sz="2175" b="0" lang="fa-IR">
                <a:solidFill>
                  <a:srgbClr val="546973"/>
                </a:solidFill>
                <a:latin typeface="DejaVu Sans"/>
                <a:ea typeface="DejaVu Sans"/>
                <a:cs typeface="DejaVu Sans"/>
              </a:rPr>
              <a:t>محدودیت اشتراک‌گذاری و خطر افشای داده‌های خام</a:t>
            </a:r>
          </a:p>
        </p:txBody>
      </p:sp>
      <p:sp>
        <p:nvSpPr>
          <p:cNvPr id="7" name="rtl_text_6">
            <a:extLst xmlns:a="http://schemas.openxmlformats.org/drawingml/2006/main">
              <a:ext uri="{FF2B5EF4-FFF2-40B4-BE49-F238E27FC236}">
                <a16:creationId xmlns:a16="http://schemas.microsoft.com/office/drawing/2014/main" id="{59E26FE0-278C-471F-9AB6-FEBCBF2C0380}"/>
              </a:ext>
            </a:extLst>
          </p:cNvPr>
          <p:cNvSpPr>
            <a:spLocks xmlns:a="http://schemas.openxmlformats.org/drawingml/2006/main" noGrp="1"/>
          </p:cNvSpPr>
          <p:nvPr/>
        </p:nvSpPr>
        <p:spPr>
          <a:xfrm xmlns:a="http://schemas.openxmlformats.org/drawingml/2006/main">
            <a:off x="609600" y="418147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325" b="1">
                <a:solidFill>
                  <a:srgbClr val="087E83"/>
                </a:solidFill>
                <a:latin typeface="DejaVu Sans"/>
                <a:ea typeface="DejaVu Sans"/>
                <a:cs typeface="DejaVu Sans"/>
              </a:defRPr>
            </a:defPPr>
          </a:lstStyle>
          <a:p xmlns:a="http://schemas.openxmlformats.org/drawingml/2006/main">
            <a:pPr algn="r" rtl="1">
              <a:defRPr sz="2325" b="1">
                <a:solidFill>
                  <a:srgbClr val="087E83"/>
                </a:solidFill>
                <a:latin typeface="DejaVu Sans"/>
                <a:ea typeface="DejaVu Sans"/>
                <a:cs typeface="DejaVu Sans"/>
              </a:defRPr>
            </a:pPr>
            <a:r>
              <a:rPr sz="2325" b="1" lang="fa-IR">
                <a:solidFill>
                  <a:srgbClr val="087E83"/>
                </a:solidFill>
                <a:latin typeface="DejaVu Sans"/>
                <a:ea typeface="DejaVu Sans"/>
                <a:cs typeface="DejaVu Sans"/>
              </a:rPr>
              <a:t>امنیت همکاری چند منبع</a:t>
            </a:r>
          </a:p>
        </p:txBody>
      </p:sp>
      <p:sp>
        <p:nvSpPr>
          <p:cNvPr id="8" name="rtl_text_7">
            <a:extLst xmlns:a="http://schemas.openxmlformats.org/drawingml/2006/main">
              <a:ext uri="{FF2B5EF4-FFF2-40B4-BE49-F238E27FC236}">
                <a16:creationId xmlns:a16="http://schemas.microsoft.com/office/drawing/2014/main" id="{87883122-92B6-4239-8702-CD01C507F301}"/>
              </a:ext>
            </a:extLst>
          </p:cNvPr>
          <p:cNvSpPr>
            <a:spLocks xmlns:a="http://schemas.openxmlformats.org/drawingml/2006/main" noGrp="1"/>
          </p:cNvSpPr>
          <p:nvPr/>
        </p:nvSpPr>
        <p:spPr>
          <a:xfrm xmlns:a="http://schemas.openxmlformats.org/drawingml/2006/main">
            <a:off x="609600" y="461962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175" b="0">
                <a:solidFill>
                  <a:srgbClr val="546973"/>
                </a:solidFill>
                <a:latin typeface="DejaVu Sans"/>
                <a:ea typeface="DejaVu Sans"/>
                <a:cs typeface="DejaVu Sans"/>
              </a:defRPr>
            </a:defPPr>
          </a:lstStyle>
          <a:p xmlns:a="http://schemas.openxmlformats.org/drawingml/2006/main">
            <a:pPr algn="r" rtl="1">
              <a:defRPr sz="2175" b="0">
                <a:solidFill>
                  <a:srgbClr val="546973"/>
                </a:solidFill>
                <a:latin typeface="DejaVu Sans"/>
                <a:ea typeface="DejaVu Sans"/>
                <a:cs typeface="DejaVu Sans"/>
              </a:defRPr>
            </a:pPr>
            <a:r>
              <a:rPr sz="2175" b="0" lang="fa-IR">
                <a:solidFill>
                  <a:srgbClr val="546973"/>
                </a:solidFill>
                <a:latin typeface="DejaVu Sans"/>
                <a:ea typeface="DejaVu Sans"/>
                <a:cs typeface="DejaVu Sans"/>
              </a:rPr>
              <a:t>محافظت از خروجی‌ها، هویت فرستنده و صحت تجمیع</a:t>
            </a:r>
          </a:p>
        </p:txBody>
      </p:sp>
    </p:spTree>
    <p:extLst>
      <p:ext uri="{BB962C8B-B14F-4D97-AF65-F5344CB8AC3E}">
        <p14:creationId xmlns:p14="http://schemas.microsoft.com/office/powerpoint/2010/main" val="931381791"/>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 name="rtl_headline">
            <a:extLst xmlns:a="http://schemas.openxmlformats.org/drawingml/2006/main">
              <a:ext uri="{FF2B5EF4-FFF2-40B4-BE49-F238E27FC236}">
                <a16:creationId xmlns:a16="http://schemas.microsoft.com/office/drawing/2014/main" id="{8CC7FB31-F17E-4FB1-A8BD-45405BE3D8A7}"/>
              </a:ext>
            </a:extLst>
          </p:cNvPr>
          <p:cNvSpPr>
            <a:spLocks xmlns:a="http://schemas.openxmlformats.org/drawingml/2006/main" noGrp="1"/>
          </p:cNvSpPr>
          <p:nvPr/>
        </p:nvSpPr>
        <p:spPr>
          <a:xfrm xmlns:a="http://schemas.openxmlformats.org/drawingml/2006/main">
            <a:off x="609600" y="4191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300" b="1">
                <a:solidFill>
                  <a:srgbClr val="172F3A"/>
                </a:solidFill>
                <a:latin typeface="DejaVu Sans"/>
                <a:ea typeface="DejaVu Sans"/>
                <a:cs typeface="DejaVu Sans"/>
              </a:defRPr>
            </a:defPPr>
          </a:lstStyle>
          <a:p xmlns:a="http://schemas.openxmlformats.org/drawingml/2006/main">
            <a:pPr algn="r" rtl="1">
              <a:defRPr sz="3300" b="1">
                <a:solidFill>
                  <a:srgbClr val="172F3A"/>
                </a:solidFill>
                <a:latin typeface="DejaVu Sans"/>
                <a:ea typeface="DejaVu Sans"/>
                <a:cs typeface="DejaVu Sans"/>
              </a:defRPr>
            </a:pPr>
            <a:r>
              <a:rPr sz="3300" b="1" lang="fa-IR">
                <a:solidFill>
                  <a:srgbClr val="172F3A"/>
                </a:solidFill>
                <a:latin typeface="DejaVu Sans"/>
                <a:ea typeface="DejaVu Sans"/>
                <a:cs typeface="DejaVu Sans"/>
              </a:rPr>
              <a:t>هدف و سهم پژوهش</a:t>
            </a:r>
          </a:p>
        </p:txBody>
      </p:sp>
      <p:sp>
        <p:nvSpPr>
          <p:cNvPr id="2" name="ltr_page">
            <a:extLst xmlns:a="http://schemas.openxmlformats.org/drawingml/2006/main">
              <a:ext uri="{FF2B5EF4-FFF2-40B4-BE49-F238E27FC236}">
                <a16:creationId xmlns:a16="http://schemas.microsoft.com/office/drawing/2014/main" id="{865B9409-9AB3-49D5-9CCA-F46FE875BA50}"/>
              </a:ext>
            </a:extLst>
          </p:cNvPr>
          <p:cNvSpPr>
            <a:spLocks xmlns:a="http://schemas.openxmlformats.org/drawingml/2006/main" noGrp="1"/>
          </p:cNvSpPr>
          <p:nvPr/>
        </p:nvSpPr>
        <p:spPr>
          <a:xfrm xmlns:a="http://schemas.openxmlformats.org/drawingml/2006/main">
            <a:off x="609600" y="63436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46973"/>
                </a:solidFill>
                <a:latin typeface="DejaVu Sans"/>
                <a:ea typeface="DejaVu Sans"/>
                <a:cs typeface="DejaVu Sans"/>
              </a:defRPr>
            </a:defPPr>
          </a:lstStyle>
          <a:p xmlns:a="http://schemas.openxmlformats.org/drawingml/2006/main">
            <a:pPr algn="l" rtl="0">
              <a:defRPr sz="1350" b="0">
                <a:solidFill>
                  <a:srgbClr val="546973"/>
                </a:solidFill>
                <a:latin typeface="DejaVu Sans"/>
                <a:ea typeface="DejaVu Sans"/>
                <a:cs typeface="DejaVu Sans"/>
              </a:defRPr>
            </a:pPr>
            <a:r>
              <a:rPr sz="1350" b="0" lang="en-US">
                <a:solidFill>
                  <a:srgbClr val="546973"/>
                </a:solidFill>
                <a:latin typeface="DejaVu Sans"/>
                <a:ea typeface="DejaVu Sans"/>
                <a:cs typeface="DejaVu Sans"/>
              </a:rPr>
              <a:t>03</a:t>
            </a:r>
          </a:p>
        </p:txBody>
      </p:sp>
      <p:sp>
        <p:nvSpPr>
          <p:cNvPr id="3" name="rtl_text_2">
            <a:extLst xmlns:a="http://schemas.openxmlformats.org/drawingml/2006/main">
              <a:ext uri="{FF2B5EF4-FFF2-40B4-BE49-F238E27FC236}">
                <a16:creationId xmlns:a16="http://schemas.microsoft.com/office/drawing/2014/main" id="{01B3ACA0-D520-4048-A3CB-077919F4DF0D}"/>
              </a:ext>
            </a:extLst>
          </p:cNvPr>
          <p:cNvSpPr>
            <a:spLocks xmlns:a="http://schemas.openxmlformats.org/drawingml/2006/main" noGrp="1"/>
          </p:cNvSpPr>
          <p:nvPr/>
        </p:nvSpPr>
        <p:spPr>
          <a:xfrm xmlns:a="http://schemas.openxmlformats.org/drawingml/2006/main">
            <a:off x="609600" y="1666875"/>
            <a:ext cx="109728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925" b="1">
                <a:solidFill>
                  <a:srgbClr val="087E83"/>
                </a:solidFill>
                <a:latin typeface="DejaVu Sans"/>
                <a:ea typeface="DejaVu Sans"/>
                <a:cs typeface="DejaVu Sans"/>
              </a:defRPr>
            </a:defPPr>
          </a:lstStyle>
          <a:p xmlns:a="http://schemas.openxmlformats.org/drawingml/2006/main">
            <a:pPr algn="r" rtl="1">
              <a:defRPr sz="2925" b="1">
                <a:solidFill>
                  <a:srgbClr val="087E83"/>
                </a:solidFill>
                <a:latin typeface="DejaVu Sans"/>
                <a:ea typeface="DejaVu Sans"/>
                <a:cs typeface="DejaVu Sans"/>
              </a:defRPr>
            </a:pPr>
            <a:r>
              <a:rPr sz="2925" b="1" lang="fa-IR">
                <a:solidFill>
                  <a:srgbClr val="087E83"/>
                </a:solidFill>
                <a:latin typeface="DejaVu Sans"/>
                <a:ea typeface="DejaVu Sans"/>
                <a:cs typeface="DejaVu Sans"/>
              </a:rPr>
              <a:t>پیش‌بینی چندمنبعی با داده‌های محلی</a:t>
            </a:r>
          </a:p>
          <a:p xmlns:a="http://schemas.openxmlformats.org/drawingml/2006/main">
            <a:pPr algn="r" rtl="1">
              <a:defRPr sz="2925" b="1">
                <a:solidFill>
                  <a:srgbClr val="087E83"/>
                </a:solidFill>
                <a:latin typeface="DejaVu Sans"/>
                <a:ea typeface="DejaVu Sans"/>
                <a:cs typeface="DejaVu Sans"/>
              </a:defRPr>
            </a:pPr>
            <a:r>
              <a:rPr sz="2925" b="1" lang="fa-IR">
                <a:solidFill>
                  <a:srgbClr val="087E83"/>
                </a:solidFill>
                <a:latin typeface="DejaVu Sans"/>
                <a:ea typeface="DejaVu Sans"/>
                <a:cs typeface="DejaVu Sans"/>
              </a:rPr>
              <a:t>و تجمیع احرازشده در فضای رمز</a:t>
            </a:r>
          </a:p>
        </p:txBody>
      </p:sp>
      <p:sp>
        <p:nvSpPr>
          <p:cNvPr id="4" name="rtl_text_3">
            <a:extLst xmlns:a="http://schemas.openxmlformats.org/drawingml/2006/main">
              <a:ext uri="{FF2B5EF4-FFF2-40B4-BE49-F238E27FC236}">
                <a16:creationId xmlns:a16="http://schemas.microsoft.com/office/drawing/2014/main" id="{98F04BDF-67D7-420A-A657-90A2A38A451C}"/>
              </a:ext>
            </a:extLst>
          </p:cNvPr>
          <p:cNvSpPr>
            <a:spLocks xmlns:a="http://schemas.openxmlformats.org/drawingml/2006/main" noGrp="1"/>
          </p:cNvSpPr>
          <p:nvPr/>
        </p:nvSpPr>
        <p:spPr>
          <a:xfrm xmlns:a="http://schemas.openxmlformats.org/drawingml/2006/main">
            <a:off x="609600" y="323850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025" b="1">
                <a:solidFill>
                  <a:srgbClr val="087E83"/>
                </a:solidFill>
                <a:latin typeface="DejaVu Sans"/>
                <a:ea typeface="DejaVu Sans"/>
                <a:cs typeface="DejaVu Sans"/>
              </a:defRPr>
            </a:defPPr>
          </a:lstStyle>
          <a:p xmlns:a="http://schemas.openxmlformats.org/drawingml/2006/main">
            <a:pPr algn="r" rtl="1">
              <a:defRPr sz="2025" b="1">
                <a:solidFill>
                  <a:srgbClr val="087E83"/>
                </a:solidFill>
                <a:latin typeface="DejaVu Sans"/>
                <a:ea typeface="DejaVu Sans"/>
                <a:cs typeface="DejaVu Sans"/>
              </a:defRPr>
            </a:pPr>
            <a:r>
              <a:rPr sz="2025" b="1" lang="fa-IR">
                <a:solidFill>
                  <a:srgbClr val="087E83"/>
                </a:solidFill>
                <a:latin typeface="DejaVu Sans"/>
                <a:ea typeface="DejaVu Sans"/>
                <a:cs typeface="DejaVu Sans"/>
              </a:rPr>
              <a:t>انتخاب مدل متنی</a:t>
            </a:r>
          </a:p>
        </p:txBody>
      </p:sp>
      <p:sp>
        <p:nvSpPr>
          <p:cNvPr id="5" name="rtl_text_4">
            <a:extLst xmlns:a="http://schemas.openxmlformats.org/drawingml/2006/main">
              <a:ext uri="{FF2B5EF4-FFF2-40B4-BE49-F238E27FC236}">
                <a16:creationId xmlns:a16="http://schemas.microsoft.com/office/drawing/2014/main" id="{9B23461C-E834-4958-810B-75A83B59E55F}"/>
              </a:ext>
            </a:extLst>
          </p:cNvPr>
          <p:cNvSpPr>
            <a:spLocks xmlns:a="http://schemas.openxmlformats.org/drawingml/2006/main" noGrp="1"/>
          </p:cNvSpPr>
          <p:nvPr/>
        </p:nvSpPr>
        <p:spPr>
          <a:xfrm xmlns:a="http://schemas.openxmlformats.org/drawingml/2006/main">
            <a:off x="609600" y="367665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75" b="0">
                <a:solidFill>
                  <a:srgbClr val="546973"/>
                </a:solidFill>
                <a:latin typeface="DejaVu Sans"/>
                <a:ea typeface="DejaVu Sans"/>
                <a:cs typeface="DejaVu Sans"/>
              </a:defRPr>
            </a:defPPr>
          </a:lstStyle>
          <a:p xmlns:a="http://schemas.openxmlformats.org/drawingml/2006/main">
            <a:pPr algn="r" rtl="1">
              <a:defRPr sz="1875" b="0">
                <a:solidFill>
                  <a:srgbClr val="546973"/>
                </a:solidFill>
                <a:latin typeface="DejaVu Sans"/>
                <a:ea typeface="DejaVu Sans"/>
                <a:cs typeface="DejaVu Sans"/>
              </a:defRPr>
            </a:pPr>
            <a:r>
              <a:rPr sz="1875" b="0" lang="fa-IR">
                <a:solidFill>
                  <a:srgbClr val="546973"/>
                </a:solidFill>
                <a:latin typeface="DejaVu Sans"/>
                <a:ea typeface="DejaVu Sans"/>
                <a:cs typeface="DejaVu Sans"/>
              </a:rPr>
              <a:t>مقایسه مدل‌ها بر پایه Word2Vec و معیارهای کلاس هدف</a:t>
            </a:r>
          </a:p>
        </p:txBody>
      </p:sp>
      <p:sp>
        <p:nvSpPr>
          <p:cNvPr id="6" name="rtl_text_5">
            <a:extLst xmlns:a="http://schemas.openxmlformats.org/drawingml/2006/main">
              <a:ext uri="{FF2B5EF4-FFF2-40B4-BE49-F238E27FC236}">
                <a16:creationId xmlns:a16="http://schemas.microsoft.com/office/drawing/2014/main" id="{539D09E0-9D9F-4ED3-98AC-F2120668B351}"/>
              </a:ext>
            </a:extLst>
          </p:cNvPr>
          <p:cNvSpPr>
            <a:spLocks xmlns:a="http://schemas.openxmlformats.org/drawingml/2006/main" noGrp="1"/>
          </p:cNvSpPr>
          <p:nvPr/>
        </p:nvSpPr>
        <p:spPr>
          <a:xfrm xmlns:a="http://schemas.openxmlformats.org/drawingml/2006/main">
            <a:off x="609600" y="416242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025" b="1">
                <a:solidFill>
                  <a:srgbClr val="087E83"/>
                </a:solidFill>
                <a:latin typeface="DejaVu Sans"/>
                <a:ea typeface="DejaVu Sans"/>
                <a:cs typeface="DejaVu Sans"/>
              </a:defRPr>
            </a:defPPr>
          </a:lstStyle>
          <a:p xmlns:a="http://schemas.openxmlformats.org/drawingml/2006/main">
            <a:pPr algn="r" rtl="1">
              <a:defRPr sz="2025" b="1">
                <a:solidFill>
                  <a:srgbClr val="087E83"/>
                </a:solidFill>
                <a:latin typeface="DejaVu Sans"/>
                <a:ea typeface="DejaVu Sans"/>
                <a:cs typeface="DejaVu Sans"/>
              </a:defRPr>
            </a:pPr>
            <a:r>
              <a:rPr sz="2025" b="1" lang="fa-IR">
                <a:solidFill>
                  <a:srgbClr val="087E83"/>
                </a:solidFill>
                <a:latin typeface="DejaVu Sans"/>
                <a:ea typeface="DejaVu Sans"/>
                <a:cs typeface="DejaVu Sans"/>
              </a:rPr>
              <a:t>پروتکل SBHE-Benaloh</a:t>
            </a:r>
          </a:p>
        </p:txBody>
      </p:sp>
      <p:sp>
        <p:nvSpPr>
          <p:cNvPr id="7" name="rtl_text_6">
            <a:extLst xmlns:a="http://schemas.openxmlformats.org/drawingml/2006/main">
              <a:ext uri="{FF2B5EF4-FFF2-40B4-BE49-F238E27FC236}">
                <a16:creationId xmlns:a16="http://schemas.microsoft.com/office/drawing/2014/main" id="{00993910-3B80-485B-B89E-B9EC0674F848}"/>
              </a:ext>
            </a:extLst>
          </p:cNvPr>
          <p:cNvSpPr>
            <a:spLocks xmlns:a="http://schemas.openxmlformats.org/drawingml/2006/main" noGrp="1"/>
          </p:cNvSpPr>
          <p:nvPr/>
        </p:nvSpPr>
        <p:spPr>
          <a:xfrm xmlns:a="http://schemas.openxmlformats.org/drawingml/2006/main">
            <a:off x="609600" y="460057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75" b="0">
                <a:solidFill>
                  <a:srgbClr val="546973"/>
                </a:solidFill>
                <a:latin typeface="DejaVu Sans"/>
                <a:ea typeface="DejaVu Sans"/>
                <a:cs typeface="DejaVu Sans"/>
              </a:defRPr>
            </a:defPPr>
          </a:lstStyle>
          <a:p xmlns:a="http://schemas.openxmlformats.org/drawingml/2006/main">
            <a:pPr algn="r" rtl="1">
              <a:defRPr sz="1875" b="0">
                <a:solidFill>
                  <a:srgbClr val="546973"/>
                </a:solidFill>
                <a:latin typeface="DejaVu Sans"/>
                <a:ea typeface="DejaVu Sans"/>
                <a:cs typeface="DejaVu Sans"/>
              </a:defRPr>
            </a:pPr>
            <a:r>
              <a:rPr sz="1875" b="0" lang="fa-IR">
                <a:solidFill>
                  <a:srgbClr val="546973"/>
                </a:solidFill>
                <a:latin typeface="DejaVu Sans"/>
                <a:ea typeface="DejaVu Sans"/>
                <a:cs typeface="DejaVu Sans"/>
              </a:rPr>
              <a:t>احراز بسته پیش از تجمیع و حفظ هم‌ریختی جمعی</a:t>
            </a:r>
          </a:p>
        </p:txBody>
      </p:sp>
      <p:sp>
        <p:nvSpPr>
          <p:cNvPr id="8" name="rtl_text_7">
            <a:extLst xmlns:a="http://schemas.openxmlformats.org/drawingml/2006/main">
              <a:ext uri="{FF2B5EF4-FFF2-40B4-BE49-F238E27FC236}">
                <a16:creationId xmlns:a16="http://schemas.microsoft.com/office/drawing/2014/main" id="{A10EAFD9-989C-4E01-AF6F-4F0E344498D2}"/>
              </a:ext>
            </a:extLst>
          </p:cNvPr>
          <p:cNvSpPr>
            <a:spLocks xmlns:a="http://schemas.openxmlformats.org/drawingml/2006/main" noGrp="1"/>
          </p:cNvSpPr>
          <p:nvPr/>
        </p:nvSpPr>
        <p:spPr>
          <a:xfrm xmlns:a="http://schemas.openxmlformats.org/drawingml/2006/main">
            <a:off x="609600" y="508635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025" b="1">
                <a:solidFill>
                  <a:srgbClr val="087E83"/>
                </a:solidFill>
                <a:latin typeface="DejaVu Sans"/>
                <a:ea typeface="DejaVu Sans"/>
                <a:cs typeface="DejaVu Sans"/>
              </a:defRPr>
            </a:defPPr>
          </a:lstStyle>
          <a:p xmlns:a="http://schemas.openxmlformats.org/drawingml/2006/main">
            <a:pPr algn="r" rtl="1">
              <a:defRPr sz="2025" b="1">
                <a:solidFill>
                  <a:srgbClr val="087E83"/>
                </a:solidFill>
                <a:latin typeface="DejaVu Sans"/>
                <a:ea typeface="DejaVu Sans"/>
                <a:cs typeface="DejaVu Sans"/>
              </a:defRPr>
            </a:pPr>
            <a:r>
              <a:rPr sz="2025" b="1" lang="fa-IR">
                <a:solidFill>
                  <a:srgbClr val="087E83"/>
                </a:solidFill>
                <a:latin typeface="DejaVu Sans"/>
                <a:ea typeface="DejaVu Sans"/>
                <a:cs typeface="DejaVu Sans"/>
              </a:rPr>
              <a:t>ارزیابی تجربی</a:t>
            </a:r>
          </a:p>
        </p:txBody>
      </p:sp>
      <p:sp>
        <p:nvSpPr>
          <p:cNvPr id="9" name="rtl_text_8">
            <a:extLst xmlns:a="http://schemas.openxmlformats.org/drawingml/2006/main">
              <a:ext uri="{FF2B5EF4-FFF2-40B4-BE49-F238E27FC236}">
                <a16:creationId xmlns:a16="http://schemas.microsoft.com/office/drawing/2014/main" id="{F086B546-F632-4F11-BCAE-196F1AE27BDF}"/>
              </a:ext>
            </a:extLst>
          </p:cNvPr>
          <p:cNvSpPr>
            <a:spLocks xmlns:a="http://schemas.openxmlformats.org/drawingml/2006/main" noGrp="1"/>
          </p:cNvSpPr>
          <p:nvPr/>
        </p:nvSpPr>
        <p:spPr>
          <a:xfrm xmlns:a="http://schemas.openxmlformats.org/drawingml/2006/main">
            <a:off x="609600" y="55245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75" b="0">
                <a:solidFill>
                  <a:srgbClr val="546973"/>
                </a:solidFill>
                <a:latin typeface="DejaVu Sans"/>
                <a:ea typeface="DejaVu Sans"/>
                <a:cs typeface="DejaVu Sans"/>
              </a:defRPr>
            </a:defPPr>
          </a:lstStyle>
          <a:p xmlns:a="http://schemas.openxmlformats.org/drawingml/2006/main">
            <a:pPr algn="r" rtl="1">
              <a:defRPr sz="1875" b="0">
                <a:solidFill>
                  <a:srgbClr val="546973"/>
                </a:solidFill>
                <a:latin typeface="DejaVu Sans"/>
                <a:ea typeface="DejaVu Sans"/>
                <a:cs typeface="DejaVu Sans"/>
              </a:defRPr>
            </a:pPr>
            <a:r>
              <a:rPr sz="1875" b="0" lang="fa-IR">
                <a:solidFill>
                  <a:srgbClr val="546973"/>
                </a:solidFill>
                <a:latin typeface="DejaVu Sans"/>
                <a:ea typeface="DejaVu Sans"/>
                <a:cs typeface="DejaVu Sans"/>
              </a:rPr>
              <a:t>بررسی کارایی با ۱۰۰، ۲۰۰ و ۳۰۰ کلاینت</a:t>
            </a:r>
          </a:p>
        </p:txBody>
      </p:sp>
    </p:spTree>
    <p:extLst>
      <p:ext uri="{BB962C8B-B14F-4D97-AF65-F5344CB8AC3E}">
        <p14:creationId xmlns:p14="http://schemas.microsoft.com/office/powerpoint/2010/main" val="1938603171"/>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7" name="rtl_headline">
            <a:extLst xmlns:a="http://schemas.openxmlformats.org/drawingml/2006/main">
              <a:ext uri="{FF2B5EF4-FFF2-40B4-BE49-F238E27FC236}">
                <a16:creationId xmlns:a16="http://schemas.microsoft.com/office/drawing/2014/main" id="{38E73085-637E-4C30-9791-36E74662DAE0}"/>
              </a:ext>
            </a:extLst>
          </p:cNvPr>
          <p:cNvSpPr>
            <a:spLocks xmlns:a="http://schemas.openxmlformats.org/drawingml/2006/main" noGrp="1"/>
          </p:cNvSpPr>
          <p:nvPr/>
        </p:nvSpPr>
        <p:spPr>
          <a:xfrm xmlns:a="http://schemas.openxmlformats.org/drawingml/2006/main">
            <a:off x="609600" y="4191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300" b="1">
                <a:solidFill>
                  <a:srgbClr val="172F3A"/>
                </a:solidFill>
                <a:latin typeface="DejaVu Sans"/>
                <a:ea typeface="DejaVu Sans"/>
                <a:cs typeface="DejaVu Sans"/>
              </a:defRPr>
            </a:defPPr>
          </a:lstStyle>
          <a:p xmlns:a="http://schemas.openxmlformats.org/drawingml/2006/main">
            <a:pPr algn="r" rtl="1">
              <a:defRPr sz="3300" b="1">
                <a:solidFill>
                  <a:srgbClr val="172F3A"/>
                </a:solidFill>
                <a:latin typeface="DejaVu Sans"/>
                <a:ea typeface="DejaVu Sans"/>
                <a:cs typeface="DejaVu Sans"/>
              </a:defRPr>
            </a:pPr>
            <a:r>
              <a:rPr sz="3300" b="1" lang="fa-IR">
                <a:solidFill>
                  <a:srgbClr val="172F3A"/>
                </a:solidFill>
                <a:latin typeface="DejaVu Sans"/>
                <a:ea typeface="DejaVu Sans"/>
                <a:cs typeface="DejaVu Sans"/>
              </a:rPr>
              <a:t>معماری مشارکتی سامانه</a:t>
            </a:r>
          </a:p>
        </p:txBody>
      </p:sp>
      <p:sp>
        <p:nvSpPr>
          <p:cNvPr id="2" name="ltr_page">
            <a:extLst xmlns:a="http://schemas.openxmlformats.org/drawingml/2006/main">
              <a:ext uri="{FF2B5EF4-FFF2-40B4-BE49-F238E27FC236}">
                <a16:creationId xmlns:a16="http://schemas.microsoft.com/office/drawing/2014/main" id="{D461018B-E550-40A3-B617-72E5001E7BA5}"/>
              </a:ext>
            </a:extLst>
          </p:cNvPr>
          <p:cNvSpPr>
            <a:spLocks xmlns:a="http://schemas.openxmlformats.org/drawingml/2006/main" noGrp="1"/>
          </p:cNvSpPr>
          <p:nvPr/>
        </p:nvSpPr>
        <p:spPr>
          <a:xfrm xmlns:a="http://schemas.openxmlformats.org/drawingml/2006/main">
            <a:off x="609600" y="63436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46973"/>
                </a:solidFill>
                <a:latin typeface="DejaVu Sans"/>
                <a:ea typeface="DejaVu Sans"/>
                <a:cs typeface="DejaVu Sans"/>
              </a:defRPr>
            </a:defPPr>
          </a:lstStyle>
          <a:p xmlns:a="http://schemas.openxmlformats.org/drawingml/2006/main">
            <a:pPr algn="l" rtl="0">
              <a:defRPr sz="1350" b="0">
                <a:solidFill>
                  <a:srgbClr val="546973"/>
                </a:solidFill>
                <a:latin typeface="DejaVu Sans"/>
                <a:ea typeface="DejaVu Sans"/>
                <a:cs typeface="DejaVu Sans"/>
              </a:defRPr>
            </a:pPr>
            <a:r>
              <a:rPr sz="1350" b="0" lang="en-US">
                <a:solidFill>
                  <a:srgbClr val="546973"/>
                </a:solidFill>
                <a:latin typeface="DejaVu Sans"/>
                <a:ea typeface="DejaVu Sans"/>
                <a:cs typeface="DejaVu Sans"/>
              </a:rPr>
              <a:t>04</a:t>
            </a:r>
          </a:p>
        </p:txBody>
      </p:sp>
      <p:pic>
        <p:nvPicPr>
          <p:cNvPr id="3" name="">
            <a:extLst xmlns:a="http://schemas.openxmlformats.org/drawingml/2006/main">
              <a:ext uri="{FF2B5EF4-FFF2-40B4-BE49-F238E27FC236}">
                <a16:creationId xmlns:a16="http://schemas.microsoft.com/office/drawing/2014/main" id="{4AB888C0-2E58-4474-8F92-5CDB680C01E8}"/>
              </a:ext>
            </a:extLst>
          </p:cNvPr>
          <p:cNvPicPr>
            <a:picLocks xmlns:a="http://schemas.openxmlformats.org/drawingml/2006/main" noChangeAspect="1"/>
          </p:cNvPicPr>
          <p:nvPr/>
        </p:nvPicPr>
        <p:blipFill>
          <a:blip xmlns:r="http://schemas.openxmlformats.org/officeDocument/2006/relationships" xmlns:a="http://schemas.openxmlformats.org/drawingml/2006/main" r:embed="Rf8327c93a1af4d93"/>
          <a:stretch xmlns:a="http://schemas.openxmlformats.org/drawingml/2006/main"/>
        </p:blipFill>
        <p:spPr>
          <a:xfrm xmlns:a="http://schemas.openxmlformats.org/drawingml/2006/main">
            <a:off x="609600" y="1782366"/>
            <a:ext cx="7734300" cy="4350544"/>
          </a:xfrm>
          <a:prstGeom xmlns:a="http://schemas.openxmlformats.org/drawingml/2006/main" prst="rect">
            <a:avLst/>
          </a:prstGeom>
        </p:spPr>
      </p:pic>
      <p:sp>
        <p:nvSpPr>
          <p:cNvPr id="4" name="rtl_text_2">
            <a:extLst xmlns:a="http://schemas.openxmlformats.org/drawingml/2006/main">
              <a:ext uri="{FF2B5EF4-FFF2-40B4-BE49-F238E27FC236}">
                <a16:creationId xmlns:a16="http://schemas.microsoft.com/office/drawing/2014/main" id="{28AADC72-01CE-4B72-9319-8094170B6CC9}"/>
              </a:ext>
            </a:extLst>
          </p:cNvPr>
          <p:cNvSpPr>
            <a:spLocks xmlns:a="http://schemas.openxmlformats.org/drawingml/2006/main" noGrp="1"/>
          </p:cNvSpPr>
          <p:nvPr/>
        </p:nvSpPr>
        <p:spPr>
          <a:xfrm xmlns:a="http://schemas.openxmlformats.org/drawingml/2006/main">
            <a:off x="8667750" y="1905000"/>
            <a:ext cx="29146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175" b="1">
                <a:solidFill>
                  <a:srgbClr val="087E83"/>
                </a:solidFill>
                <a:latin typeface="DejaVu Sans"/>
                <a:ea typeface="DejaVu Sans"/>
                <a:cs typeface="DejaVu Sans"/>
              </a:defRPr>
            </a:defPPr>
          </a:lstStyle>
          <a:p xmlns:a="http://schemas.openxmlformats.org/drawingml/2006/main">
            <a:pPr algn="r" rtl="1">
              <a:defRPr sz="2175" b="1">
                <a:solidFill>
                  <a:srgbClr val="087E83"/>
                </a:solidFill>
                <a:latin typeface="DejaVu Sans"/>
                <a:ea typeface="DejaVu Sans"/>
                <a:cs typeface="DejaVu Sans"/>
              </a:defRPr>
            </a:pPr>
            <a:r>
              <a:rPr sz="2175" b="1" lang="fa-IR">
                <a:solidFill>
                  <a:srgbClr val="087E83"/>
                </a:solidFill>
                <a:latin typeface="DejaVu Sans"/>
                <a:ea typeface="DejaVu Sans"/>
                <a:cs typeface="DejaVu Sans"/>
              </a:rPr>
              <a:t>داده‌های آموزشی</a:t>
            </a:r>
          </a:p>
          <a:p xmlns:a="http://schemas.openxmlformats.org/drawingml/2006/main">
            <a:pPr algn="r" rtl="1">
              <a:defRPr sz="2175" b="1">
                <a:solidFill>
                  <a:srgbClr val="087E83"/>
                </a:solidFill>
                <a:latin typeface="DejaVu Sans"/>
                <a:ea typeface="DejaVu Sans"/>
                <a:cs typeface="DejaVu Sans"/>
              </a:defRPr>
            </a:pPr>
            <a:r>
              <a:rPr sz="2175" b="1" lang="fa-IR">
                <a:solidFill>
                  <a:srgbClr val="087E83"/>
                </a:solidFill>
                <a:latin typeface="DejaVu Sans"/>
                <a:ea typeface="DejaVu Sans"/>
                <a:cs typeface="DejaVu Sans"/>
              </a:rPr>
              <a:t>در منابع محلی</a:t>
            </a:r>
          </a:p>
        </p:txBody>
      </p:sp>
      <p:sp>
        <p:nvSpPr>
          <p:cNvPr id="5" name="rtl_text_3">
            <a:extLst xmlns:a="http://schemas.openxmlformats.org/drawingml/2006/main">
              <a:ext uri="{FF2B5EF4-FFF2-40B4-BE49-F238E27FC236}">
                <a16:creationId xmlns:a16="http://schemas.microsoft.com/office/drawing/2014/main" id="{DFBB91F4-B7EF-4FAD-AD87-B95D4DC47E24}"/>
              </a:ext>
            </a:extLst>
          </p:cNvPr>
          <p:cNvSpPr>
            <a:spLocks xmlns:a="http://schemas.openxmlformats.org/drawingml/2006/main" noGrp="1"/>
          </p:cNvSpPr>
          <p:nvPr/>
        </p:nvSpPr>
        <p:spPr>
          <a:xfrm xmlns:a="http://schemas.openxmlformats.org/drawingml/2006/main">
            <a:off x="8667750" y="3286125"/>
            <a:ext cx="29146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175" b="1">
                <a:solidFill>
                  <a:srgbClr val="172F3A"/>
                </a:solidFill>
                <a:latin typeface="DejaVu Sans"/>
                <a:ea typeface="DejaVu Sans"/>
                <a:cs typeface="DejaVu Sans"/>
              </a:defRPr>
            </a:defPPr>
          </a:lstStyle>
          <a:p xmlns:a="http://schemas.openxmlformats.org/drawingml/2006/main">
            <a:pPr algn="r" rtl="1">
              <a:defRPr sz="2175" b="1">
                <a:solidFill>
                  <a:srgbClr val="172F3A"/>
                </a:solidFill>
                <a:latin typeface="DejaVu Sans"/>
                <a:ea typeface="DejaVu Sans"/>
                <a:cs typeface="DejaVu Sans"/>
              </a:defRPr>
            </a:pPr>
            <a:r>
              <a:rPr sz="2175" b="1" lang="fa-IR">
                <a:solidFill>
                  <a:srgbClr val="172F3A"/>
                </a:solidFill>
                <a:latin typeface="DejaVu Sans"/>
                <a:ea typeface="DejaVu Sans"/>
                <a:cs typeface="DejaVu Sans"/>
              </a:rPr>
              <a:t>مدل محلی</a:t>
            </a:r>
          </a:p>
          <a:p xmlns:a="http://schemas.openxmlformats.org/drawingml/2006/main">
            <a:pPr algn="r" rtl="1">
              <a:defRPr sz="2175" b="1">
                <a:solidFill>
                  <a:srgbClr val="172F3A"/>
                </a:solidFill>
                <a:latin typeface="DejaVu Sans"/>
                <a:ea typeface="DejaVu Sans"/>
                <a:cs typeface="DejaVu Sans"/>
              </a:defRPr>
            </a:pPr>
            <a:r>
              <a:rPr sz="2175" b="1" lang="fa-IR">
                <a:solidFill>
                  <a:srgbClr val="172F3A"/>
                </a:solidFill>
                <a:latin typeface="DejaVu Sans"/>
                <a:ea typeface="DejaVu Sans"/>
                <a:cs typeface="DejaVu Sans"/>
              </a:rPr>
              <a:t>برای هر کلاینت</a:t>
            </a:r>
          </a:p>
        </p:txBody>
      </p:sp>
      <p:sp>
        <p:nvSpPr>
          <p:cNvPr id="6" name="rtl_text_4">
            <a:extLst xmlns:a="http://schemas.openxmlformats.org/drawingml/2006/main">
              <a:ext uri="{FF2B5EF4-FFF2-40B4-BE49-F238E27FC236}">
                <a16:creationId xmlns:a16="http://schemas.microsoft.com/office/drawing/2014/main" id="{A4807F17-34B9-45F3-9FB2-1406B50F1B99}"/>
              </a:ext>
            </a:extLst>
          </p:cNvPr>
          <p:cNvSpPr>
            <a:spLocks xmlns:a="http://schemas.openxmlformats.org/drawingml/2006/main" noGrp="1"/>
          </p:cNvSpPr>
          <p:nvPr/>
        </p:nvSpPr>
        <p:spPr>
          <a:xfrm xmlns:a="http://schemas.openxmlformats.org/drawingml/2006/main">
            <a:off x="8667750" y="4667250"/>
            <a:ext cx="29146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175" b="1">
                <a:solidFill>
                  <a:srgbClr val="172F3A"/>
                </a:solidFill>
                <a:latin typeface="DejaVu Sans"/>
                <a:ea typeface="DejaVu Sans"/>
                <a:cs typeface="DejaVu Sans"/>
              </a:defRPr>
            </a:defPPr>
          </a:lstStyle>
          <a:p xmlns:a="http://schemas.openxmlformats.org/drawingml/2006/main">
            <a:pPr algn="r" rtl="1">
              <a:defRPr sz="2175" b="1">
                <a:solidFill>
                  <a:srgbClr val="172F3A"/>
                </a:solidFill>
                <a:latin typeface="DejaVu Sans"/>
                <a:ea typeface="DejaVu Sans"/>
                <a:cs typeface="DejaVu Sans"/>
              </a:defRPr>
            </a:pPr>
            <a:r>
              <a:rPr sz="2175" b="1" lang="fa-IR">
                <a:solidFill>
                  <a:srgbClr val="172F3A"/>
                </a:solidFill>
                <a:latin typeface="DejaVu Sans"/>
                <a:ea typeface="DejaVu Sans"/>
                <a:cs typeface="DejaVu Sans"/>
              </a:rPr>
              <a:t>میانگین وزنی</a:t>
            </a:r>
          </a:p>
          <a:p xmlns:a="http://schemas.openxmlformats.org/drawingml/2006/main">
            <a:pPr algn="r" rtl="1">
              <a:defRPr sz="2175" b="1">
                <a:solidFill>
                  <a:srgbClr val="172F3A"/>
                </a:solidFill>
                <a:latin typeface="DejaVu Sans"/>
                <a:ea typeface="DejaVu Sans"/>
                <a:cs typeface="DejaVu Sans"/>
              </a:defRPr>
            </a:pPr>
            <a:r>
              <a:rPr sz="2175" b="1" lang="fa-IR">
                <a:solidFill>
                  <a:srgbClr val="172F3A"/>
                </a:solidFill>
                <a:latin typeface="DejaVu Sans"/>
                <a:ea typeface="DejaVu Sans"/>
                <a:cs typeface="DejaVu Sans"/>
              </a:rPr>
              <a:t>خروجی احتمال</a:t>
            </a:r>
          </a:p>
        </p:txBody>
      </p:sp>
    </p:spTree>
    <p:extLst>
      <p:ext uri="{BB962C8B-B14F-4D97-AF65-F5344CB8AC3E}">
        <p14:creationId xmlns:p14="http://schemas.microsoft.com/office/powerpoint/2010/main" val="938303463"/>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3" name="rtl_headline">
            <a:extLst xmlns:a="http://schemas.openxmlformats.org/drawingml/2006/main">
              <a:ext uri="{FF2B5EF4-FFF2-40B4-BE49-F238E27FC236}">
                <a16:creationId xmlns:a16="http://schemas.microsoft.com/office/drawing/2014/main" id="{EA5DA33D-B839-4B4B-9F84-A442C8C258A1}"/>
              </a:ext>
            </a:extLst>
          </p:cNvPr>
          <p:cNvSpPr>
            <a:spLocks xmlns:a="http://schemas.openxmlformats.org/drawingml/2006/main" noGrp="1"/>
          </p:cNvSpPr>
          <p:nvPr/>
        </p:nvSpPr>
        <p:spPr>
          <a:xfrm xmlns:a="http://schemas.openxmlformats.org/drawingml/2006/main">
            <a:off x="609600" y="4191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300" b="1">
                <a:solidFill>
                  <a:srgbClr val="172F3A"/>
                </a:solidFill>
                <a:latin typeface="DejaVu Sans"/>
                <a:ea typeface="DejaVu Sans"/>
                <a:cs typeface="DejaVu Sans"/>
              </a:defRPr>
            </a:defPPr>
          </a:lstStyle>
          <a:p xmlns:a="http://schemas.openxmlformats.org/drawingml/2006/main">
            <a:pPr algn="r" rtl="1">
              <a:defRPr sz="3300" b="1">
                <a:solidFill>
                  <a:srgbClr val="172F3A"/>
                </a:solidFill>
                <a:latin typeface="DejaVu Sans"/>
                <a:ea typeface="DejaVu Sans"/>
                <a:cs typeface="DejaVu Sans"/>
              </a:defRPr>
            </a:pPr>
            <a:r>
              <a:rPr sz="3300" b="1" lang="fa-IR">
                <a:solidFill>
                  <a:srgbClr val="172F3A"/>
                </a:solidFill>
                <a:latin typeface="DejaVu Sans"/>
                <a:ea typeface="DejaVu Sans"/>
                <a:cs typeface="DejaVu Sans"/>
              </a:rPr>
              <a:t>داده و پیش‌پردازش</a:t>
            </a:r>
          </a:p>
        </p:txBody>
      </p:sp>
      <p:sp>
        <p:nvSpPr>
          <p:cNvPr id="2" name="ltr_page">
            <a:extLst xmlns:a="http://schemas.openxmlformats.org/drawingml/2006/main">
              <a:ext uri="{FF2B5EF4-FFF2-40B4-BE49-F238E27FC236}">
                <a16:creationId xmlns:a16="http://schemas.microsoft.com/office/drawing/2014/main" id="{975AA4BB-FDCE-43B7-9239-9C43CAEE6B5F}"/>
              </a:ext>
            </a:extLst>
          </p:cNvPr>
          <p:cNvSpPr>
            <a:spLocks xmlns:a="http://schemas.openxmlformats.org/drawingml/2006/main" noGrp="1"/>
          </p:cNvSpPr>
          <p:nvPr/>
        </p:nvSpPr>
        <p:spPr>
          <a:xfrm xmlns:a="http://schemas.openxmlformats.org/drawingml/2006/main">
            <a:off x="609600" y="63436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46973"/>
                </a:solidFill>
                <a:latin typeface="DejaVu Sans"/>
                <a:ea typeface="DejaVu Sans"/>
                <a:cs typeface="DejaVu Sans"/>
              </a:defRPr>
            </a:defPPr>
          </a:lstStyle>
          <a:p xmlns:a="http://schemas.openxmlformats.org/drawingml/2006/main">
            <a:pPr algn="l" rtl="0">
              <a:defRPr sz="1350" b="0">
                <a:solidFill>
                  <a:srgbClr val="546973"/>
                </a:solidFill>
                <a:latin typeface="DejaVu Sans"/>
                <a:ea typeface="DejaVu Sans"/>
                <a:cs typeface="DejaVu Sans"/>
              </a:defRPr>
            </a:pPr>
            <a:r>
              <a:rPr sz="1350" b="0" lang="en-US">
                <a:solidFill>
                  <a:srgbClr val="546973"/>
                </a:solidFill>
                <a:latin typeface="DejaVu Sans"/>
                <a:ea typeface="DejaVu Sans"/>
                <a:cs typeface="DejaVu Sans"/>
              </a:rPr>
              <a:t>05</a:t>
            </a:r>
          </a:p>
        </p:txBody>
      </p:sp>
      <p:sp>
        <p:nvSpPr>
          <p:cNvPr id="3" name="rtl_text_2">
            <a:extLst xmlns:a="http://schemas.openxmlformats.org/drawingml/2006/main">
              <a:ext uri="{FF2B5EF4-FFF2-40B4-BE49-F238E27FC236}">
                <a16:creationId xmlns:a16="http://schemas.microsoft.com/office/drawing/2014/main" id="{14D66D5B-CE63-4C40-BADF-3A847DF2C540}"/>
              </a:ext>
            </a:extLst>
          </p:cNvPr>
          <p:cNvSpPr>
            <a:spLocks xmlns:a="http://schemas.openxmlformats.org/drawingml/2006/main" noGrp="1"/>
          </p:cNvSpPr>
          <p:nvPr/>
        </p:nvSpPr>
        <p:spPr>
          <a:xfrm xmlns:a="http://schemas.openxmlformats.org/drawingml/2006/main">
            <a:off x="609600" y="1743075"/>
            <a:ext cx="4238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5775" b="1">
                <a:solidFill>
                  <a:srgbClr val="087E83"/>
                </a:solidFill>
                <a:latin typeface="DejaVu Sans"/>
                <a:ea typeface="DejaVu Sans"/>
                <a:cs typeface="DejaVu Sans"/>
              </a:defRPr>
            </a:defPPr>
          </a:lstStyle>
          <a:p xmlns:a="http://schemas.openxmlformats.org/drawingml/2006/main">
            <a:pPr algn="ctr" rtl="1">
              <a:defRPr sz="5775" b="1">
                <a:solidFill>
                  <a:srgbClr val="087E83"/>
                </a:solidFill>
                <a:latin typeface="DejaVu Sans"/>
                <a:ea typeface="DejaVu Sans"/>
                <a:cs typeface="DejaVu Sans"/>
              </a:defRPr>
            </a:pPr>
            <a:r>
              <a:rPr sz="5775" b="1" lang="fa-IR">
                <a:solidFill>
                  <a:srgbClr val="087E83"/>
                </a:solidFill>
                <a:latin typeface="DejaVu Sans"/>
                <a:ea typeface="DejaVu Sans"/>
                <a:cs typeface="DejaVu Sans"/>
              </a:rPr>
              <a:t>۴۶۴٬۱۴۸</a:t>
            </a:r>
          </a:p>
        </p:txBody>
      </p:sp>
      <p:sp>
        <p:nvSpPr>
          <p:cNvPr id="4" name="rtl_text_3">
            <a:extLst xmlns:a="http://schemas.openxmlformats.org/drawingml/2006/main">
              <a:ext uri="{FF2B5EF4-FFF2-40B4-BE49-F238E27FC236}">
                <a16:creationId xmlns:a16="http://schemas.microsoft.com/office/drawing/2014/main" id="{25ADB539-8976-49B3-BC98-F997FF3395D8}"/>
              </a:ext>
            </a:extLst>
          </p:cNvPr>
          <p:cNvSpPr>
            <a:spLocks xmlns:a="http://schemas.openxmlformats.org/drawingml/2006/main" noGrp="1"/>
          </p:cNvSpPr>
          <p:nvPr/>
        </p:nvSpPr>
        <p:spPr>
          <a:xfrm xmlns:a="http://schemas.openxmlformats.org/drawingml/2006/main">
            <a:off x="609600" y="2933700"/>
            <a:ext cx="42386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0">
                <a:solidFill>
                  <a:srgbClr val="172F3A"/>
                </a:solidFill>
                <a:latin typeface="DejaVu Sans"/>
                <a:ea typeface="DejaVu Sans"/>
                <a:cs typeface="DejaVu Sans"/>
              </a:defRPr>
            </a:defPPr>
          </a:lstStyle>
          <a:p xmlns:a="http://schemas.openxmlformats.org/drawingml/2006/main">
            <a:pPr algn="ctr" rtl="1">
              <a:defRPr sz="2100" b="0">
                <a:solidFill>
                  <a:srgbClr val="172F3A"/>
                </a:solidFill>
                <a:latin typeface="DejaVu Sans"/>
                <a:ea typeface="DejaVu Sans"/>
                <a:cs typeface="DejaVu Sans"/>
              </a:defRPr>
            </a:pPr>
            <a:r>
              <a:rPr sz="2100" b="0" lang="fa-IR">
                <a:solidFill>
                  <a:srgbClr val="172F3A"/>
                </a:solidFill>
                <a:latin typeface="DejaVu Sans"/>
                <a:ea typeface="DejaVu Sans"/>
                <a:cs typeface="DejaVu Sans"/>
              </a:rPr>
              <a:t>ردیف متنی گزارش‌شده</a:t>
            </a:r>
          </a:p>
        </p:txBody>
      </p:sp>
      <p:sp>
        <p:nvSpPr>
          <p:cNvPr id="5" name="rtl_text_4">
            <a:extLst xmlns:a="http://schemas.openxmlformats.org/drawingml/2006/main">
              <a:ext uri="{FF2B5EF4-FFF2-40B4-BE49-F238E27FC236}">
                <a16:creationId xmlns:a16="http://schemas.microsoft.com/office/drawing/2014/main" id="{B945B085-440E-4BC0-BE3A-36A7389A32B6}"/>
              </a:ext>
            </a:extLst>
          </p:cNvPr>
          <p:cNvSpPr>
            <a:spLocks xmlns:a="http://schemas.openxmlformats.org/drawingml/2006/main" noGrp="1"/>
          </p:cNvSpPr>
          <p:nvPr/>
        </p:nvSpPr>
        <p:spPr>
          <a:xfrm xmlns:a="http://schemas.openxmlformats.org/drawingml/2006/main">
            <a:off x="609600" y="3819525"/>
            <a:ext cx="4238625"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00" b="1">
                <a:solidFill>
                  <a:srgbClr val="172F3A"/>
                </a:solidFill>
                <a:latin typeface="DejaVu Sans"/>
                <a:ea typeface="DejaVu Sans"/>
                <a:cs typeface="DejaVu Sans"/>
              </a:defRPr>
            </a:defPPr>
          </a:lstStyle>
          <a:p xmlns:a="http://schemas.openxmlformats.org/drawingml/2006/main">
            <a:pPr algn="ctr" rtl="1">
              <a:defRPr sz="2400" b="1">
                <a:solidFill>
                  <a:srgbClr val="172F3A"/>
                </a:solidFill>
                <a:latin typeface="DejaVu Sans"/>
                <a:ea typeface="DejaVu Sans"/>
                <a:cs typeface="DejaVu Sans"/>
              </a:defRPr>
            </a:pPr>
            <a:r>
              <a:rPr sz="2400" b="1" lang="fa-IR">
                <a:solidFill>
                  <a:srgbClr val="172F3A"/>
                </a:solidFill>
                <a:latin typeface="DejaVu Sans"/>
                <a:ea typeface="DejaVu Sans"/>
                <a:cs typeface="DejaVu Sans"/>
              </a:rPr>
              <a:t>دو کلاس</a:t>
            </a:r>
          </a:p>
          <a:p xmlns:a="http://schemas.openxmlformats.org/drawingml/2006/main">
            <a:pPr algn="ctr" rtl="1">
              <a:defRPr sz="2400" b="1">
                <a:solidFill>
                  <a:srgbClr val="172F3A"/>
                </a:solidFill>
                <a:latin typeface="DejaVu Sans"/>
                <a:ea typeface="DejaVu Sans"/>
                <a:cs typeface="DejaVu Sans"/>
              </a:defRPr>
            </a:pPr>
            <a:r>
              <a:rPr sz="2400" b="1" lang="fa-IR">
                <a:solidFill>
                  <a:srgbClr val="172F3A"/>
                </a:solidFill>
                <a:latin typeface="DejaVu Sans"/>
                <a:ea typeface="DejaVu Sans"/>
                <a:cs typeface="DejaVu Sans"/>
              </a:rPr>
              <a:t>خودکشی و غیرخودکشی</a:t>
            </a:r>
          </a:p>
        </p:txBody>
      </p:sp>
      <p:sp>
        <p:nvSpPr>
          <p:cNvPr id="6" name="rtl_text_5">
            <a:extLst xmlns:a="http://schemas.openxmlformats.org/drawingml/2006/main">
              <a:ext uri="{FF2B5EF4-FFF2-40B4-BE49-F238E27FC236}">
                <a16:creationId xmlns:a16="http://schemas.microsoft.com/office/drawing/2014/main" id="{0ECC14FC-C40C-4D07-B03A-741AACD5A972}"/>
              </a:ext>
            </a:extLst>
          </p:cNvPr>
          <p:cNvSpPr>
            <a:spLocks xmlns:a="http://schemas.openxmlformats.org/drawingml/2006/main" noGrp="1"/>
          </p:cNvSpPr>
          <p:nvPr/>
        </p:nvSpPr>
        <p:spPr>
          <a:xfrm xmlns:a="http://schemas.openxmlformats.org/drawingml/2006/main">
            <a:off x="609600" y="5334000"/>
            <a:ext cx="4238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0">
                <a:solidFill>
                  <a:srgbClr val="546973"/>
                </a:solidFill>
                <a:latin typeface="DejaVu Sans"/>
                <a:ea typeface="DejaVu Sans"/>
                <a:cs typeface="DejaVu Sans"/>
              </a:defRPr>
            </a:defPPr>
          </a:lstStyle>
          <a:p xmlns:a="http://schemas.openxmlformats.org/drawingml/2006/main">
            <a:pPr algn="ctr" rtl="1">
              <a:defRPr sz="1875" b="0">
                <a:solidFill>
                  <a:srgbClr val="546973"/>
                </a:solidFill>
                <a:latin typeface="DejaVu Sans"/>
                <a:ea typeface="DejaVu Sans"/>
                <a:cs typeface="DejaVu Sans"/>
              </a:defRPr>
            </a:pPr>
            <a:r>
              <a:rPr sz="1875" b="0" lang="fa-IR">
                <a:solidFill>
                  <a:srgbClr val="546973"/>
                </a:solidFill>
                <a:latin typeface="DejaVu Sans"/>
                <a:ea typeface="DejaVu Sans"/>
                <a:cs typeface="DejaVu Sans"/>
              </a:rPr>
              <a:t>داده غیربالینی</a:t>
            </a:r>
          </a:p>
        </p:txBody>
      </p:sp>
      <p:sp>
        <p:nvSpPr>
          <p:cNvPr id="7" name="rtl_text_6">
            <a:extLst xmlns:a="http://schemas.openxmlformats.org/drawingml/2006/main">
              <a:ext uri="{FF2B5EF4-FFF2-40B4-BE49-F238E27FC236}">
                <a16:creationId xmlns:a16="http://schemas.microsoft.com/office/drawing/2014/main" id="{1BA70B45-E738-458C-B699-01044F1C0263}"/>
              </a:ext>
            </a:extLst>
          </p:cNvPr>
          <p:cNvSpPr>
            <a:spLocks xmlns:a="http://schemas.openxmlformats.org/drawingml/2006/main" noGrp="1"/>
          </p:cNvSpPr>
          <p:nvPr/>
        </p:nvSpPr>
        <p:spPr>
          <a:xfrm xmlns:a="http://schemas.openxmlformats.org/drawingml/2006/main">
            <a:off x="5381625" y="1857375"/>
            <a:ext cx="62007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175" b="1">
                <a:solidFill>
                  <a:srgbClr val="087E83"/>
                </a:solidFill>
                <a:latin typeface="DejaVu Sans"/>
                <a:ea typeface="DejaVu Sans"/>
                <a:cs typeface="DejaVu Sans"/>
              </a:defRPr>
            </a:defPPr>
          </a:lstStyle>
          <a:p xmlns:a="http://schemas.openxmlformats.org/drawingml/2006/main">
            <a:pPr algn="r" rtl="1">
              <a:defRPr sz="2175" b="1">
                <a:solidFill>
                  <a:srgbClr val="087E83"/>
                </a:solidFill>
                <a:latin typeface="DejaVu Sans"/>
                <a:ea typeface="DejaVu Sans"/>
                <a:cs typeface="DejaVu Sans"/>
              </a:defRPr>
            </a:pPr>
            <a:r>
              <a:rPr sz="2175" b="1" lang="fa-IR">
                <a:solidFill>
                  <a:srgbClr val="087E83"/>
                </a:solidFill>
                <a:latin typeface="DejaVu Sans"/>
                <a:ea typeface="DejaVu Sans"/>
                <a:cs typeface="DejaVu Sans"/>
              </a:rPr>
              <a:t>پاک‌سازی پیکربندی‌پذیر</a:t>
            </a:r>
          </a:p>
        </p:txBody>
      </p:sp>
      <p:sp>
        <p:nvSpPr>
          <p:cNvPr id="8" name="rtl_text_7">
            <a:extLst xmlns:a="http://schemas.openxmlformats.org/drawingml/2006/main">
              <a:ext uri="{FF2B5EF4-FFF2-40B4-BE49-F238E27FC236}">
                <a16:creationId xmlns:a16="http://schemas.microsoft.com/office/drawing/2014/main" id="{2ADFF0B5-8173-412C-9D8F-C50A6F214C60}"/>
              </a:ext>
            </a:extLst>
          </p:cNvPr>
          <p:cNvSpPr>
            <a:spLocks xmlns:a="http://schemas.openxmlformats.org/drawingml/2006/main" noGrp="1"/>
          </p:cNvSpPr>
          <p:nvPr/>
        </p:nvSpPr>
        <p:spPr>
          <a:xfrm xmlns:a="http://schemas.openxmlformats.org/drawingml/2006/main">
            <a:off x="5381625" y="2295525"/>
            <a:ext cx="62007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025" b="0">
                <a:solidFill>
                  <a:srgbClr val="546973"/>
                </a:solidFill>
                <a:latin typeface="DejaVu Sans"/>
                <a:ea typeface="DejaVu Sans"/>
                <a:cs typeface="DejaVu Sans"/>
              </a:defRPr>
            </a:defPPr>
          </a:lstStyle>
          <a:p xmlns:a="http://schemas.openxmlformats.org/drawingml/2006/main">
            <a:pPr algn="r" rtl="1">
              <a:defRPr sz="2025" b="0">
                <a:solidFill>
                  <a:srgbClr val="546973"/>
                </a:solidFill>
                <a:latin typeface="DejaVu Sans"/>
                <a:ea typeface="DejaVu Sans"/>
                <a:cs typeface="DejaVu Sans"/>
              </a:defRPr>
            </a:pPr>
            <a:r>
              <a:rPr sz="2025" b="0" lang="fa-IR">
                <a:solidFill>
                  <a:srgbClr val="546973"/>
                </a:solidFill>
                <a:latin typeface="DejaVu Sans"/>
                <a:ea typeface="DejaVu Sans"/>
                <a:cs typeface="DejaVu Sans"/>
              </a:rPr>
              <a:t>حذف نویزهای متنی و عناصر اضافی</a:t>
            </a:r>
          </a:p>
        </p:txBody>
      </p:sp>
      <p:sp>
        <p:nvSpPr>
          <p:cNvPr id="9" name="rtl_text_8">
            <a:extLst xmlns:a="http://schemas.openxmlformats.org/drawingml/2006/main">
              <a:ext uri="{FF2B5EF4-FFF2-40B4-BE49-F238E27FC236}">
                <a16:creationId xmlns:a16="http://schemas.microsoft.com/office/drawing/2014/main" id="{9C36B57A-673B-4860-B45A-381289086BDE}"/>
              </a:ext>
            </a:extLst>
          </p:cNvPr>
          <p:cNvSpPr>
            <a:spLocks xmlns:a="http://schemas.openxmlformats.org/drawingml/2006/main" noGrp="1"/>
          </p:cNvSpPr>
          <p:nvPr/>
        </p:nvSpPr>
        <p:spPr>
          <a:xfrm xmlns:a="http://schemas.openxmlformats.org/drawingml/2006/main">
            <a:off x="5381625" y="3124200"/>
            <a:ext cx="62007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175" b="1">
                <a:solidFill>
                  <a:srgbClr val="087E83"/>
                </a:solidFill>
                <a:latin typeface="DejaVu Sans"/>
                <a:ea typeface="DejaVu Sans"/>
                <a:cs typeface="DejaVu Sans"/>
              </a:defRPr>
            </a:defPPr>
          </a:lstStyle>
          <a:p xmlns:a="http://schemas.openxmlformats.org/drawingml/2006/main">
            <a:pPr algn="r" rtl="1">
              <a:defRPr sz="2175" b="1">
                <a:solidFill>
                  <a:srgbClr val="087E83"/>
                </a:solidFill>
                <a:latin typeface="DejaVu Sans"/>
                <a:ea typeface="DejaVu Sans"/>
                <a:cs typeface="DejaVu Sans"/>
              </a:defRPr>
            </a:pPr>
            <a:r>
              <a:rPr sz="2175" b="1" lang="fa-IR">
                <a:solidFill>
                  <a:srgbClr val="087E83"/>
                </a:solidFill>
                <a:latin typeface="DejaVu Sans"/>
                <a:ea typeface="DejaVu Sans"/>
                <a:cs typeface="DejaVu Sans"/>
              </a:rPr>
              <a:t>نرمال‌سازی نوشتار</a:t>
            </a:r>
          </a:p>
        </p:txBody>
      </p:sp>
      <p:sp>
        <p:nvSpPr>
          <p:cNvPr id="10" name="rtl_text_9">
            <a:extLst xmlns:a="http://schemas.openxmlformats.org/drawingml/2006/main">
              <a:ext uri="{FF2B5EF4-FFF2-40B4-BE49-F238E27FC236}">
                <a16:creationId xmlns:a16="http://schemas.microsoft.com/office/drawing/2014/main" id="{8E14300A-0125-4B57-87F9-64CC45C0E70B}"/>
              </a:ext>
            </a:extLst>
          </p:cNvPr>
          <p:cNvSpPr>
            <a:spLocks xmlns:a="http://schemas.openxmlformats.org/drawingml/2006/main" noGrp="1"/>
          </p:cNvSpPr>
          <p:nvPr/>
        </p:nvSpPr>
        <p:spPr>
          <a:xfrm xmlns:a="http://schemas.openxmlformats.org/drawingml/2006/main">
            <a:off x="5381625" y="3562350"/>
            <a:ext cx="62007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025" b="0">
                <a:solidFill>
                  <a:srgbClr val="546973"/>
                </a:solidFill>
                <a:latin typeface="DejaVu Sans"/>
                <a:ea typeface="DejaVu Sans"/>
                <a:cs typeface="DejaVu Sans"/>
              </a:defRPr>
            </a:defPPr>
          </a:lstStyle>
          <a:p xmlns:a="http://schemas.openxmlformats.org/drawingml/2006/main">
            <a:pPr algn="r" rtl="1">
              <a:defRPr sz="2025" b="0">
                <a:solidFill>
                  <a:srgbClr val="546973"/>
                </a:solidFill>
                <a:latin typeface="DejaVu Sans"/>
                <a:ea typeface="DejaVu Sans"/>
                <a:cs typeface="DejaVu Sans"/>
              </a:defRPr>
            </a:pPr>
            <a:r>
              <a:rPr sz="2025" b="0" lang="fa-IR">
                <a:solidFill>
                  <a:srgbClr val="546973"/>
                </a:solidFill>
                <a:latin typeface="DejaVu Sans"/>
                <a:ea typeface="DejaVu Sans"/>
                <a:cs typeface="DejaVu Sans"/>
              </a:rPr>
              <a:t>یکسان‌سازی حروف و فاصله‌های فارسی</a:t>
            </a:r>
          </a:p>
        </p:txBody>
      </p:sp>
      <p:sp>
        <p:nvSpPr>
          <p:cNvPr id="11" name="rtl_text_10">
            <a:extLst xmlns:a="http://schemas.openxmlformats.org/drawingml/2006/main">
              <a:ext uri="{FF2B5EF4-FFF2-40B4-BE49-F238E27FC236}">
                <a16:creationId xmlns:a16="http://schemas.microsoft.com/office/drawing/2014/main" id="{340722C0-1FF5-4920-89B0-0F2B69A52551}"/>
              </a:ext>
            </a:extLst>
          </p:cNvPr>
          <p:cNvSpPr>
            <a:spLocks xmlns:a="http://schemas.openxmlformats.org/drawingml/2006/main" noGrp="1"/>
          </p:cNvSpPr>
          <p:nvPr/>
        </p:nvSpPr>
        <p:spPr>
          <a:xfrm xmlns:a="http://schemas.openxmlformats.org/drawingml/2006/main">
            <a:off x="5381625" y="4391025"/>
            <a:ext cx="62007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175" b="1">
                <a:solidFill>
                  <a:srgbClr val="087E83"/>
                </a:solidFill>
                <a:latin typeface="DejaVu Sans"/>
                <a:ea typeface="DejaVu Sans"/>
                <a:cs typeface="DejaVu Sans"/>
              </a:defRPr>
            </a:defPPr>
          </a:lstStyle>
          <a:p xmlns:a="http://schemas.openxmlformats.org/drawingml/2006/main">
            <a:pPr algn="r" rtl="1">
              <a:defRPr sz="2175" b="1">
                <a:solidFill>
                  <a:srgbClr val="087E83"/>
                </a:solidFill>
                <a:latin typeface="DejaVu Sans"/>
                <a:ea typeface="DejaVu Sans"/>
                <a:cs typeface="DejaVu Sans"/>
              </a:defRPr>
            </a:pPr>
            <a:r>
              <a:rPr sz="2175" b="1" lang="fa-IR">
                <a:solidFill>
                  <a:srgbClr val="087E83"/>
                </a:solidFill>
                <a:latin typeface="DejaVu Sans"/>
                <a:ea typeface="DejaVu Sans"/>
                <a:cs typeface="DejaVu Sans"/>
              </a:rPr>
              <a:t>توکن‌سازی فضای سفید</a:t>
            </a:r>
          </a:p>
        </p:txBody>
      </p:sp>
      <p:sp>
        <p:nvSpPr>
          <p:cNvPr id="12" name="rtl_text_11">
            <a:extLst xmlns:a="http://schemas.openxmlformats.org/drawingml/2006/main">
              <a:ext uri="{FF2B5EF4-FFF2-40B4-BE49-F238E27FC236}">
                <a16:creationId xmlns:a16="http://schemas.microsoft.com/office/drawing/2014/main" id="{55B38F12-04A9-4211-9E1C-1251DC2A6FC9}"/>
              </a:ext>
            </a:extLst>
          </p:cNvPr>
          <p:cNvSpPr>
            <a:spLocks xmlns:a="http://schemas.openxmlformats.org/drawingml/2006/main" noGrp="1"/>
          </p:cNvSpPr>
          <p:nvPr/>
        </p:nvSpPr>
        <p:spPr>
          <a:xfrm xmlns:a="http://schemas.openxmlformats.org/drawingml/2006/main">
            <a:off x="5381625" y="4829175"/>
            <a:ext cx="62007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025" b="0">
                <a:solidFill>
                  <a:srgbClr val="546973"/>
                </a:solidFill>
                <a:latin typeface="DejaVu Sans"/>
                <a:ea typeface="DejaVu Sans"/>
                <a:cs typeface="DejaVu Sans"/>
              </a:defRPr>
            </a:defPPr>
          </a:lstStyle>
          <a:p xmlns:a="http://schemas.openxmlformats.org/drawingml/2006/main">
            <a:pPr algn="r" rtl="1">
              <a:defRPr sz="2025" b="0">
                <a:solidFill>
                  <a:srgbClr val="546973"/>
                </a:solidFill>
                <a:latin typeface="DejaVu Sans"/>
                <a:ea typeface="DejaVu Sans"/>
                <a:cs typeface="DejaVu Sans"/>
              </a:defRPr>
            </a:pPr>
            <a:r>
              <a:rPr sz="2025" b="0" lang="fa-IR">
                <a:solidFill>
                  <a:srgbClr val="546973"/>
                </a:solidFill>
                <a:latin typeface="DejaVu Sans"/>
                <a:ea typeface="DejaVu Sans"/>
                <a:cs typeface="DejaVu Sans"/>
              </a:rPr>
              <a:t>آماده‌سازی واژگان برای بردارسازی</a:t>
            </a:r>
          </a:p>
        </p:txBody>
      </p:sp>
    </p:spTree>
    <p:extLst>
      <p:ext uri="{BB962C8B-B14F-4D97-AF65-F5344CB8AC3E}">
        <p14:creationId xmlns:p14="http://schemas.microsoft.com/office/powerpoint/2010/main" val="186954910"/>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rtl_headline">
            <a:extLst xmlns:a="http://schemas.openxmlformats.org/drawingml/2006/main">
              <a:ext uri="{FF2B5EF4-FFF2-40B4-BE49-F238E27FC236}">
                <a16:creationId xmlns:a16="http://schemas.microsoft.com/office/drawing/2014/main" id="{6709B256-5380-4282-8405-6B80CCB3989E}"/>
              </a:ext>
            </a:extLst>
          </p:cNvPr>
          <p:cNvSpPr>
            <a:spLocks xmlns:a="http://schemas.openxmlformats.org/drawingml/2006/main" noGrp="1"/>
          </p:cNvSpPr>
          <p:nvPr/>
        </p:nvSpPr>
        <p:spPr>
          <a:xfrm xmlns:a="http://schemas.openxmlformats.org/drawingml/2006/main">
            <a:off x="609600" y="4191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300" b="1">
                <a:solidFill>
                  <a:srgbClr val="172F3A"/>
                </a:solidFill>
                <a:latin typeface="DejaVu Sans"/>
                <a:ea typeface="DejaVu Sans"/>
                <a:cs typeface="DejaVu Sans"/>
              </a:defRPr>
            </a:defPPr>
          </a:lstStyle>
          <a:p xmlns:a="http://schemas.openxmlformats.org/drawingml/2006/main">
            <a:pPr algn="r" rtl="1">
              <a:defRPr sz="3300" b="1">
                <a:solidFill>
                  <a:srgbClr val="172F3A"/>
                </a:solidFill>
                <a:latin typeface="DejaVu Sans"/>
                <a:ea typeface="DejaVu Sans"/>
                <a:cs typeface="DejaVu Sans"/>
              </a:defRPr>
            </a:pPr>
            <a:r>
              <a:rPr sz="3300" b="1" lang="fa-IR">
                <a:solidFill>
                  <a:srgbClr val="172F3A"/>
                </a:solidFill>
                <a:latin typeface="DejaVu Sans"/>
                <a:ea typeface="DejaVu Sans"/>
                <a:cs typeface="DejaVu Sans"/>
              </a:rPr>
              <a:t>نمایش متن با Word2Vec</a:t>
            </a:r>
          </a:p>
        </p:txBody>
      </p:sp>
      <p:sp>
        <p:nvSpPr>
          <p:cNvPr id="2" name="ltr_page">
            <a:extLst xmlns:a="http://schemas.openxmlformats.org/drawingml/2006/main">
              <a:ext uri="{FF2B5EF4-FFF2-40B4-BE49-F238E27FC236}">
                <a16:creationId xmlns:a16="http://schemas.microsoft.com/office/drawing/2014/main" id="{EB189B4C-AB43-447A-95FA-80AB3BEA3572}"/>
              </a:ext>
            </a:extLst>
          </p:cNvPr>
          <p:cNvSpPr>
            <a:spLocks xmlns:a="http://schemas.openxmlformats.org/drawingml/2006/main" noGrp="1"/>
          </p:cNvSpPr>
          <p:nvPr/>
        </p:nvSpPr>
        <p:spPr>
          <a:xfrm xmlns:a="http://schemas.openxmlformats.org/drawingml/2006/main">
            <a:off x="609600" y="63436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46973"/>
                </a:solidFill>
                <a:latin typeface="DejaVu Sans"/>
                <a:ea typeface="DejaVu Sans"/>
                <a:cs typeface="DejaVu Sans"/>
              </a:defRPr>
            </a:defPPr>
          </a:lstStyle>
          <a:p xmlns:a="http://schemas.openxmlformats.org/drawingml/2006/main">
            <a:pPr algn="l" rtl="0">
              <a:defRPr sz="1350" b="0">
                <a:solidFill>
                  <a:srgbClr val="546973"/>
                </a:solidFill>
                <a:latin typeface="DejaVu Sans"/>
                <a:ea typeface="DejaVu Sans"/>
                <a:cs typeface="DejaVu Sans"/>
              </a:defRPr>
            </a:pPr>
            <a:r>
              <a:rPr sz="1350" b="0" lang="en-US">
                <a:solidFill>
                  <a:srgbClr val="546973"/>
                </a:solidFill>
                <a:latin typeface="DejaVu Sans"/>
                <a:ea typeface="DejaVu Sans"/>
                <a:cs typeface="DejaVu Sans"/>
              </a:rPr>
              <a:t>06</a:t>
            </a:r>
          </a:p>
        </p:txBody>
      </p:sp>
      <p:sp>
        <p:nvSpPr>
          <p:cNvPr id="3" name="rtl_text_2">
            <a:extLst xmlns:a="http://schemas.openxmlformats.org/drawingml/2006/main">
              <a:ext uri="{FF2B5EF4-FFF2-40B4-BE49-F238E27FC236}">
                <a16:creationId xmlns:a16="http://schemas.microsoft.com/office/drawing/2014/main" id="{89577949-07B0-47F7-884C-A400FFCA71A9}"/>
              </a:ext>
            </a:extLst>
          </p:cNvPr>
          <p:cNvSpPr>
            <a:spLocks xmlns:a="http://schemas.openxmlformats.org/drawingml/2006/main" noGrp="1"/>
          </p:cNvSpPr>
          <p:nvPr/>
        </p:nvSpPr>
        <p:spPr>
          <a:xfrm xmlns:a="http://schemas.openxmlformats.org/drawingml/2006/main">
            <a:off x="609600" y="1762125"/>
            <a:ext cx="3238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6450" b="1">
                <a:solidFill>
                  <a:srgbClr val="087E83"/>
                </a:solidFill>
                <a:latin typeface="DejaVu Sans"/>
                <a:ea typeface="DejaVu Sans"/>
                <a:cs typeface="DejaVu Sans"/>
              </a:defRPr>
            </a:defPPr>
          </a:lstStyle>
          <a:p xmlns:a="http://schemas.openxmlformats.org/drawingml/2006/main">
            <a:pPr algn="ctr" rtl="1">
              <a:defRPr sz="6450" b="1">
                <a:solidFill>
                  <a:srgbClr val="087E83"/>
                </a:solidFill>
                <a:latin typeface="DejaVu Sans"/>
                <a:ea typeface="DejaVu Sans"/>
                <a:cs typeface="DejaVu Sans"/>
              </a:defRPr>
            </a:pPr>
            <a:r>
              <a:rPr sz="6450" b="1" lang="fa-IR">
                <a:solidFill>
                  <a:srgbClr val="087E83"/>
                </a:solidFill>
                <a:latin typeface="DejaVu Sans"/>
                <a:ea typeface="DejaVu Sans"/>
                <a:cs typeface="DejaVu Sans"/>
              </a:rPr>
              <a:t>۱۰۰</a:t>
            </a:r>
          </a:p>
        </p:txBody>
      </p:sp>
      <p:sp>
        <p:nvSpPr>
          <p:cNvPr id="4" name="rtl_text_3">
            <a:extLst xmlns:a="http://schemas.openxmlformats.org/drawingml/2006/main">
              <a:ext uri="{FF2B5EF4-FFF2-40B4-BE49-F238E27FC236}">
                <a16:creationId xmlns:a16="http://schemas.microsoft.com/office/drawing/2014/main" id="{9DBC3490-1A56-46DE-B09C-8E445AA11B44}"/>
              </a:ext>
            </a:extLst>
          </p:cNvPr>
          <p:cNvSpPr>
            <a:spLocks xmlns:a="http://schemas.openxmlformats.org/drawingml/2006/main" noGrp="1"/>
          </p:cNvSpPr>
          <p:nvPr/>
        </p:nvSpPr>
        <p:spPr>
          <a:xfrm xmlns:a="http://schemas.openxmlformats.org/drawingml/2006/main">
            <a:off x="609600" y="2981325"/>
            <a:ext cx="3238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25" b="0">
                <a:solidFill>
                  <a:srgbClr val="172F3A"/>
                </a:solidFill>
                <a:latin typeface="DejaVu Sans"/>
                <a:ea typeface="DejaVu Sans"/>
                <a:cs typeface="DejaVu Sans"/>
              </a:defRPr>
            </a:defPPr>
          </a:lstStyle>
          <a:p xmlns:a="http://schemas.openxmlformats.org/drawingml/2006/main">
            <a:pPr algn="ctr" rtl="1">
              <a:defRPr sz="2025" b="0">
                <a:solidFill>
                  <a:srgbClr val="172F3A"/>
                </a:solidFill>
                <a:latin typeface="DejaVu Sans"/>
                <a:ea typeface="DejaVu Sans"/>
                <a:cs typeface="DejaVu Sans"/>
              </a:defRPr>
            </a:pPr>
            <a:r>
              <a:rPr sz="2025" b="0" lang="fa-IR">
                <a:solidFill>
                  <a:srgbClr val="172F3A"/>
                </a:solidFill>
                <a:latin typeface="DejaVu Sans"/>
                <a:ea typeface="DejaVu Sans"/>
                <a:cs typeface="DejaVu Sans"/>
              </a:rPr>
              <a:t>ویژگی برای هر متن</a:t>
            </a:r>
          </a:p>
        </p:txBody>
      </p:sp>
      <p:sp>
        <p:nvSpPr>
          <p:cNvPr id="5" name="ltr_text_4">
            <a:extLst xmlns:a="http://schemas.openxmlformats.org/drawingml/2006/main">
              <a:ext uri="{FF2B5EF4-FFF2-40B4-BE49-F238E27FC236}">
                <a16:creationId xmlns:a16="http://schemas.microsoft.com/office/drawing/2014/main" id="{3D0E201A-F9E2-46CF-AD92-63EEB0711400}"/>
              </a:ext>
            </a:extLst>
          </p:cNvPr>
          <p:cNvSpPr>
            <a:spLocks xmlns:a="http://schemas.openxmlformats.org/drawingml/2006/main" noGrp="1"/>
          </p:cNvSpPr>
          <p:nvPr/>
        </p:nvSpPr>
        <p:spPr>
          <a:xfrm xmlns:a="http://schemas.openxmlformats.org/drawingml/2006/main">
            <a:off x="4610100" y="1790700"/>
            <a:ext cx="6972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775" b="1">
                <a:solidFill>
                  <a:srgbClr val="172F3A"/>
                </a:solidFill>
                <a:latin typeface="DejaVu Sans"/>
                <a:ea typeface="DejaVu Sans"/>
                <a:cs typeface="DejaVu Sans"/>
              </a:defRPr>
            </a:defPPr>
          </a:lstStyle>
          <a:p xmlns:a="http://schemas.openxmlformats.org/drawingml/2006/main">
            <a:pPr algn="r" rtl="0">
              <a:defRPr sz="2775" b="1">
                <a:solidFill>
                  <a:srgbClr val="172F3A"/>
                </a:solidFill>
                <a:latin typeface="DejaVu Sans"/>
                <a:ea typeface="DejaVu Sans"/>
                <a:cs typeface="DejaVu Sans"/>
              </a:defRPr>
            </a:pPr>
            <a:r>
              <a:rPr sz="2775" b="1" lang="en-US">
                <a:solidFill>
                  <a:srgbClr val="172F3A"/>
                </a:solidFill>
                <a:latin typeface="DejaVu Sans"/>
                <a:ea typeface="DejaVu Sans"/>
                <a:cs typeface="DejaVu Sans"/>
              </a:rPr>
              <a:t>Skip-Gram</a:t>
            </a:r>
          </a:p>
        </p:txBody>
      </p:sp>
      <p:sp>
        <p:nvSpPr>
          <p:cNvPr id="6" name="rtl_text_5">
            <a:extLst xmlns:a="http://schemas.openxmlformats.org/drawingml/2006/main">
              <a:ext uri="{FF2B5EF4-FFF2-40B4-BE49-F238E27FC236}">
                <a16:creationId xmlns:a16="http://schemas.microsoft.com/office/drawing/2014/main" id="{1AFE7998-3B6C-43C2-B6E6-CB6C9982717F}"/>
              </a:ext>
            </a:extLst>
          </p:cNvPr>
          <p:cNvSpPr>
            <a:spLocks xmlns:a="http://schemas.openxmlformats.org/drawingml/2006/main" noGrp="1"/>
          </p:cNvSpPr>
          <p:nvPr/>
        </p:nvSpPr>
        <p:spPr>
          <a:xfrm xmlns:a="http://schemas.openxmlformats.org/drawingml/2006/main">
            <a:off x="4610100" y="2524125"/>
            <a:ext cx="69723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250" b="0">
                <a:solidFill>
                  <a:srgbClr val="172F3A"/>
                </a:solidFill>
                <a:latin typeface="DejaVu Sans"/>
                <a:ea typeface="DejaVu Sans"/>
                <a:cs typeface="DejaVu Sans"/>
              </a:defRPr>
            </a:defPPr>
          </a:lstStyle>
          <a:p xmlns:a="http://schemas.openxmlformats.org/drawingml/2006/main">
            <a:pPr algn="r" rtl="1">
              <a:defRPr sz="2250" b="0">
                <a:solidFill>
                  <a:srgbClr val="172F3A"/>
                </a:solidFill>
                <a:latin typeface="DejaVu Sans"/>
                <a:ea typeface="DejaVu Sans"/>
                <a:cs typeface="DejaVu Sans"/>
              </a:defRPr>
            </a:pPr>
            <a:r>
              <a:rPr sz="2250" b="0" lang="fa-IR">
                <a:solidFill>
                  <a:srgbClr val="172F3A"/>
                </a:solidFill>
                <a:latin typeface="DejaVu Sans"/>
                <a:ea typeface="DejaVu Sans"/>
                <a:cs typeface="DejaVu Sans"/>
              </a:rPr>
              <a:t>پنجره زمینه: ۵ واژه</a:t>
            </a:r>
          </a:p>
          <a:p xmlns:a="http://schemas.openxmlformats.org/drawingml/2006/main">
            <a:pPr algn="r" rtl="1">
              <a:defRPr sz="2250" b="0">
                <a:solidFill>
                  <a:srgbClr val="172F3A"/>
                </a:solidFill>
                <a:latin typeface="DejaVu Sans"/>
                <a:ea typeface="DejaVu Sans"/>
                <a:cs typeface="DejaVu Sans"/>
              </a:defRPr>
            </a:pPr>
            <a:r>
              <a:rPr sz="2250" b="0" lang="fa-IR">
                <a:solidFill>
                  <a:srgbClr val="172F3A"/>
                </a:solidFill>
                <a:latin typeface="DejaVu Sans"/>
                <a:ea typeface="DejaVu Sans"/>
                <a:cs typeface="DejaVu Sans"/>
              </a:rPr>
              <a:t>میانگین بردار واژه‌ها برای نمایش سند</a:t>
            </a:r>
          </a:p>
        </p:txBody>
      </p:sp>
      <p:sp>
        <p:nvSpPr>
          <p:cNvPr id="7" name="ltr_text_6">
            <a:extLst xmlns:a="http://schemas.openxmlformats.org/drawingml/2006/main">
              <a:ext uri="{FF2B5EF4-FFF2-40B4-BE49-F238E27FC236}">
                <a16:creationId xmlns:a16="http://schemas.microsoft.com/office/drawing/2014/main" id="{19ACD5DC-C7E8-488E-94F1-C4916920B5C0}"/>
              </a:ext>
            </a:extLst>
          </p:cNvPr>
          <p:cNvSpPr>
            <a:spLocks xmlns:a="http://schemas.openxmlformats.org/drawingml/2006/main" noGrp="1"/>
          </p:cNvSpPr>
          <p:nvPr/>
        </p:nvSpPr>
        <p:spPr>
          <a:xfrm xmlns:a="http://schemas.openxmlformats.org/drawingml/2006/main">
            <a:off x="609600" y="411480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850" b="0">
                <a:solidFill>
                  <a:srgbClr val="172F3A"/>
                </a:solidFill>
                <a:latin typeface="DejaVu Sans"/>
                <a:ea typeface="DejaVu Sans"/>
                <a:cs typeface="DejaVu Sans"/>
              </a:defRPr>
            </a:defPPr>
          </a:lstStyle>
          <a:p xmlns:a="http://schemas.openxmlformats.org/drawingml/2006/main">
            <a:pPr algn="ctr" rtl="0">
              <a:defRPr sz="2850" b="0">
                <a:solidFill>
                  <a:srgbClr val="172F3A"/>
                </a:solidFill>
                <a:latin typeface="DejaVu Sans"/>
                <a:ea typeface="DejaVu Sans"/>
                <a:cs typeface="DejaVu Sans"/>
              </a:defRPr>
            </a:pPr>
            <a:r>
              <a:rPr sz="2850" b="0" lang="en-US">
                <a:solidFill>
                  <a:srgbClr val="172F3A"/>
                </a:solidFill>
                <a:latin typeface="DejaVu Sans"/>
                <a:ea typeface="DejaVu Sans"/>
                <a:cs typeface="DejaVu Sans"/>
              </a:rPr>
              <a:t>v(d) = (1 / |V(d)|) Σ v(w)</a:t>
            </a:r>
          </a:p>
        </p:txBody>
      </p:sp>
      <p:sp>
        <p:nvSpPr>
          <p:cNvPr id="8" name="rtl_text_7">
            <a:extLst xmlns:a="http://schemas.openxmlformats.org/drawingml/2006/main">
              <a:ext uri="{FF2B5EF4-FFF2-40B4-BE49-F238E27FC236}">
                <a16:creationId xmlns:a16="http://schemas.microsoft.com/office/drawing/2014/main" id="{8ED8CB83-1893-4E9C-AFA3-5CE4283242C3}"/>
              </a:ext>
            </a:extLst>
          </p:cNvPr>
          <p:cNvSpPr>
            <a:spLocks xmlns:a="http://schemas.openxmlformats.org/drawingml/2006/main" noGrp="1"/>
          </p:cNvSpPr>
          <p:nvPr/>
        </p:nvSpPr>
        <p:spPr>
          <a:xfrm xmlns:a="http://schemas.openxmlformats.org/drawingml/2006/main">
            <a:off x="609600" y="5286375"/>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100" b="0">
                <a:solidFill>
                  <a:srgbClr val="546973"/>
                </a:solidFill>
                <a:latin typeface="DejaVu Sans"/>
                <a:ea typeface="DejaVu Sans"/>
                <a:cs typeface="DejaVu Sans"/>
              </a:defRPr>
            </a:defPPr>
          </a:lstStyle>
          <a:p xmlns:a="http://schemas.openxmlformats.org/drawingml/2006/main">
            <a:pPr algn="r" rtl="1">
              <a:defRPr sz="2100" b="0">
                <a:solidFill>
                  <a:srgbClr val="546973"/>
                </a:solidFill>
                <a:latin typeface="DejaVu Sans"/>
                <a:ea typeface="DejaVu Sans"/>
                <a:cs typeface="DejaVu Sans"/>
              </a:defRPr>
            </a:pPr>
            <a:r>
              <a:rPr sz="2100" b="0" lang="fa-IR">
                <a:solidFill>
                  <a:srgbClr val="546973"/>
                </a:solidFill>
                <a:latin typeface="DejaVu Sans"/>
                <a:ea typeface="DejaVu Sans"/>
                <a:cs typeface="DejaVu Sans"/>
              </a:rPr>
              <a:t>نمایش متراکم و ثابت، با از دست رفتن ترتیب دقیق واژگان</a:t>
            </a:r>
          </a:p>
        </p:txBody>
      </p:sp>
    </p:spTree>
    <p:extLst>
      <p:ext uri="{BB962C8B-B14F-4D97-AF65-F5344CB8AC3E}">
        <p14:creationId xmlns:p14="http://schemas.microsoft.com/office/powerpoint/2010/main" val="1184273140"/>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7" name="rtl_headline">
            <a:extLst xmlns:a="http://schemas.openxmlformats.org/drawingml/2006/main">
              <a:ext uri="{FF2B5EF4-FFF2-40B4-BE49-F238E27FC236}">
                <a16:creationId xmlns:a16="http://schemas.microsoft.com/office/drawing/2014/main" id="{F42B5527-05DC-4522-ADF3-413ECB54AE8C}"/>
              </a:ext>
            </a:extLst>
          </p:cNvPr>
          <p:cNvSpPr>
            <a:spLocks xmlns:a="http://schemas.openxmlformats.org/drawingml/2006/main" noGrp="1"/>
          </p:cNvSpPr>
          <p:nvPr/>
        </p:nvSpPr>
        <p:spPr>
          <a:xfrm xmlns:a="http://schemas.openxmlformats.org/drawingml/2006/main">
            <a:off x="609600" y="4191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300" b="1">
                <a:solidFill>
                  <a:srgbClr val="172F3A"/>
                </a:solidFill>
                <a:latin typeface="DejaVu Sans"/>
                <a:ea typeface="DejaVu Sans"/>
                <a:cs typeface="DejaVu Sans"/>
              </a:defRPr>
            </a:defPPr>
          </a:lstStyle>
          <a:p xmlns:a="http://schemas.openxmlformats.org/drawingml/2006/main">
            <a:pPr algn="r" rtl="1">
              <a:defRPr sz="3300" b="1">
                <a:solidFill>
                  <a:srgbClr val="172F3A"/>
                </a:solidFill>
                <a:latin typeface="DejaVu Sans"/>
                <a:ea typeface="DejaVu Sans"/>
                <a:cs typeface="DejaVu Sans"/>
              </a:defRPr>
            </a:pPr>
            <a:r>
              <a:rPr sz="3300" b="1" lang="fa-IR">
                <a:solidFill>
                  <a:srgbClr val="172F3A"/>
                </a:solidFill>
                <a:latin typeface="DejaVu Sans"/>
                <a:ea typeface="DejaVu Sans"/>
                <a:cs typeface="DejaVu Sans"/>
              </a:rPr>
              <a:t>XGBoost بالاترین دقت را ثبت کرد</a:t>
            </a:r>
          </a:p>
        </p:txBody>
      </p:sp>
      <p:sp>
        <p:nvSpPr>
          <p:cNvPr id="2" name="ltr_page">
            <a:extLst xmlns:a="http://schemas.openxmlformats.org/drawingml/2006/main">
              <a:ext uri="{FF2B5EF4-FFF2-40B4-BE49-F238E27FC236}">
                <a16:creationId xmlns:a16="http://schemas.microsoft.com/office/drawing/2014/main" id="{75F4A9D7-EE7A-4455-8FFC-98827C02DBB8}"/>
              </a:ext>
            </a:extLst>
          </p:cNvPr>
          <p:cNvSpPr>
            <a:spLocks xmlns:a="http://schemas.openxmlformats.org/drawingml/2006/main" noGrp="1"/>
          </p:cNvSpPr>
          <p:nvPr/>
        </p:nvSpPr>
        <p:spPr>
          <a:xfrm xmlns:a="http://schemas.openxmlformats.org/drawingml/2006/main">
            <a:off x="609600" y="63436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46973"/>
                </a:solidFill>
                <a:latin typeface="DejaVu Sans"/>
                <a:ea typeface="DejaVu Sans"/>
                <a:cs typeface="DejaVu Sans"/>
              </a:defRPr>
            </a:defPPr>
          </a:lstStyle>
          <a:p xmlns:a="http://schemas.openxmlformats.org/drawingml/2006/main">
            <a:pPr algn="l" rtl="0">
              <a:defRPr sz="1350" b="0">
                <a:solidFill>
                  <a:srgbClr val="546973"/>
                </a:solidFill>
                <a:latin typeface="DejaVu Sans"/>
                <a:ea typeface="DejaVu Sans"/>
                <a:cs typeface="DejaVu Sans"/>
              </a:defRPr>
            </a:pPr>
            <a:r>
              <a:rPr sz="1350" b="0" lang="en-US">
                <a:solidFill>
                  <a:srgbClr val="546973"/>
                </a:solidFill>
                <a:latin typeface="DejaVu Sans"/>
                <a:ea typeface="DejaVu Sans"/>
                <a:cs typeface="DejaVu Sans"/>
              </a:rPr>
              <a:t>07</a:t>
            </a:r>
          </a:p>
        </p:txBody>
      </p:sp>
      <p:graphicFrame>
        <p:nvGraphicFramePr>
          <p:cNvPr id="3" name="Chart">
            <a:extLst xmlns:a="http://schemas.openxmlformats.org/drawingml/2006/main">
              <a:ext uri="{FF2B5EF4-FFF2-40B4-BE49-F238E27FC236}">
                <a16:creationId xmlns:a16="http://schemas.microsoft.com/office/drawing/2014/main" id="{A39A1EE4-2073-4176-ACCA-F93592B70041}"/>
              </a:ext>
            </a:extLst>
          </p:cNvPr>
          <p:cNvGraphicFramePr/>
          <p:nvPr/>
        </p:nvGraphicFramePr>
        <p:xfrm>
          <a:off xmlns:a="http://schemas.openxmlformats.org/drawingml/2006/main" x="609600" y="1714500"/>
          <a:ext xmlns:a="http://schemas.openxmlformats.org/drawingml/2006/main" cx="8239125" cy="3857625"/>
        </p:xfrm>
        <a:graphic xmlns:a="http://schemas.openxmlformats.org/drawingml/2006/main">
          <a:graphicData uri="http://schemas.openxmlformats.org/drawingml/2006/chart">
            <c:chart xmlns:r="http://schemas.openxmlformats.org/officeDocument/2006/relationships" xmlns:c="http://schemas.openxmlformats.org/drawingml/2006/chart" r:id="R6c49688637e7499e"/>
          </a:graphicData>
        </a:graphic>
      </p:graphicFrame>
      <p:sp>
        <p:nvSpPr>
          <p:cNvPr id="4" name="rtl_text_2">
            <a:extLst xmlns:a="http://schemas.openxmlformats.org/drawingml/2006/main">
              <a:ext uri="{FF2B5EF4-FFF2-40B4-BE49-F238E27FC236}">
                <a16:creationId xmlns:a16="http://schemas.microsoft.com/office/drawing/2014/main" id="{71FF06FF-A714-4B3B-943C-8D9180E385FF}"/>
              </a:ext>
            </a:extLst>
          </p:cNvPr>
          <p:cNvSpPr>
            <a:spLocks xmlns:a="http://schemas.openxmlformats.org/drawingml/2006/main" noGrp="1"/>
          </p:cNvSpPr>
          <p:nvPr/>
        </p:nvSpPr>
        <p:spPr>
          <a:xfrm xmlns:a="http://schemas.openxmlformats.org/drawingml/2006/main">
            <a:off x="9248775" y="2047875"/>
            <a:ext cx="233362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800" b="1">
                <a:solidFill>
                  <a:srgbClr val="087E83"/>
                </a:solidFill>
                <a:latin typeface="DejaVu Sans"/>
                <a:ea typeface="DejaVu Sans"/>
                <a:cs typeface="DejaVu Sans"/>
              </a:defRPr>
            </a:defPPr>
          </a:lstStyle>
          <a:p xmlns:a="http://schemas.openxmlformats.org/drawingml/2006/main">
            <a:pPr algn="ctr" rtl="1">
              <a:defRPr sz="4800" b="1">
                <a:solidFill>
                  <a:srgbClr val="087E83"/>
                </a:solidFill>
                <a:latin typeface="DejaVu Sans"/>
                <a:ea typeface="DejaVu Sans"/>
                <a:cs typeface="DejaVu Sans"/>
              </a:defRPr>
            </a:pPr>
            <a:r>
              <a:rPr sz="4800" b="1" lang="fa-IR">
                <a:solidFill>
                  <a:srgbClr val="087E83"/>
                </a:solidFill>
                <a:latin typeface="DejaVu Sans"/>
                <a:ea typeface="DejaVu Sans"/>
                <a:cs typeface="DejaVu Sans"/>
              </a:rPr>
              <a:t>۱٫۳۲</a:t>
            </a:r>
          </a:p>
        </p:txBody>
      </p:sp>
      <p:sp>
        <p:nvSpPr>
          <p:cNvPr id="5" name="rtl_text_3">
            <a:extLst xmlns:a="http://schemas.openxmlformats.org/drawingml/2006/main">
              <a:ext uri="{FF2B5EF4-FFF2-40B4-BE49-F238E27FC236}">
                <a16:creationId xmlns:a16="http://schemas.microsoft.com/office/drawing/2014/main" id="{FCDBDB30-E0E3-4834-BD26-478BB4E0A99F}"/>
              </a:ext>
            </a:extLst>
          </p:cNvPr>
          <p:cNvSpPr>
            <a:spLocks xmlns:a="http://schemas.openxmlformats.org/drawingml/2006/main" noGrp="1"/>
          </p:cNvSpPr>
          <p:nvPr/>
        </p:nvSpPr>
        <p:spPr>
          <a:xfrm xmlns:a="http://schemas.openxmlformats.org/drawingml/2006/main">
            <a:off x="9191625" y="3143250"/>
            <a:ext cx="23907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0">
                <a:solidFill>
                  <a:srgbClr val="172F3A"/>
                </a:solidFill>
                <a:latin typeface="DejaVu Sans"/>
                <a:ea typeface="DejaVu Sans"/>
                <a:cs typeface="DejaVu Sans"/>
              </a:defRPr>
            </a:defPPr>
          </a:lstStyle>
          <a:p xmlns:a="http://schemas.openxmlformats.org/drawingml/2006/main">
            <a:pPr algn="ctr" rtl="1">
              <a:defRPr sz="2100" b="0">
                <a:solidFill>
                  <a:srgbClr val="172F3A"/>
                </a:solidFill>
                <a:latin typeface="DejaVu Sans"/>
                <a:ea typeface="DejaVu Sans"/>
                <a:cs typeface="DejaVu Sans"/>
              </a:defRPr>
            </a:pPr>
            <a:r>
              <a:rPr sz="2100" b="0" lang="fa-IR">
                <a:solidFill>
                  <a:srgbClr val="172F3A"/>
                </a:solidFill>
                <a:latin typeface="DejaVu Sans"/>
                <a:ea typeface="DejaVu Sans"/>
                <a:cs typeface="DejaVu Sans"/>
              </a:rPr>
              <a:t>واحد درصد برتری</a:t>
            </a:r>
          </a:p>
          <a:p xmlns:a="http://schemas.openxmlformats.org/drawingml/2006/main">
            <a:pPr algn="ctr" rtl="1">
              <a:defRPr sz="2100" b="0">
                <a:solidFill>
                  <a:srgbClr val="172F3A"/>
                </a:solidFill>
                <a:latin typeface="DejaVu Sans"/>
                <a:ea typeface="DejaVu Sans"/>
                <a:cs typeface="DejaVu Sans"/>
              </a:defRPr>
            </a:pPr>
            <a:r>
              <a:rPr sz="2100" b="0" lang="fa-IR">
                <a:solidFill>
                  <a:srgbClr val="172F3A"/>
                </a:solidFill>
                <a:latin typeface="DejaVu Sans"/>
                <a:ea typeface="DejaVu Sans"/>
                <a:cs typeface="DejaVu Sans"/>
              </a:rPr>
              <a:t>نسبت به جنگل تصادفی</a:t>
            </a:r>
          </a:p>
        </p:txBody>
      </p:sp>
      <p:sp>
        <p:nvSpPr>
          <p:cNvPr id="6" name="rtl_text_4">
            <a:extLst xmlns:a="http://schemas.openxmlformats.org/drawingml/2006/main">
              <a:ext uri="{FF2B5EF4-FFF2-40B4-BE49-F238E27FC236}">
                <a16:creationId xmlns:a16="http://schemas.microsoft.com/office/drawing/2014/main" id="{93520044-F253-468A-B156-C9EDE0B6BA1D}"/>
              </a:ext>
            </a:extLst>
          </p:cNvPr>
          <p:cNvSpPr>
            <a:spLocks xmlns:a="http://schemas.openxmlformats.org/drawingml/2006/main" noGrp="1"/>
          </p:cNvSpPr>
          <p:nvPr/>
        </p:nvSpPr>
        <p:spPr>
          <a:xfrm xmlns:a="http://schemas.openxmlformats.org/drawingml/2006/main">
            <a:off x="609600" y="576262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0">
                <a:solidFill>
                  <a:srgbClr val="546973"/>
                </a:solidFill>
                <a:latin typeface="DejaVu Sans"/>
                <a:ea typeface="DejaVu Sans"/>
                <a:cs typeface="DejaVu Sans"/>
              </a:defRPr>
            </a:defPPr>
          </a:lstStyle>
          <a:p xmlns:a="http://schemas.openxmlformats.org/drawingml/2006/main">
            <a:pPr algn="r" rtl="1">
              <a:defRPr sz="1725" b="0">
                <a:solidFill>
                  <a:srgbClr val="546973"/>
                </a:solidFill>
                <a:latin typeface="DejaVu Sans"/>
                <a:ea typeface="DejaVu Sans"/>
                <a:cs typeface="DejaVu Sans"/>
              </a:defRPr>
            </a:pPr>
            <a:r>
              <a:rPr sz="1725" b="0" lang="fa-IR">
                <a:solidFill>
                  <a:srgbClr val="546973"/>
                </a:solidFill>
                <a:latin typeface="DejaVu Sans"/>
                <a:ea typeface="DejaVu Sans"/>
                <a:cs typeface="DejaVu Sans"/>
              </a:rPr>
              <a:t>معیار نمودار: دقت کلی در مجموعه ارزیابی پایان‌نامه</a:t>
            </a:r>
          </a:p>
        </p:txBody>
      </p:sp>
    </p:spTree>
    <p:extLst>
      <p:ext uri="{BB962C8B-B14F-4D97-AF65-F5344CB8AC3E}">
        <p14:creationId xmlns:p14="http://schemas.microsoft.com/office/powerpoint/2010/main" val="1740621907"/>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rtl_headline">
            <a:extLst xmlns:a="http://schemas.openxmlformats.org/drawingml/2006/main">
              <a:ext uri="{FF2B5EF4-FFF2-40B4-BE49-F238E27FC236}">
                <a16:creationId xmlns:a16="http://schemas.microsoft.com/office/drawing/2014/main" id="{2125054C-73E3-4767-B1D0-8BF652EC6F3A}"/>
              </a:ext>
            </a:extLst>
          </p:cNvPr>
          <p:cNvSpPr>
            <a:spLocks xmlns:a="http://schemas.openxmlformats.org/drawingml/2006/main" noGrp="1"/>
          </p:cNvSpPr>
          <p:nvPr/>
        </p:nvSpPr>
        <p:spPr>
          <a:xfrm xmlns:a="http://schemas.openxmlformats.org/drawingml/2006/main">
            <a:off x="609600" y="4191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300" b="1">
                <a:solidFill>
                  <a:srgbClr val="172F3A"/>
                </a:solidFill>
                <a:latin typeface="DejaVu Sans"/>
                <a:ea typeface="DejaVu Sans"/>
                <a:cs typeface="DejaVu Sans"/>
              </a:defRPr>
            </a:defPPr>
          </a:lstStyle>
          <a:p xmlns:a="http://schemas.openxmlformats.org/drawingml/2006/main">
            <a:pPr algn="r" rtl="1">
              <a:defRPr sz="3300" b="1">
                <a:solidFill>
                  <a:srgbClr val="172F3A"/>
                </a:solidFill>
                <a:latin typeface="DejaVu Sans"/>
                <a:ea typeface="DejaVu Sans"/>
                <a:cs typeface="DejaVu Sans"/>
              </a:defRPr>
            </a:pPr>
            <a:r>
              <a:rPr sz="3300" b="1" lang="fa-IR">
                <a:solidFill>
                  <a:srgbClr val="172F3A"/>
                </a:solidFill>
                <a:latin typeface="DejaVu Sans"/>
                <a:ea typeface="DejaVu Sans"/>
                <a:cs typeface="DejaVu Sans"/>
              </a:rPr>
              <a:t>عملکرد در کلاس خودکشی</a:t>
            </a:r>
          </a:p>
        </p:txBody>
      </p:sp>
      <p:sp>
        <p:nvSpPr>
          <p:cNvPr id="2" name="ltr_page">
            <a:extLst xmlns:a="http://schemas.openxmlformats.org/drawingml/2006/main">
              <a:ext uri="{FF2B5EF4-FFF2-40B4-BE49-F238E27FC236}">
                <a16:creationId xmlns:a16="http://schemas.microsoft.com/office/drawing/2014/main" id="{ACA71962-B203-4706-B9DA-AD753507B2B5}"/>
              </a:ext>
            </a:extLst>
          </p:cNvPr>
          <p:cNvSpPr>
            <a:spLocks xmlns:a="http://schemas.openxmlformats.org/drawingml/2006/main" noGrp="1"/>
          </p:cNvSpPr>
          <p:nvPr/>
        </p:nvSpPr>
        <p:spPr>
          <a:xfrm xmlns:a="http://schemas.openxmlformats.org/drawingml/2006/main">
            <a:off x="609600" y="63436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46973"/>
                </a:solidFill>
                <a:latin typeface="DejaVu Sans"/>
                <a:ea typeface="DejaVu Sans"/>
                <a:cs typeface="DejaVu Sans"/>
              </a:defRPr>
            </a:defPPr>
          </a:lstStyle>
          <a:p xmlns:a="http://schemas.openxmlformats.org/drawingml/2006/main">
            <a:pPr algn="l" rtl="0">
              <a:defRPr sz="1350" b="0">
                <a:solidFill>
                  <a:srgbClr val="546973"/>
                </a:solidFill>
                <a:latin typeface="DejaVu Sans"/>
                <a:ea typeface="DejaVu Sans"/>
                <a:cs typeface="DejaVu Sans"/>
              </a:defRPr>
            </a:pPr>
            <a:r>
              <a:rPr sz="1350" b="0" lang="en-US">
                <a:solidFill>
                  <a:srgbClr val="546973"/>
                </a:solidFill>
                <a:latin typeface="DejaVu Sans"/>
                <a:ea typeface="DejaVu Sans"/>
                <a:cs typeface="DejaVu Sans"/>
              </a:rPr>
              <a:t>08</a:t>
            </a:r>
          </a:p>
        </p:txBody>
      </p:sp>
      <p:graphicFrame>
        <p:nvGraphicFramePr>
          <p:cNvPr id="3" name="">
            <a:extLst xmlns:a="http://schemas.openxmlformats.org/drawingml/2006/main">
              <a:ext uri="{FF2B5EF4-FFF2-40B4-BE49-F238E27FC236}">
                <a16:creationId xmlns:a16="http://schemas.microsoft.com/office/drawing/2014/main" id="{9C568622-5A78-4C15-BADB-773FFDCF0A09}"/>
              </a:ext>
            </a:extLst>
          </p:cNvPr>
          <p:cNvGraphicFramePr/>
          <p:nvPr/>
        </p:nvGraphicFramePr>
        <p:xfrm>
          <a:off xmlns:a="http://schemas.openxmlformats.org/drawingml/2006/main" x="609600" y="1733550"/>
          <a:ext xmlns:a="http://schemas.openxmlformats.org/drawingml/2006/main" cx="10972800" cy="3295650"/>
        </p:xfrm>
        <a:graphic xmlns:a="http://schemas.openxmlformats.org/drawingml/2006/main">
          <a:graphicData uri="http://schemas.openxmlformats.org/drawingml/2006/table">
            <a:tbl>
              <a:tblPr firstRow="0" bandRow="0"/>
              <a:tblGrid>
                <a:gridCol w="2124075"/>
                <a:gridCol w="2124075"/>
                <a:gridCol w="2124075"/>
                <a:gridCol w="4600575"/>
              </a:tblGrid>
              <a:tr h="659130">
                <a:tc>
                  <a:txBody>
                    <a:bodyPr lIns="95250" tIns="76200" rIns="95250" bIns="76200">
                      <a:noAutofit/>
                    </a:bodyPr>
                    <a:lstStyle/>
                    <a:p>
                      <a:pPr algn="ctr" rtl="0"/>
                      <a:r>
                        <a:rPr sz="2025" b="1" lang="en-US">
                          <a:solidFill>
                            <a:srgbClr val="FFFFFF"/>
                          </a:solidFill>
                          <a:latin typeface="DejaVu Sans"/>
                          <a:ea typeface="DejaVu Sans"/>
                          <a:cs typeface="DejaVu Sans"/>
                        </a:rPr>
                        <a:t>F1</a:t>
                      </a:r>
                    </a:p>
                  </a:txBody>
                  <a:tcPr marL="91440" marR="91440" marT="45720" marB="45720" anchor="ctr">
                    <a:lnL w="5715">
                      <a:solidFill>
                        <a:srgbClr val="D2DAD9"/>
                      </a:solidFill>
                      <a:prstDash val="solid"/>
                    </a:lnL>
                    <a:lnR w="5715">
                      <a:solidFill>
                        <a:srgbClr val="D2DAD9"/>
                      </a:solidFill>
                      <a:prstDash val="solid"/>
                    </a:lnR>
                    <a:lnT w="5715">
                      <a:solidFill>
                        <a:srgbClr val="D2DAD9"/>
                      </a:solidFill>
                      <a:prstDash val="solid"/>
                    </a:lnT>
                    <a:lnB w="5715">
                      <a:solidFill>
                        <a:srgbClr val="D2DAD9"/>
                      </a:solidFill>
                      <a:prstDash val="solid"/>
                    </a:lnB>
                    <a:solidFill>
                      <a:srgbClr val="172F3A"/>
                    </a:solidFill>
                  </a:tcPr>
                </a:tc>
                <a:tc>
                  <a:txBody>
                    <a:bodyPr lIns="95250" tIns="76200" rIns="95250" bIns="76200">
                      <a:noAutofit/>
                    </a:bodyPr>
                    <a:lstStyle/>
                    <a:p>
                      <a:pPr algn="ctr" rtl="0"/>
                      <a:r>
                        <a:rPr sz="2025" b="1" lang="en-US">
                          <a:solidFill>
                            <a:srgbClr val="FFFFFF"/>
                          </a:solidFill>
                          <a:latin typeface="DejaVu Sans"/>
                          <a:ea typeface="DejaVu Sans"/>
                          <a:cs typeface="DejaVu Sans"/>
                        </a:rPr>
                        <a:t>Recall</a:t>
                      </a:r>
                    </a:p>
                  </a:txBody>
                  <a:tcPr marL="91440" marR="91440" marT="45720" marB="45720" anchor="ctr">
                    <a:lnR w="5715">
                      <a:solidFill>
                        <a:srgbClr val="D2DAD9"/>
                      </a:solidFill>
                      <a:prstDash val="solid"/>
                    </a:lnR>
                    <a:lnT w="5715">
                      <a:solidFill>
                        <a:srgbClr val="D2DAD9"/>
                      </a:solidFill>
                      <a:prstDash val="solid"/>
                    </a:lnT>
                    <a:lnB w="5715">
                      <a:solidFill>
                        <a:srgbClr val="D2DAD9"/>
                      </a:solidFill>
                      <a:prstDash val="solid"/>
                    </a:lnB>
                    <a:solidFill>
                      <a:srgbClr val="172F3A"/>
                    </a:solidFill>
                  </a:tcPr>
                </a:tc>
                <a:tc>
                  <a:txBody>
                    <a:bodyPr lIns="95250" tIns="76200" rIns="95250" bIns="76200">
                      <a:noAutofit/>
                    </a:bodyPr>
                    <a:lstStyle/>
                    <a:p>
                      <a:pPr algn="ctr" rtl="0"/>
                      <a:r>
                        <a:rPr sz="2025" b="1" lang="en-US">
                          <a:solidFill>
                            <a:srgbClr val="FFFFFF"/>
                          </a:solidFill>
                          <a:latin typeface="DejaVu Sans"/>
                          <a:ea typeface="DejaVu Sans"/>
                          <a:cs typeface="DejaVu Sans"/>
                        </a:rPr>
                        <a:t>Precision</a:t>
                      </a:r>
                    </a:p>
                  </a:txBody>
                  <a:tcPr marL="91440" marR="91440" marT="45720" marB="45720" anchor="ctr">
                    <a:lnR w="5715">
                      <a:solidFill>
                        <a:srgbClr val="D2DAD9"/>
                      </a:solidFill>
                      <a:prstDash val="solid"/>
                    </a:lnR>
                    <a:lnT w="5715">
                      <a:solidFill>
                        <a:srgbClr val="D2DAD9"/>
                      </a:solidFill>
                      <a:prstDash val="solid"/>
                    </a:lnT>
                    <a:lnB w="5715">
                      <a:solidFill>
                        <a:srgbClr val="D2DAD9"/>
                      </a:solidFill>
                      <a:prstDash val="solid"/>
                    </a:lnB>
                    <a:solidFill>
                      <a:srgbClr val="172F3A"/>
                    </a:solidFill>
                  </a:tcPr>
                </a:tc>
                <a:tc>
                  <a:txBody>
                    <a:bodyPr lIns="95250" tIns="76200" rIns="95250" bIns="76200">
                      <a:noAutofit/>
                    </a:bodyPr>
                    <a:lstStyle/>
                    <a:p>
                      <a:pPr algn="ctr" rtl="1"/>
                      <a:r>
                        <a:rPr sz="2025" b="1" lang="fa-IR">
                          <a:solidFill>
                            <a:srgbClr val="FFFFFF"/>
                          </a:solidFill>
                          <a:latin typeface="DejaVu Sans"/>
                          <a:ea typeface="DejaVu Sans"/>
                          <a:cs typeface="DejaVu Sans"/>
                        </a:rPr>
                        <a:t>مدل</a:t>
                      </a:r>
                    </a:p>
                  </a:txBody>
                  <a:tcPr marL="91440" marR="91440" marT="45720" marB="45720" anchor="ctr">
                    <a:lnR w="5715">
                      <a:solidFill>
                        <a:srgbClr val="D2DAD9"/>
                      </a:solidFill>
                      <a:prstDash val="solid"/>
                    </a:lnR>
                    <a:lnT w="5715">
                      <a:solidFill>
                        <a:srgbClr val="D2DAD9"/>
                      </a:solidFill>
                      <a:prstDash val="solid"/>
                    </a:lnT>
                    <a:lnB w="5715">
                      <a:solidFill>
                        <a:srgbClr val="D2DAD9"/>
                      </a:solidFill>
                      <a:prstDash val="solid"/>
                    </a:lnB>
                    <a:solidFill>
                      <a:srgbClr val="172F3A"/>
                    </a:solidFill>
                  </a:tcPr>
                </a:tc>
              </a:tr>
              <a:tr h="659130">
                <a:tc>
                  <a:txBody>
                    <a:bodyPr lIns="95250" tIns="76200" rIns="95250" bIns="76200">
                      <a:noAutofit/>
                    </a:bodyPr>
                    <a:lstStyle/>
                    <a:p>
                      <a:pPr algn="ctr" rtl="0"/>
                      <a:r>
                        <a:rPr sz="2025" b="1" lang="en-US">
                          <a:solidFill>
                            <a:srgbClr val="172F3A"/>
                          </a:solidFill>
                          <a:latin typeface="DejaVu Sans"/>
                          <a:ea typeface="DejaVu Sans"/>
                          <a:cs typeface="DejaVu Sans"/>
                        </a:rPr>
                        <a:t>0.94</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E6F0ED"/>
                    </a:solidFill>
                  </a:tcPr>
                </a:tc>
                <a:tc>
                  <a:txBody>
                    <a:bodyPr lIns="95250" tIns="76200" rIns="95250" bIns="76200">
                      <a:noAutofit/>
                    </a:bodyPr>
                    <a:lstStyle/>
                    <a:p>
                      <a:pPr algn="ctr" rtl="0"/>
                      <a:r>
                        <a:rPr sz="2025" b="1" lang="en-US">
                          <a:solidFill>
                            <a:srgbClr val="172F3A"/>
                          </a:solidFill>
                          <a:latin typeface="DejaVu Sans"/>
                          <a:ea typeface="DejaVu Sans"/>
                          <a:cs typeface="DejaVu Sans"/>
                        </a:rPr>
                        <a:t>0.94</a:t>
                      </a:r>
                    </a:p>
                  </a:txBody>
                  <a:tcPr marL="91440" marR="91440" marT="45720" marB="45720" anchor="ctr">
                    <a:lnR w="5715">
                      <a:solidFill>
                        <a:srgbClr val="D2DAD9"/>
                      </a:solidFill>
                      <a:prstDash val="solid"/>
                    </a:lnR>
                    <a:lnB w="5715">
                      <a:solidFill>
                        <a:srgbClr val="D2DAD9"/>
                      </a:solidFill>
                      <a:prstDash val="solid"/>
                    </a:lnB>
                    <a:solidFill>
                      <a:srgbClr val="E6F0ED"/>
                    </a:solidFill>
                  </a:tcPr>
                </a:tc>
                <a:tc>
                  <a:txBody>
                    <a:bodyPr lIns="95250" tIns="76200" rIns="95250" bIns="76200">
                      <a:noAutofit/>
                    </a:bodyPr>
                    <a:lstStyle/>
                    <a:p>
                      <a:pPr algn="ctr" rtl="0"/>
                      <a:r>
                        <a:rPr sz="2025" b="1" lang="en-US">
                          <a:solidFill>
                            <a:srgbClr val="172F3A"/>
                          </a:solidFill>
                          <a:latin typeface="DejaVu Sans"/>
                          <a:ea typeface="DejaVu Sans"/>
                          <a:cs typeface="DejaVu Sans"/>
                        </a:rPr>
                        <a:t>0.94</a:t>
                      </a:r>
                    </a:p>
                  </a:txBody>
                  <a:tcPr marL="91440" marR="91440" marT="45720" marB="45720" anchor="ctr">
                    <a:lnR w="5715">
                      <a:solidFill>
                        <a:srgbClr val="D2DAD9"/>
                      </a:solidFill>
                      <a:prstDash val="solid"/>
                    </a:lnR>
                    <a:lnB w="5715">
                      <a:solidFill>
                        <a:srgbClr val="D2DAD9"/>
                      </a:solidFill>
                      <a:prstDash val="solid"/>
                    </a:lnB>
                    <a:solidFill>
                      <a:srgbClr val="E6F0ED"/>
                    </a:solidFill>
                  </a:tcPr>
                </a:tc>
                <a:tc>
                  <a:txBody>
                    <a:bodyPr lIns="95250" tIns="76200" rIns="95250" bIns="76200">
                      <a:noAutofit/>
                    </a:bodyPr>
                    <a:lstStyle/>
                    <a:p>
                      <a:pPr algn="ctr" rtl="0"/>
                      <a:r>
                        <a:rPr sz="2025" b="1" lang="en-US">
                          <a:solidFill>
                            <a:srgbClr val="172F3A"/>
                          </a:solidFill>
                          <a:latin typeface="DejaVu Sans"/>
                          <a:ea typeface="DejaVu Sans"/>
                          <a:cs typeface="DejaVu Sans"/>
                        </a:rPr>
                        <a:t>XGBoost</a:t>
                      </a:r>
                    </a:p>
                  </a:txBody>
                  <a:tcPr marL="91440" marR="91440" marT="45720" marB="45720" anchor="ctr">
                    <a:lnR w="5715">
                      <a:solidFill>
                        <a:srgbClr val="D2DAD9"/>
                      </a:solidFill>
                      <a:prstDash val="solid"/>
                    </a:lnR>
                    <a:lnB w="5715">
                      <a:solidFill>
                        <a:srgbClr val="D2DAD9"/>
                      </a:solidFill>
                      <a:prstDash val="solid"/>
                    </a:lnB>
                    <a:solidFill>
                      <a:srgbClr val="E6F0ED"/>
                    </a:solidFill>
                  </a:tcPr>
                </a:tc>
              </a:tr>
              <a:tr h="659130">
                <a:tc>
                  <a:txBody>
                    <a:bodyPr lIns="95250" tIns="76200" rIns="95250" bIns="76200">
                      <a:noAutofit/>
                    </a:bodyPr>
                    <a:lstStyle/>
                    <a:p>
                      <a:pPr algn="ctr" rtl="0"/>
                      <a:r>
                        <a:rPr sz="2025" b="0" lang="en-US">
                          <a:solidFill>
                            <a:srgbClr val="172F3A"/>
                          </a:solidFill>
                          <a:latin typeface="DejaVu Sans"/>
                          <a:ea typeface="DejaVu Sans"/>
                          <a:cs typeface="DejaVu Sans"/>
                        </a:rPr>
                        <a:t>0.92</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2025" b="0" lang="en-US">
                          <a:solidFill>
                            <a:srgbClr val="172F3A"/>
                          </a:solidFill>
                          <a:latin typeface="DejaVu Sans"/>
                          <a:ea typeface="DejaVu Sans"/>
                          <a:cs typeface="DejaVu Sans"/>
                        </a:rPr>
                        <a:t>0.91</a:t>
                      </a:r>
                    </a:p>
                  </a:txBody>
                  <a:tcPr marL="91440" marR="91440" marT="45720" marB="45720" anchor="ctr">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2025" b="0" lang="en-US">
                          <a:solidFill>
                            <a:srgbClr val="172F3A"/>
                          </a:solidFill>
                          <a:latin typeface="DejaVu Sans"/>
                          <a:ea typeface="DejaVu Sans"/>
                          <a:cs typeface="DejaVu Sans"/>
                        </a:rPr>
                        <a:t>0.93</a:t>
                      </a:r>
                    </a:p>
                  </a:txBody>
                  <a:tcPr marL="91440" marR="91440" marT="45720" marB="45720" anchor="ctr">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2025" b="0" lang="en-US">
                          <a:solidFill>
                            <a:srgbClr val="172F3A"/>
                          </a:solidFill>
                          <a:latin typeface="DejaVu Sans"/>
                          <a:ea typeface="DejaVu Sans"/>
                          <a:cs typeface="DejaVu Sans"/>
                        </a:rPr>
                        <a:t>Random Forest</a:t>
                      </a:r>
                    </a:p>
                  </a:txBody>
                  <a:tcPr marL="91440" marR="91440" marT="45720" marB="45720" anchor="ctr">
                    <a:lnR w="5715">
                      <a:solidFill>
                        <a:srgbClr val="D2DAD9"/>
                      </a:solidFill>
                      <a:prstDash val="solid"/>
                    </a:lnR>
                    <a:lnB w="5715">
                      <a:solidFill>
                        <a:srgbClr val="D2DAD9"/>
                      </a:solidFill>
                      <a:prstDash val="solid"/>
                    </a:lnB>
                    <a:solidFill>
                      <a:srgbClr val="F7F6F2"/>
                    </a:solidFill>
                  </a:tcPr>
                </a:tc>
              </a:tr>
              <a:tr h="659130">
                <a:tc>
                  <a:txBody>
                    <a:bodyPr lIns="95250" tIns="76200" rIns="95250" bIns="76200">
                      <a:noAutofit/>
                    </a:bodyPr>
                    <a:lstStyle/>
                    <a:p>
                      <a:pPr algn="ctr" rtl="0"/>
                      <a:r>
                        <a:rPr sz="2025" b="0" lang="en-US">
                          <a:solidFill>
                            <a:srgbClr val="172F3A"/>
                          </a:solidFill>
                          <a:latin typeface="DejaVu Sans"/>
                          <a:ea typeface="DejaVu Sans"/>
                          <a:cs typeface="DejaVu Sans"/>
                        </a:rPr>
                        <a:t>0.87</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2025" b="0" lang="en-US">
                          <a:solidFill>
                            <a:srgbClr val="172F3A"/>
                          </a:solidFill>
                          <a:latin typeface="DejaVu Sans"/>
                          <a:ea typeface="DejaVu Sans"/>
                          <a:cs typeface="DejaVu Sans"/>
                        </a:rPr>
                        <a:t>0.87</a:t>
                      </a:r>
                    </a:p>
                  </a:txBody>
                  <a:tcPr marL="91440" marR="91440" marT="45720" marB="45720" anchor="ctr">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2025" b="0" lang="en-US">
                          <a:solidFill>
                            <a:srgbClr val="172F3A"/>
                          </a:solidFill>
                          <a:latin typeface="DejaVu Sans"/>
                          <a:ea typeface="DejaVu Sans"/>
                          <a:cs typeface="DejaVu Sans"/>
                        </a:rPr>
                        <a:t>0.87</a:t>
                      </a:r>
                    </a:p>
                  </a:txBody>
                  <a:tcPr marL="91440" marR="91440" marT="45720" marB="45720" anchor="ctr">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2025" b="0" lang="en-US">
                          <a:solidFill>
                            <a:srgbClr val="172F3A"/>
                          </a:solidFill>
                          <a:latin typeface="DejaVu Sans"/>
                          <a:ea typeface="DejaVu Sans"/>
                          <a:cs typeface="DejaVu Sans"/>
                        </a:rPr>
                        <a:t>Decision Tree</a:t>
                      </a:r>
                    </a:p>
                  </a:txBody>
                  <a:tcPr marL="91440" marR="91440" marT="45720" marB="45720" anchor="ctr">
                    <a:lnR w="5715">
                      <a:solidFill>
                        <a:srgbClr val="D2DAD9"/>
                      </a:solidFill>
                      <a:prstDash val="solid"/>
                    </a:lnR>
                    <a:lnB w="5715">
                      <a:solidFill>
                        <a:srgbClr val="D2DAD9"/>
                      </a:solidFill>
                      <a:prstDash val="solid"/>
                    </a:lnB>
                    <a:solidFill>
                      <a:srgbClr val="F7F6F2"/>
                    </a:solidFill>
                  </a:tcPr>
                </a:tc>
              </a:tr>
              <a:tr h="659130">
                <a:tc>
                  <a:txBody>
                    <a:bodyPr lIns="95250" tIns="76200" rIns="95250" bIns="76200">
                      <a:noAutofit/>
                    </a:bodyPr>
                    <a:lstStyle/>
                    <a:p>
                      <a:pPr algn="ctr" rtl="0"/>
                      <a:r>
                        <a:rPr sz="2025" b="0" lang="en-US">
                          <a:solidFill>
                            <a:srgbClr val="172F3A"/>
                          </a:solidFill>
                          <a:latin typeface="DejaVu Sans"/>
                          <a:ea typeface="DejaVu Sans"/>
                          <a:cs typeface="DejaVu Sans"/>
                        </a:rPr>
                        <a:t>0.84</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2025" b="0" lang="en-US">
                          <a:solidFill>
                            <a:srgbClr val="172F3A"/>
                          </a:solidFill>
                          <a:latin typeface="DejaVu Sans"/>
                          <a:ea typeface="DejaVu Sans"/>
                          <a:cs typeface="DejaVu Sans"/>
                        </a:rPr>
                        <a:t>0.91</a:t>
                      </a:r>
                    </a:p>
                  </a:txBody>
                  <a:tcPr marL="91440" marR="91440" marT="45720" marB="45720" anchor="ctr">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2025" b="0" lang="en-US">
                          <a:solidFill>
                            <a:srgbClr val="172F3A"/>
                          </a:solidFill>
                          <a:latin typeface="DejaVu Sans"/>
                          <a:ea typeface="DejaVu Sans"/>
                          <a:cs typeface="DejaVu Sans"/>
                        </a:rPr>
                        <a:t>0.78</a:t>
                      </a:r>
                    </a:p>
                  </a:txBody>
                  <a:tcPr marL="91440" marR="91440" marT="45720" marB="45720" anchor="ctr">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2025" b="0" lang="en-US">
                          <a:solidFill>
                            <a:srgbClr val="172F3A"/>
                          </a:solidFill>
                          <a:latin typeface="DejaVu Sans"/>
                          <a:ea typeface="DejaVu Sans"/>
                          <a:cs typeface="DejaVu Sans"/>
                        </a:rPr>
                        <a:t>Naive Bayes</a:t>
                      </a:r>
                    </a:p>
                  </a:txBody>
                  <a:tcPr marL="91440" marR="91440" marT="45720" marB="45720" anchor="ctr">
                    <a:lnR w="5715">
                      <a:solidFill>
                        <a:srgbClr val="D2DAD9"/>
                      </a:solidFill>
                      <a:prstDash val="solid"/>
                    </a:lnR>
                    <a:lnB w="5715">
                      <a:solidFill>
                        <a:srgbClr val="D2DAD9"/>
                      </a:solidFill>
                      <a:prstDash val="solid"/>
                    </a:lnB>
                    <a:solidFill>
                      <a:srgbClr val="F7F6F2"/>
                    </a:solidFill>
                  </a:tcPr>
                </a:tc>
              </a:tr>
            </a:tbl>
          </a:graphicData>
        </a:graphic>
      </p:graphicFrame>
      <p:sp>
        <p:nvSpPr>
          <p:cNvPr id="4" name="rtl_text_2">
            <a:extLst xmlns:a="http://schemas.openxmlformats.org/drawingml/2006/main">
              <a:ext uri="{FF2B5EF4-FFF2-40B4-BE49-F238E27FC236}">
                <a16:creationId xmlns:a16="http://schemas.microsoft.com/office/drawing/2014/main" id="{F16A2D85-EB81-43BD-877C-F8C8C1ACE21D}"/>
              </a:ext>
            </a:extLst>
          </p:cNvPr>
          <p:cNvSpPr>
            <a:spLocks xmlns:a="http://schemas.openxmlformats.org/drawingml/2006/main" noGrp="1"/>
          </p:cNvSpPr>
          <p:nvPr/>
        </p:nvSpPr>
        <p:spPr>
          <a:xfrm xmlns:a="http://schemas.openxmlformats.org/drawingml/2006/main">
            <a:off x="609600" y="53911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75" b="1">
                <a:solidFill>
                  <a:srgbClr val="087E83"/>
                </a:solidFill>
                <a:latin typeface="DejaVu Sans"/>
                <a:ea typeface="DejaVu Sans"/>
                <a:cs typeface="DejaVu Sans"/>
              </a:defRPr>
            </a:defPPr>
          </a:lstStyle>
          <a:p xmlns:a="http://schemas.openxmlformats.org/drawingml/2006/main">
            <a:pPr algn="r" rtl="1">
              <a:defRPr sz="2475" b="1">
                <a:solidFill>
                  <a:srgbClr val="087E83"/>
                </a:solidFill>
                <a:latin typeface="DejaVu Sans"/>
                <a:ea typeface="DejaVu Sans"/>
                <a:cs typeface="DejaVu Sans"/>
              </a:defRPr>
            </a:pPr>
            <a:r>
              <a:rPr sz="2475" b="1" lang="fa-IR">
                <a:solidFill>
                  <a:srgbClr val="087E83"/>
                </a:solidFill>
                <a:latin typeface="DejaVu Sans"/>
                <a:ea typeface="DejaVu Sans"/>
                <a:cs typeface="DejaVu Sans"/>
              </a:rPr>
              <a:t>مدل منتخب: XGBoost</a:t>
            </a:r>
          </a:p>
        </p:txBody>
      </p:sp>
    </p:spTree>
    <p:extLst>
      <p:ext uri="{BB962C8B-B14F-4D97-AF65-F5344CB8AC3E}">
        <p14:creationId xmlns:p14="http://schemas.microsoft.com/office/powerpoint/2010/main" val="30185281"/>
      </p:ext>
    </p:extLst>
  </p:cSld>
</p:sld>
</file>

<file path=ppt/slides/slide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 name="rtl_headline">
            <a:extLst xmlns:a="http://schemas.openxmlformats.org/drawingml/2006/main">
              <a:ext uri="{FF2B5EF4-FFF2-40B4-BE49-F238E27FC236}">
                <a16:creationId xmlns:a16="http://schemas.microsoft.com/office/drawing/2014/main" id="{232B23C7-BF53-4F07-B8A8-D23F79CD080A}"/>
              </a:ext>
            </a:extLst>
          </p:cNvPr>
          <p:cNvSpPr>
            <a:spLocks xmlns:a="http://schemas.openxmlformats.org/drawingml/2006/main" noGrp="1"/>
          </p:cNvSpPr>
          <p:nvPr/>
        </p:nvSpPr>
        <p:spPr>
          <a:xfrm xmlns:a="http://schemas.openxmlformats.org/drawingml/2006/main">
            <a:off x="609600" y="4191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300" b="1">
                <a:solidFill>
                  <a:srgbClr val="172F3A"/>
                </a:solidFill>
                <a:latin typeface="DejaVu Sans"/>
                <a:ea typeface="DejaVu Sans"/>
                <a:cs typeface="DejaVu Sans"/>
              </a:defRPr>
            </a:defPPr>
          </a:lstStyle>
          <a:p xmlns:a="http://schemas.openxmlformats.org/drawingml/2006/main">
            <a:pPr algn="r" rtl="1">
              <a:defRPr sz="3300" b="1">
                <a:solidFill>
                  <a:srgbClr val="172F3A"/>
                </a:solidFill>
                <a:latin typeface="DejaVu Sans"/>
                <a:ea typeface="DejaVu Sans"/>
                <a:cs typeface="DejaVu Sans"/>
              </a:defRPr>
            </a:pPr>
            <a:r>
              <a:rPr sz="3300" b="1" lang="fa-IR">
                <a:solidFill>
                  <a:srgbClr val="172F3A"/>
                </a:solidFill>
                <a:latin typeface="DejaVu Sans"/>
                <a:ea typeface="DejaVu Sans"/>
                <a:cs typeface="DejaVu Sans"/>
              </a:rPr>
              <a:t>استنتاج مشارکتی و رأی‌گیری نرم</a:t>
            </a:r>
          </a:p>
        </p:txBody>
      </p:sp>
      <p:sp>
        <p:nvSpPr>
          <p:cNvPr id="2" name="ltr_page">
            <a:extLst xmlns:a="http://schemas.openxmlformats.org/drawingml/2006/main">
              <a:ext uri="{FF2B5EF4-FFF2-40B4-BE49-F238E27FC236}">
                <a16:creationId xmlns:a16="http://schemas.microsoft.com/office/drawing/2014/main" id="{15E80345-B36F-4644-8277-30385EB584B0}"/>
              </a:ext>
            </a:extLst>
          </p:cNvPr>
          <p:cNvSpPr>
            <a:spLocks xmlns:a="http://schemas.openxmlformats.org/drawingml/2006/main" noGrp="1"/>
          </p:cNvSpPr>
          <p:nvPr/>
        </p:nvSpPr>
        <p:spPr>
          <a:xfrm xmlns:a="http://schemas.openxmlformats.org/drawingml/2006/main">
            <a:off x="609600" y="63436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46973"/>
                </a:solidFill>
                <a:latin typeface="DejaVu Sans"/>
                <a:ea typeface="DejaVu Sans"/>
                <a:cs typeface="DejaVu Sans"/>
              </a:defRPr>
            </a:defPPr>
          </a:lstStyle>
          <a:p xmlns:a="http://schemas.openxmlformats.org/drawingml/2006/main">
            <a:pPr algn="l" rtl="0">
              <a:defRPr sz="1350" b="0">
                <a:solidFill>
                  <a:srgbClr val="546973"/>
                </a:solidFill>
                <a:latin typeface="DejaVu Sans"/>
                <a:ea typeface="DejaVu Sans"/>
                <a:cs typeface="DejaVu Sans"/>
              </a:defRPr>
            </a:pPr>
            <a:r>
              <a:rPr sz="1350" b="0" lang="en-US">
                <a:solidFill>
                  <a:srgbClr val="546973"/>
                </a:solidFill>
                <a:latin typeface="DejaVu Sans"/>
                <a:ea typeface="DejaVu Sans"/>
                <a:cs typeface="DejaVu Sans"/>
              </a:rPr>
              <a:t>09</a:t>
            </a:r>
          </a:p>
        </p:txBody>
      </p:sp>
      <p:sp>
        <p:nvSpPr>
          <p:cNvPr id="3" name="rtl_text_2">
            <a:extLst xmlns:a="http://schemas.openxmlformats.org/drawingml/2006/main">
              <a:ext uri="{FF2B5EF4-FFF2-40B4-BE49-F238E27FC236}">
                <a16:creationId xmlns:a16="http://schemas.microsoft.com/office/drawing/2014/main" id="{331C3A38-107D-4236-A006-738275AF47B1}"/>
              </a:ext>
            </a:extLst>
          </p:cNvPr>
          <p:cNvSpPr>
            <a:spLocks xmlns:a="http://schemas.openxmlformats.org/drawingml/2006/main" noGrp="1"/>
          </p:cNvSpPr>
          <p:nvPr/>
        </p:nvSpPr>
        <p:spPr>
          <a:xfrm xmlns:a="http://schemas.openxmlformats.org/drawingml/2006/main">
            <a:off x="609600" y="167640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175" b="1">
                <a:solidFill>
                  <a:srgbClr val="087E83"/>
                </a:solidFill>
                <a:latin typeface="DejaVu Sans"/>
                <a:ea typeface="DejaVu Sans"/>
                <a:cs typeface="DejaVu Sans"/>
              </a:defRPr>
            </a:defPPr>
          </a:lstStyle>
          <a:p xmlns:a="http://schemas.openxmlformats.org/drawingml/2006/main">
            <a:pPr algn="r" rtl="1">
              <a:defRPr sz="2175" b="1">
                <a:solidFill>
                  <a:srgbClr val="087E83"/>
                </a:solidFill>
                <a:latin typeface="DejaVu Sans"/>
                <a:ea typeface="DejaVu Sans"/>
                <a:cs typeface="DejaVu Sans"/>
              </a:defRPr>
            </a:pPr>
            <a:r>
              <a:rPr sz="2175" b="1" lang="fa-IR">
                <a:solidFill>
                  <a:srgbClr val="087E83"/>
                </a:solidFill>
                <a:latin typeface="DejaVu Sans"/>
                <a:ea typeface="DejaVu Sans"/>
                <a:cs typeface="DejaVu Sans"/>
              </a:rPr>
              <a:t>آموزش محلی</a:t>
            </a:r>
          </a:p>
        </p:txBody>
      </p:sp>
      <p:sp>
        <p:nvSpPr>
          <p:cNvPr id="4" name="rtl_text_3">
            <a:extLst xmlns:a="http://schemas.openxmlformats.org/drawingml/2006/main">
              <a:ext uri="{FF2B5EF4-FFF2-40B4-BE49-F238E27FC236}">
                <a16:creationId xmlns:a16="http://schemas.microsoft.com/office/drawing/2014/main" id="{356E1359-98B6-4169-BFDD-E073AE6CBB7E}"/>
              </a:ext>
            </a:extLst>
          </p:cNvPr>
          <p:cNvSpPr>
            <a:spLocks xmlns:a="http://schemas.openxmlformats.org/drawingml/2006/main" noGrp="1"/>
          </p:cNvSpPr>
          <p:nvPr/>
        </p:nvSpPr>
        <p:spPr>
          <a:xfrm xmlns:a="http://schemas.openxmlformats.org/drawingml/2006/main">
            <a:off x="609600" y="211455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025" b="0">
                <a:solidFill>
                  <a:srgbClr val="546973"/>
                </a:solidFill>
                <a:latin typeface="DejaVu Sans"/>
                <a:ea typeface="DejaVu Sans"/>
                <a:cs typeface="DejaVu Sans"/>
              </a:defRPr>
            </a:defPPr>
          </a:lstStyle>
          <a:p xmlns:a="http://schemas.openxmlformats.org/drawingml/2006/main">
            <a:pPr algn="r" rtl="1">
              <a:defRPr sz="2025" b="0">
                <a:solidFill>
                  <a:srgbClr val="546973"/>
                </a:solidFill>
                <a:latin typeface="DejaVu Sans"/>
                <a:ea typeface="DejaVu Sans"/>
                <a:cs typeface="DejaVu Sans"/>
              </a:defRPr>
            </a:pPr>
            <a:r>
              <a:rPr sz="2025" b="0" lang="fa-IR">
                <a:solidFill>
                  <a:srgbClr val="546973"/>
                </a:solidFill>
                <a:latin typeface="DejaVu Sans"/>
                <a:ea typeface="DejaVu Sans"/>
                <a:cs typeface="DejaVu Sans"/>
              </a:rPr>
              <a:t>هر منبع، داده آموزشی و مدل خود را نگه می‌دارد</a:t>
            </a:r>
          </a:p>
        </p:txBody>
      </p:sp>
      <p:sp>
        <p:nvSpPr>
          <p:cNvPr id="5" name="rtl_text_4">
            <a:extLst xmlns:a="http://schemas.openxmlformats.org/drawingml/2006/main">
              <a:ext uri="{FF2B5EF4-FFF2-40B4-BE49-F238E27FC236}">
                <a16:creationId xmlns:a16="http://schemas.microsoft.com/office/drawing/2014/main" id="{169A9B69-FAB7-41AA-BC10-327C13F8176E}"/>
              </a:ext>
            </a:extLst>
          </p:cNvPr>
          <p:cNvSpPr>
            <a:spLocks xmlns:a="http://schemas.openxmlformats.org/drawingml/2006/main" noGrp="1"/>
          </p:cNvSpPr>
          <p:nvPr/>
        </p:nvSpPr>
        <p:spPr>
          <a:xfrm xmlns:a="http://schemas.openxmlformats.org/drawingml/2006/main">
            <a:off x="609600" y="274320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175" b="1">
                <a:solidFill>
                  <a:srgbClr val="087E83"/>
                </a:solidFill>
                <a:latin typeface="DejaVu Sans"/>
                <a:ea typeface="DejaVu Sans"/>
                <a:cs typeface="DejaVu Sans"/>
              </a:defRPr>
            </a:defPPr>
          </a:lstStyle>
          <a:p xmlns:a="http://schemas.openxmlformats.org/drawingml/2006/main">
            <a:pPr algn="r" rtl="1">
              <a:defRPr sz="2175" b="1">
                <a:solidFill>
                  <a:srgbClr val="087E83"/>
                </a:solidFill>
                <a:latin typeface="DejaVu Sans"/>
                <a:ea typeface="DejaVu Sans"/>
                <a:cs typeface="DejaVu Sans"/>
              </a:defRPr>
            </a:pPr>
            <a:r>
              <a:rPr sz="2175" b="1" lang="fa-IR">
                <a:solidFill>
                  <a:srgbClr val="087E83"/>
                </a:solidFill>
                <a:latin typeface="DejaVu Sans"/>
                <a:ea typeface="DejaVu Sans"/>
                <a:cs typeface="DejaVu Sans"/>
              </a:rPr>
              <a:t>خروجی احتمال</a:t>
            </a:r>
          </a:p>
        </p:txBody>
      </p:sp>
      <p:sp>
        <p:nvSpPr>
          <p:cNvPr id="6" name="rtl_text_5">
            <a:extLst xmlns:a="http://schemas.openxmlformats.org/drawingml/2006/main">
              <a:ext uri="{FF2B5EF4-FFF2-40B4-BE49-F238E27FC236}">
                <a16:creationId xmlns:a16="http://schemas.microsoft.com/office/drawing/2014/main" id="{2CA3419D-F176-4901-B2A2-DD4C3C8DDE94}"/>
              </a:ext>
            </a:extLst>
          </p:cNvPr>
          <p:cNvSpPr>
            <a:spLocks xmlns:a="http://schemas.openxmlformats.org/drawingml/2006/main" noGrp="1"/>
          </p:cNvSpPr>
          <p:nvPr/>
        </p:nvSpPr>
        <p:spPr>
          <a:xfrm xmlns:a="http://schemas.openxmlformats.org/drawingml/2006/main">
            <a:off x="609600" y="318135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025" b="0">
                <a:solidFill>
                  <a:srgbClr val="546973"/>
                </a:solidFill>
                <a:latin typeface="DejaVu Sans"/>
                <a:ea typeface="DejaVu Sans"/>
                <a:cs typeface="DejaVu Sans"/>
              </a:defRPr>
            </a:defPPr>
          </a:lstStyle>
          <a:p xmlns:a="http://schemas.openxmlformats.org/drawingml/2006/main">
            <a:pPr algn="r" rtl="1">
              <a:defRPr sz="2025" b="0">
                <a:solidFill>
                  <a:srgbClr val="546973"/>
                </a:solidFill>
                <a:latin typeface="DejaVu Sans"/>
                <a:ea typeface="DejaVu Sans"/>
                <a:cs typeface="DejaVu Sans"/>
              </a:defRPr>
            </a:pPr>
            <a:r>
              <a:rPr sz="2025" b="0" lang="fa-IR">
                <a:solidFill>
                  <a:srgbClr val="546973"/>
                </a:solidFill>
                <a:latin typeface="DejaVu Sans"/>
                <a:ea typeface="DejaVu Sans"/>
                <a:cs typeface="DejaVu Sans"/>
              </a:rPr>
              <a:t>هر کلاینت احتمال کلاس هدف را محاسبه می‌کند</a:t>
            </a:r>
          </a:p>
        </p:txBody>
      </p:sp>
      <p:sp>
        <p:nvSpPr>
          <p:cNvPr id="7" name="rtl_text_6">
            <a:extLst xmlns:a="http://schemas.openxmlformats.org/drawingml/2006/main">
              <a:ext uri="{FF2B5EF4-FFF2-40B4-BE49-F238E27FC236}">
                <a16:creationId xmlns:a16="http://schemas.microsoft.com/office/drawing/2014/main" id="{C5241C5D-2A48-4EEB-8FAB-E2E8D5950501}"/>
              </a:ext>
            </a:extLst>
          </p:cNvPr>
          <p:cNvSpPr>
            <a:spLocks xmlns:a="http://schemas.openxmlformats.org/drawingml/2006/main" noGrp="1"/>
          </p:cNvSpPr>
          <p:nvPr/>
        </p:nvSpPr>
        <p:spPr>
          <a:xfrm xmlns:a="http://schemas.openxmlformats.org/drawingml/2006/main">
            <a:off x="609600" y="381000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175" b="1">
                <a:solidFill>
                  <a:srgbClr val="087E83"/>
                </a:solidFill>
                <a:latin typeface="DejaVu Sans"/>
                <a:ea typeface="DejaVu Sans"/>
                <a:cs typeface="DejaVu Sans"/>
              </a:defRPr>
            </a:defPPr>
          </a:lstStyle>
          <a:p xmlns:a="http://schemas.openxmlformats.org/drawingml/2006/main">
            <a:pPr algn="r" rtl="1">
              <a:defRPr sz="2175" b="1">
                <a:solidFill>
                  <a:srgbClr val="087E83"/>
                </a:solidFill>
                <a:latin typeface="DejaVu Sans"/>
                <a:ea typeface="DejaVu Sans"/>
                <a:cs typeface="DejaVu Sans"/>
              </a:defRPr>
            </a:pPr>
            <a:r>
              <a:rPr sz="2175" b="1" lang="fa-IR">
                <a:solidFill>
                  <a:srgbClr val="087E83"/>
                </a:solidFill>
                <a:latin typeface="DejaVu Sans"/>
                <a:ea typeface="DejaVu Sans"/>
                <a:cs typeface="DejaVu Sans"/>
              </a:rPr>
              <a:t>تصمیم سرور</a:t>
            </a:r>
          </a:p>
        </p:txBody>
      </p:sp>
      <p:sp>
        <p:nvSpPr>
          <p:cNvPr id="8" name="rtl_text_7">
            <a:extLst xmlns:a="http://schemas.openxmlformats.org/drawingml/2006/main">
              <a:ext uri="{FF2B5EF4-FFF2-40B4-BE49-F238E27FC236}">
                <a16:creationId xmlns:a16="http://schemas.microsoft.com/office/drawing/2014/main" id="{A4FE93CD-8AED-4E36-AA49-0A31E9A6C555}"/>
              </a:ext>
            </a:extLst>
          </p:cNvPr>
          <p:cNvSpPr>
            <a:spLocks xmlns:a="http://schemas.openxmlformats.org/drawingml/2006/main" noGrp="1"/>
          </p:cNvSpPr>
          <p:nvPr/>
        </p:nvSpPr>
        <p:spPr>
          <a:xfrm xmlns:a="http://schemas.openxmlformats.org/drawingml/2006/main">
            <a:off x="609600" y="424815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025" b="0">
                <a:solidFill>
                  <a:srgbClr val="546973"/>
                </a:solidFill>
                <a:latin typeface="DejaVu Sans"/>
                <a:ea typeface="DejaVu Sans"/>
                <a:cs typeface="DejaVu Sans"/>
              </a:defRPr>
            </a:defPPr>
          </a:lstStyle>
          <a:p xmlns:a="http://schemas.openxmlformats.org/drawingml/2006/main">
            <a:pPr algn="r" rtl="1">
              <a:defRPr sz="2025" b="0">
                <a:solidFill>
                  <a:srgbClr val="546973"/>
                </a:solidFill>
                <a:latin typeface="DejaVu Sans"/>
                <a:ea typeface="DejaVu Sans"/>
                <a:cs typeface="DejaVu Sans"/>
              </a:defRPr>
            </a:pPr>
            <a:r>
              <a:rPr sz="2025" b="0" lang="fa-IR">
                <a:solidFill>
                  <a:srgbClr val="546973"/>
                </a:solidFill>
                <a:latin typeface="DejaVu Sans"/>
                <a:ea typeface="DejaVu Sans"/>
                <a:cs typeface="DejaVu Sans"/>
              </a:rPr>
              <a:t>میانگین وزنی خروجی‌ها با آستانه مقایسه می‌شود</a:t>
            </a:r>
          </a:p>
        </p:txBody>
      </p:sp>
      <p:sp>
        <p:nvSpPr>
          <p:cNvPr id="9" name="ltr_text_8">
            <a:extLst xmlns:a="http://schemas.openxmlformats.org/drawingml/2006/main">
              <a:ext uri="{FF2B5EF4-FFF2-40B4-BE49-F238E27FC236}">
                <a16:creationId xmlns:a16="http://schemas.microsoft.com/office/drawing/2014/main" id="{78405588-74FC-44D5-AEC9-605D3D5F7E31}"/>
              </a:ext>
            </a:extLst>
          </p:cNvPr>
          <p:cNvSpPr>
            <a:spLocks xmlns:a="http://schemas.openxmlformats.org/drawingml/2006/main" noGrp="1"/>
          </p:cNvSpPr>
          <p:nvPr/>
        </p:nvSpPr>
        <p:spPr>
          <a:xfrm xmlns:a="http://schemas.openxmlformats.org/drawingml/2006/main">
            <a:off x="609600" y="524827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3150" b="0">
                <a:solidFill>
                  <a:srgbClr val="087E83"/>
                </a:solidFill>
                <a:latin typeface="DejaVu Sans"/>
                <a:ea typeface="DejaVu Sans"/>
                <a:cs typeface="DejaVu Sans"/>
              </a:defRPr>
            </a:defPPr>
          </a:lstStyle>
          <a:p xmlns:a="http://schemas.openxmlformats.org/drawingml/2006/main">
            <a:pPr algn="ctr" rtl="0">
              <a:defRPr sz="3150" b="0">
                <a:solidFill>
                  <a:srgbClr val="087E83"/>
                </a:solidFill>
                <a:latin typeface="DejaVu Sans"/>
                <a:ea typeface="DejaVu Sans"/>
                <a:cs typeface="DejaVu Sans"/>
              </a:defRPr>
            </a:pPr>
            <a:r>
              <a:rPr sz="3150" b="0" lang="en-US">
                <a:solidFill>
                  <a:srgbClr val="087E83"/>
                </a:solidFill>
                <a:latin typeface="DejaVu Sans"/>
                <a:ea typeface="DejaVu Sans"/>
                <a:cs typeface="DejaVu Sans"/>
              </a:rPr>
              <a:t>p̄ = Σ wᵢpᵢ / Σ wᵢ</a:t>
            </a:r>
          </a:p>
        </p:txBody>
      </p:sp>
    </p:spTree>
    <p:extLst>
      <p:ext uri="{BB962C8B-B14F-4D97-AF65-F5344CB8AC3E}">
        <p14:creationId xmlns:p14="http://schemas.microsoft.com/office/powerpoint/2010/main" val="1267818587"/>
      </p:ext>
    </p:extLst>
  </p:cSld>
</p:sld>
</file>

<file path=ppt/slides/slide1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7" name="rtl_headline">
            <a:extLst xmlns:a="http://schemas.openxmlformats.org/drawingml/2006/main">
              <a:ext uri="{FF2B5EF4-FFF2-40B4-BE49-F238E27FC236}">
                <a16:creationId xmlns:a16="http://schemas.microsoft.com/office/drawing/2014/main" id="{0FFC7D00-0FC5-415F-8990-B6E957FE1998}"/>
              </a:ext>
            </a:extLst>
          </p:cNvPr>
          <p:cNvSpPr>
            <a:spLocks xmlns:a="http://schemas.openxmlformats.org/drawingml/2006/main" noGrp="1"/>
          </p:cNvSpPr>
          <p:nvPr/>
        </p:nvSpPr>
        <p:spPr>
          <a:xfrm xmlns:a="http://schemas.openxmlformats.org/drawingml/2006/main">
            <a:off x="609600" y="4191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300" b="1">
                <a:solidFill>
                  <a:srgbClr val="172F3A"/>
                </a:solidFill>
                <a:latin typeface="DejaVu Sans"/>
                <a:ea typeface="DejaVu Sans"/>
                <a:cs typeface="DejaVu Sans"/>
              </a:defRPr>
            </a:defPPr>
          </a:lstStyle>
          <a:p xmlns:a="http://schemas.openxmlformats.org/drawingml/2006/main">
            <a:pPr algn="r" rtl="1">
              <a:defRPr sz="3300" b="1">
                <a:solidFill>
                  <a:srgbClr val="172F3A"/>
                </a:solidFill>
                <a:latin typeface="DejaVu Sans"/>
                <a:ea typeface="DejaVu Sans"/>
                <a:cs typeface="DejaVu Sans"/>
              </a:defRPr>
            </a:pPr>
            <a:r>
              <a:rPr sz="3300" b="1" lang="fa-IR">
                <a:solidFill>
                  <a:srgbClr val="172F3A"/>
                </a:solidFill>
                <a:latin typeface="DejaVu Sans"/>
                <a:ea typeface="DejaVu Sans"/>
                <a:cs typeface="DejaVu Sans"/>
              </a:rPr>
              <a:t>امنیت انتقال متن ورودی</a:t>
            </a:r>
          </a:p>
        </p:txBody>
      </p:sp>
      <p:sp>
        <p:nvSpPr>
          <p:cNvPr id="2" name="ltr_page">
            <a:extLst xmlns:a="http://schemas.openxmlformats.org/drawingml/2006/main">
              <a:ext uri="{FF2B5EF4-FFF2-40B4-BE49-F238E27FC236}">
                <a16:creationId xmlns:a16="http://schemas.microsoft.com/office/drawing/2014/main" id="{3A82E801-B74F-4DE4-99D0-E6E54C26840B}"/>
              </a:ext>
            </a:extLst>
          </p:cNvPr>
          <p:cNvSpPr>
            <a:spLocks xmlns:a="http://schemas.openxmlformats.org/drawingml/2006/main" noGrp="1"/>
          </p:cNvSpPr>
          <p:nvPr/>
        </p:nvSpPr>
        <p:spPr>
          <a:xfrm xmlns:a="http://schemas.openxmlformats.org/drawingml/2006/main">
            <a:off x="609600" y="63436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46973"/>
                </a:solidFill>
                <a:latin typeface="DejaVu Sans"/>
                <a:ea typeface="DejaVu Sans"/>
                <a:cs typeface="DejaVu Sans"/>
              </a:defRPr>
            </a:defPPr>
          </a:lstStyle>
          <a:p xmlns:a="http://schemas.openxmlformats.org/drawingml/2006/main">
            <a:pPr algn="l" rtl="0">
              <a:defRPr sz="1350" b="0">
                <a:solidFill>
                  <a:srgbClr val="546973"/>
                </a:solidFill>
                <a:latin typeface="DejaVu Sans"/>
                <a:ea typeface="DejaVu Sans"/>
                <a:cs typeface="DejaVu Sans"/>
              </a:defRPr>
            </a:pPr>
            <a:r>
              <a:rPr sz="1350" b="0" lang="en-US">
                <a:solidFill>
                  <a:srgbClr val="546973"/>
                </a:solidFill>
                <a:latin typeface="DejaVu Sans"/>
                <a:ea typeface="DejaVu Sans"/>
                <a:cs typeface="DejaVu Sans"/>
              </a:rPr>
              <a:t>10</a:t>
            </a:r>
          </a:p>
        </p:txBody>
      </p:sp>
      <p:sp>
        <p:nvSpPr>
          <p:cNvPr id="3" name="ltr_text_2">
            <a:extLst xmlns:a="http://schemas.openxmlformats.org/drawingml/2006/main">
              <a:ext uri="{FF2B5EF4-FFF2-40B4-BE49-F238E27FC236}">
                <a16:creationId xmlns:a16="http://schemas.microsoft.com/office/drawing/2014/main" id="{3A16EDD1-1D8A-4D0B-9974-6F575D5B18CE}"/>
              </a:ext>
            </a:extLst>
          </p:cNvPr>
          <p:cNvSpPr>
            <a:spLocks xmlns:a="http://schemas.openxmlformats.org/drawingml/2006/main" noGrp="1"/>
          </p:cNvSpPr>
          <p:nvPr/>
        </p:nvSpPr>
        <p:spPr>
          <a:xfrm xmlns:a="http://schemas.openxmlformats.org/drawingml/2006/main">
            <a:off x="609600" y="1733550"/>
            <a:ext cx="1097280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75" b="1">
                <a:solidFill>
                  <a:srgbClr val="087E83"/>
                </a:solidFill>
                <a:latin typeface="DejaVu Sans"/>
                <a:ea typeface="DejaVu Sans"/>
                <a:cs typeface="DejaVu Sans"/>
              </a:defRPr>
            </a:defPPr>
          </a:lstStyle>
          <a:p xmlns:a="http://schemas.openxmlformats.org/drawingml/2006/main">
            <a:pPr algn="r" rtl="0">
              <a:defRPr sz="3675" b="1">
                <a:solidFill>
                  <a:srgbClr val="087E83"/>
                </a:solidFill>
                <a:latin typeface="DejaVu Sans"/>
                <a:ea typeface="DejaVu Sans"/>
                <a:cs typeface="DejaVu Sans"/>
              </a:defRPr>
            </a:pPr>
            <a:r>
              <a:rPr sz="3675" b="1" lang="en-US">
                <a:solidFill>
                  <a:srgbClr val="087E83"/>
                </a:solidFill>
                <a:latin typeface="DejaVu Sans"/>
                <a:ea typeface="DejaVu Sans"/>
                <a:cs typeface="DejaVu Sans"/>
              </a:rPr>
              <a:t>AES-256-GCM</a:t>
            </a:r>
          </a:p>
        </p:txBody>
      </p:sp>
      <p:sp>
        <p:nvSpPr>
          <p:cNvPr id="4" name="rtl_text_3">
            <a:extLst xmlns:a="http://schemas.openxmlformats.org/drawingml/2006/main">
              <a:ext uri="{FF2B5EF4-FFF2-40B4-BE49-F238E27FC236}">
                <a16:creationId xmlns:a16="http://schemas.microsoft.com/office/drawing/2014/main" id="{9D9C9DC5-2B09-4881-9DAA-4F41C2B59E39}"/>
              </a:ext>
            </a:extLst>
          </p:cNvPr>
          <p:cNvSpPr>
            <a:spLocks xmlns:a="http://schemas.openxmlformats.org/drawingml/2006/main" noGrp="1"/>
          </p:cNvSpPr>
          <p:nvPr/>
        </p:nvSpPr>
        <p:spPr>
          <a:xfrm xmlns:a="http://schemas.openxmlformats.org/drawingml/2006/main">
            <a:off x="609600" y="2705100"/>
            <a:ext cx="109728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250" b="0">
                <a:solidFill>
                  <a:srgbClr val="172F3A"/>
                </a:solidFill>
                <a:latin typeface="DejaVu Sans"/>
                <a:ea typeface="DejaVu Sans"/>
                <a:cs typeface="DejaVu Sans"/>
              </a:defRPr>
            </a:defPPr>
          </a:lstStyle>
          <a:p xmlns:a="http://schemas.openxmlformats.org/drawingml/2006/main">
            <a:pPr algn="r" rtl="1">
              <a:defRPr sz="2250" b="0">
                <a:solidFill>
                  <a:srgbClr val="172F3A"/>
                </a:solidFill>
                <a:latin typeface="DejaVu Sans"/>
                <a:ea typeface="DejaVu Sans"/>
                <a:cs typeface="DejaVu Sans"/>
              </a:defRPr>
            </a:pPr>
            <a:r>
              <a:rPr sz="2250" b="0" lang="fa-IR">
                <a:solidFill>
                  <a:srgbClr val="172F3A"/>
                </a:solidFill>
                <a:latin typeface="DejaVu Sans"/>
                <a:ea typeface="DejaVu Sans"/>
                <a:cs typeface="DejaVu Sans"/>
              </a:rPr>
              <a:t>رمزگذاری متن و کنترل تمامیت</a:t>
            </a:r>
          </a:p>
          <a:p xmlns:a="http://schemas.openxmlformats.org/drawingml/2006/main">
            <a:pPr algn="r" rtl="1">
              <a:defRPr sz="2250" b="0">
                <a:solidFill>
                  <a:srgbClr val="172F3A"/>
                </a:solidFill>
                <a:latin typeface="DejaVu Sans"/>
                <a:ea typeface="DejaVu Sans"/>
                <a:cs typeface="DejaVu Sans"/>
              </a:defRPr>
            </a:pPr>
            <a:r>
              <a:rPr sz="2250" b="0" lang="fa-IR">
                <a:solidFill>
                  <a:srgbClr val="172F3A"/>
                </a:solidFill>
                <a:latin typeface="DejaVu Sans"/>
                <a:ea typeface="DejaVu Sans"/>
                <a:cs typeface="DejaVu Sans"/>
              </a:rPr>
              <a:t>nonce منحصربه‌فرد و برچسب احراز</a:t>
            </a:r>
          </a:p>
        </p:txBody>
      </p:sp>
      <p:sp>
        <p:nvSpPr>
          <p:cNvPr id="5" name="rtl_text_4">
            <a:extLst xmlns:a="http://schemas.openxmlformats.org/drawingml/2006/main">
              <a:ext uri="{FF2B5EF4-FFF2-40B4-BE49-F238E27FC236}">
                <a16:creationId xmlns:a16="http://schemas.microsoft.com/office/drawing/2014/main" id="{9D91B9E6-2700-4822-91AB-71C893B4C083}"/>
              </a:ext>
            </a:extLst>
          </p:cNvPr>
          <p:cNvSpPr>
            <a:spLocks xmlns:a="http://schemas.openxmlformats.org/drawingml/2006/main" noGrp="1"/>
          </p:cNvSpPr>
          <p:nvPr/>
        </p:nvSpPr>
        <p:spPr>
          <a:xfrm xmlns:a="http://schemas.openxmlformats.org/drawingml/2006/main">
            <a:off x="609600" y="4114800"/>
            <a:ext cx="109728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625" b="1">
                <a:solidFill>
                  <a:srgbClr val="172F3A"/>
                </a:solidFill>
                <a:latin typeface="DejaVu Sans"/>
                <a:ea typeface="DejaVu Sans"/>
                <a:cs typeface="DejaVu Sans"/>
              </a:defRPr>
            </a:defPPr>
          </a:lstStyle>
          <a:p xmlns:a="http://schemas.openxmlformats.org/drawingml/2006/main">
            <a:pPr algn="r" rtl="1">
              <a:defRPr sz="2625" b="1">
                <a:solidFill>
                  <a:srgbClr val="172F3A"/>
                </a:solidFill>
                <a:latin typeface="DejaVu Sans"/>
                <a:ea typeface="DejaVu Sans"/>
                <a:cs typeface="DejaVu Sans"/>
              </a:defRPr>
            </a:pPr>
            <a:r>
              <a:rPr sz="2625" b="1" lang="fa-IR">
                <a:solidFill>
                  <a:srgbClr val="172F3A"/>
                </a:solidFill>
                <a:latin typeface="DejaVu Sans"/>
                <a:ea typeface="DejaVu Sans"/>
                <a:cs typeface="DejaVu Sans"/>
              </a:rPr>
              <a:t>تسهیم راز شامیر</a:t>
            </a:r>
          </a:p>
        </p:txBody>
      </p:sp>
      <p:sp>
        <p:nvSpPr>
          <p:cNvPr id="6" name="rtl_text_5">
            <a:extLst xmlns:a="http://schemas.openxmlformats.org/drawingml/2006/main">
              <a:ext uri="{FF2B5EF4-FFF2-40B4-BE49-F238E27FC236}">
                <a16:creationId xmlns:a16="http://schemas.microsoft.com/office/drawing/2014/main" id="{324BB93E-BFC3-4E5C-B69C-AC9F77AE1A5F}"/>
              </a:ext>
            </a:extLst>
          </p:cNvPr>
          <p:cNvSpPr>
            <a:spLocks xmlns:a="http://schemas.openxmlformats.org/drawingml/2006/main" noGrp="1"/>
          </p:cNvSpPr>
          <p:nvPr/>
        </p:nvSpPr>
        <p:spPr>
          <a:xfrm xmlns:a="http://schemas.openxmlformats.org/drawingml/2006/main">
            <a:off x="609600" y="4848225"/>
            <a:ext cx="109728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175" b="0">
                <a:solidFill>
                  <a:srgbClr val="172F3A"/>
                </a:solidFill>
                <a:latin typeface="DejaVu Sans"/>
                <a:ea typeface="DejaVu Sans"/>
                <a:cs typeface="DejaVu Sans"/>
              </a:defRPr>
            </a:defPPr>
          </a:lstStyle>
          <a:p xmlns:a="http://schemas.openxmlformats.org/drawingml/2006/main">
            <a:pPr algn="r" rtl="1">
              <a:defRPr sz="2175" b="0">
                <a:solidFill>
                  <a:srgbClr val="172F3A"/>
                </a:solidFill>
                <a:latin typeface="DejaVu Sans"/>
                <a:ea typeface="DejaVu Sans"/>
                <a:cs typeface="DejaVu Sans"/>
              </a:defRPr>
            </a:pPr>
            <a:r>
              <a:rPr sz="2175" b="0" lang="fa-IR">
                <a:solidFill>
                  <a:srgbClr val="172F3A"/>
                </a:solidFill>
                <a:latin typeface="DejaVu Sans"/>
                <a:ea typeface="DejaVu Sans"/>
                <a:cs typeface="DejaVu Sans"/>
              </a:rPr>
              <a:t>بازسازی کلید با حداقل t سهم از n سهم</a:t>
            </a:r>
          </a:p>
          <a:p xmlns:a="http://schemas.openxmlformats.org/drawingml/2006/main">
            <a:pPr algn="r" rtl="1">
              <a:defRPr sz="2175" b="0">
                <a:solidFill>
                  <a:srgbClr val="172F3A"/>
                </a:solidFill>
                <a:latin typeface="DejaVu Sans"/>
                <a:ea typeface="DejaVu Sans"/>
                <a:cs typeface="DejaVu Sans"/>
              </a:defRPr>
            </a:pPr>
            <a:r>
              <a:rPr sz="2175" b="0" lang="fa-IR">
                <a:solidFill>
                  <a:srgbClr val="172F3A"/>
                </a:solidFill>
                <a:latin typeface="DejaVu Sans"/>
                <a:ea typeface="DejaVu Sans"/>
                <a:cs typeface="DejaVu Sans"/>
              </a:rPr>
              <a:t>پیکربندی پیش‌فرض پژوهش: t = n</a:t>
            </a:r>
          </a:p>
        </p:txBody>
      </p:sp>
    </p:spTree>
    <p:extLst>
      <p:ext uri="{BB962C8B-B14F-4D97-AF65-F5344CB8AC3E}">
        <p14:creationId xmlns:p14="http://schemas.microsoft.com/office/powerpoint/2010/main" val="289883830"/>
      </p:ext>
    </p:extLst>
  </p:cSld>
</p:sld>
</file>

<file path=ppt/slides/slide1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rtl_headline">
            <a:extLst xmlns:a="http://schemas.openxmlformats.org/drawingml/2006/main">
              <a:ext uri="{FF2B5EF4-FFF2-40B4-BE49-F238E27FC236}">
                <a16:creationId xmlns:a16="http://schemas.microsoft.com/office/drawing/2014/main" id="{72F39187-6D47-4B95-B6E5-32AC1CCB1A59}"/>
              </a:ext>
            </a:extLst>
          </p:cNvPr>
          <p:cNvSpPr>
            <a:spLocks xmlns:a="http://schemas.openxmlformats.org/drawingml/2006/main" noGrp="1"/>
          </p:cNvSpPr>
          <p:nvPr/>
        </p:nvSpPr>
        <p:spPr>
          <a:xfrm xmlns:a="http://schemas.openxmlformats.org/drawingml/2006/main">
            <a:off x="609600" y="4191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300" b="1">
                <a:solidFill>
                  <a:srgbClr val="172F3A"/>
                </a:solidFill>
                <a:latin typeface="DejaVu Sans"/>
                <a:ea typeface="DejaVu Sans"/>
                <a:cs typeface="DejaVu Sans"/>
              </a:defRPr>
            </a:defPPr>
          </a:lstStyle>
          <a:p xmlns:a="http://schemas.openxmlformats.org/drawingml/2006/main">
            <a:pPr algn="r" rtl="1">
              <a:defRPr sz="3300" b="1">
                <a:solidFill>
                  <a:srgbClr val="172F3A"/>
                </a:solidFill>
                <a:latin typeface="DejaVu Sans"/>
                <a:ea typeface="DejaVu Sans"/>
                <a:cs typeface="DejaVu Sans"/>
              </a:defRPr>
            </a:pPr>
            <a:r>
              <a:rPr sz="3300" b="1" lang="fa-IR">
                <a:solidFill>
                  <a:srgbClr val="172F3A"/>
                </a:solidFill>
                <a:latin typeface="DejaVu Sans"/>
                <a:ea typeface="DejaVu Sans"/>
                <a:cs typeface="DejaVu Sans"/>
              </a:rPr>
              <a:t>انتخاب رمزگذاری هم‌ریخت جمعی</a:t>
            </a:r>
          </a:p>
        </p:txBody>
      </p:sp>
      <p:sp>
        <p:nvSpPr>
          <p:cNvPr id="2" name="ltr_page">
            <a:extLst xmlns:a="http://schemas.openxmlformats.org/drawingml/2006/main">
              <a:ext uri="{FF2B5EF4-FFF2-40B4-BE49-F238E27FC236}">
                <a16:creationId xmlns:a16="http://schemas.microsoft.com/office/drawing/2014/main" id="{10126C44-43CA-41CD-88A0-53CDC584AD2E}"/>
              </a:ext>
            </a:extLst>
          </p:cNvPr>
          <p:cNvSpPr>
            <a:spLocks xmlns:a="http://schemas.openxmlformats.org/drawingml/2006/main" noGrp="1"/>
          </p:cNvSpPr>
          <p:nvPr/>
        </p:nvSpPr>
        <p:spPr>
          <a:xfrm xmlns:a="http://schemas.openxmlformats.org/drawingml/2006/main">
            <a:off x="609600" y="63436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46973"/>
                </a:solidFill>
                <a:latin typeface="DejaVu Sans"/>
                <a:ea typeface="DejaVu Sans"/>
                <a:cs typeface="DejaVu Sans"/>
              </a:defRPr>
            </a:defPPr>
          </a:lstStyle>
          <a:p xmlns:a="http://schemas.openxmlformats.org/drawingml/2006/main">
            <a:pPr algn="l" rtl="0">
              <a:defRPr sz="1350" b="0">
                <a:solidFill>
                  <a:srgbClr val="546973"/>
                </a:solidFill>
                <a:latin typeface="DejaVu Sans"/>
                <a:ea typeface="DejaVu Sans"/>
                <a:cs typeface="DejaVu Sans"/>
              </a:defRPr>
            </a:pPr>
            <a:r>
              <a:rPr sz="1350" b="0" lang="en-US">
                <a:solidFill>
                  <a:srgbClr val="546973"/>
                </a:solidFill>
                <a:latin typeface="DejaVu Sans"/>
                <a:ea typeface="DejaVu Sans"/>
                <a:cs typeface="DejaVu Sans"/>
              </a:rPr>
              <a:t>11</a:t>
            </a:r>
          </a:p>
        </p:txBody>
      </p:sp>
      <p:graphicFrame>
        <p:nvGraphicFramePr>
          <p:cNvPr id="3" name="">
            <a:extLst xmlns:a="http://schemas.openxmlformats.org/drawingml/2006/main">
              <a:ext uri="{FF2B5EF4-FFF2-40B4-BE49-F238E27FC236}">
                <a16:creationId xmlns:a16="http://schemas.microsoft.com/office/drawing/2014/main" id="{347288DD-8578-40AC-B745-442AB50C7D9A}"/>
              </a:ext>
            </a:extLst>
          </p:cNvPr>
          <p:cNvGraphicFramePr/>
          <p:nvPr/>
        </p:nvGraphicFramePr>
        <p:xfrm>
          <a:off xmlns:a="http://schemas.openxmlformats.org/drawingml/2006/main" x="609600" y="1733550"/>
          <a:ext xmlns:a="http://schemas.openxmlformats.org/drawingml/2006/main" cx="10972800" cy="2752725"/>
        </p:xfrm>
        <a:graphic xmlns:a="http://schemas.openxmlformats.org/drawingml/2006/main">
          <a:graphicData uri="http://schemas.openxmlformats.org/drawingml/2006/table">
            <a:tbl>
              <a:tblPr firstRow="0" bandRow="0"/>
              <a:tblGrid>
                <a:gridCol w="4572000"/>
                <a:gridCol w="2000250"/>
                <a:gridCol w="4400550"/>
              </a:tblGrid>
              <a:tr h="688181">
                <a:tc>
                  <a:txBody>
                    <a:bodyPr lIns="95250" tIns="76200" rIns="95250" bIns="76200">
                      <a:noAutofit/>
                    </a:bodyPr>
                    <a:lstStyle/>
                    <a:p>
                      <a:pPr algn="ctr" rtl="1"/>
                      <a:r>
                        <a:rPr sz="1875" b="1" lang="fa-IR">
                          <a:solidFill>
                            <a:srgbClr val="FFFFFF"/>
                          </a:solidFill>
                          <a:latin typeface="DejaVu Sans"/>
                          <a:ea typeface="DejaVu Sans"/>
                          <a:cs typeface="DejaVu Sans"/>
                        </a:rPr>
                        <a:t>تناسب با جمع وزنی</a:t>
                      </a:r>
                    </a:p>
                  </a:txBody>
                  <a:tcPr marL="91440" marR="91440" marT="45720" marB="45720" anchor="ctr">
                    <a:lnL w="5715">
                      <a:solidFill>
                        <a:srgbClr val="D2DAD9"/>
                      </a:solidFill>
                      <a:prstDash val="solid"/>
                    </a:lnL>
                    <a:lnR w="5715">
                      <a:solidFill>
                        <a:srgbClr val="D2DAD9"/>
                      </a:solidFill>
                      <a:prstDash val="solid"/>
                    </a:lnR>
                    <a:lnT w="5715">
                      <a:solidFill>
                        <a:srgbClr val="D2DAD9"/>
                      </a:solidFill>
                      <a:prstDash val="solid"/>
                    </a:lnT>
                    <a:lnB w="5715">
                      <a:solidFill>
                        <a:srgbClr val="D2DAD9"/>
                      </a:solidFill>
                      <a:prstDash val="solid"/>
                    </a:lnB>
                    <a:solidFill>
                      <a:srgbClr val="172F3A"/>
                    </a:solidFill>
                  </a:tcPr>
                </a:tc>
                <a:tc>
                  <a:txBody>
                    <a:bodyPr lIns="95250" tIns="76200" rIns="95250" bIns="76200">
                      <a:noAutofit/>
                    </a:bodyPr>
                    <a:lstStyle/>
                    <a:p>
                      <a:pPr algn="ctr" rtl="1"/>
                      <a:r>
                        <a:rPr sz="1875" b="1" lang="fa-IR">
                          <a:solidFill>
                            <a:srgbClr val="FFFFFF"/>
                          </a:solidFill>
                          <a:latin typeface="DejaVu Sans"/>
                          <a:ea typeface="DejaVu Sans"/>
                          <a:cs typeface="DejaVu Sans"/>
                        </a:rPr>
                        <a:t>هم‌ریختی</a:t>
                      </a:r>
                    </a:p>
                  </a:txBody>
                  <a:tcPr marL="91440" marR="91440" marT="45720" marB="45720" anchor="ctr">
                    <a:lnR w="5715">
                      <a:solidFill>
                        <a:srgbClr val="D2DAD9"/>
                      </a:solidFill>
                      <a:prstDash val="solid"/>
                    </a:lnR>
                    <a:lnT w="5715">
                      <a:solidFill>
                        <a:srgbClr val="D2DAD9"/>
                      </a:solidFill>
                      <a:prstDash val="solid"/>
                    </a:lnT>
                    <a:lnB w="5715">
                      <a:solidFill>
                        <a:srgbClr val="D2DAD9"/>
                      </a:solidFill>
                      <a:prstDash val="solid"/>
                    </a:lnB>
                    <a:solidFill>
                      <a:srgbClr val="172F3A"/>
                    </a:solidFill>
                  </a:tcPr>
                </a:tc>
                <a:tc>
                  <a:txBody>
                    <a:bodyPr lIns="95250" tIns="76200" rIns="95250" bIns="76200">
                      <a:noAutofit/>
                    </a:bodyPr>
                    <a:lstStyle/>
                    <a:p>
                      <a:pPr algn="ctr" rtl="1"/>
                      <a:r>
                        <a:rPr sz="1875" b="1" lang="fa-IR">
                          <a:solidFill>
                            <a:srgbClr val="FFFFFF"/>
                          </a:solidFill>
                          <a:latin typeface="DejaVu Sans"/>
                          <a:ea typeface="DejaVu Sans"/>
                          <a:cs typeface="DejaVu Sans"/>
                        </a:rPr>
                        <a:t>طرح</a:t>
                      </a:r>
                    </a:p>
                  </a:txBody>
                  <a:tcPr marL="91440" marR="91440" marT="45720" marB="45720" anchor="ctr">
                    <a:lnR w="5715">
                      <a:solidFill>
                        <a:srgbClr val="D2DAD9"/>
                      </a:solidFill>
                      <a:prstDash val="solid"/>
                    </a:lnR>
                    <a:lnT w="5715">
                      <a:solidFill>
                        <a:srgbClr val="D2DAD9"/>
                      </a:solidFill>
                      <a:prstDash val="solid"/>
                    </a:lnT>
                    <a:lnB w="5715">
                      <a:solidFill>
                        <a:srgbClr val="D2DAD9"/>
                      </a:solidFill>
                      <a:prstDash val="solid"/>
                    </a:lnB>
                    <a:solidFill>
                      <a:srgbClr val="172F3A"/>
                    </a:solidFill>
                  </a:tcPr>
                </a:tc>
              </a:tr>
              <a:tr h="688181">
                <a:tc>
                  <a:txBody>
                    <a:bodyPr lIns="95250" tIns="76200" rIns="95250" bIns="76200">
                      <a:noAutofit/>
                    </a:bodyPr>
                    <a:lstStyle/>
                    <a:p>
                      <a:pPr algn="ctr" rtl="1"/>
                      <a:r>
                        <a:rPr sz="1875" b="1" lang="fa-IR">
                          <a:solidFill>
                            <a:srgbClr val="172F3A"/>
                          </a:solidFill>
                          <a:latin typeface="DejaVu Sans"/>
                          <a:ea typeface="DejaVu Sans"/>
                          <a:cs typeface="DejaVu Sans"/>
                        </a:rPr>
                        <a:t>سازگار با عملیات مورد نیاز</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E6F0ED"/>
                    </a:solidFill>
                  </a:tcPr>
                </a:tc>
                <a:tc>
                  <a:txBody>
                    <a:bodyPr lIns="95250" tIns="76200" rIns="95250" bIns="76200">
                      <a:noAutofit/>
                    </a:bodyPr>
                    <a:lstStyle/>
                    <a:p>
                      <a:pPr algn="ctr" rtl="1"/>
                      <a:r>
                        <a:rPr sz="1875" b="1" lang="fa-IR">
                          <a:solidFill>
                            <a:srgbClr val="172F3A"/>
                          </a:solidFill>
                          <a:latin typeface="DejaVu Sans"/>
                          <a:ea typeface="DejaVu Sans"/>
                          <a:cs typeface="DejaVu Sans"/>
                        </a:rPr>
                        <a:t>جمعی</a:t>
                      </a:r>
                    </a:p>
                  </a:txBody>
                  <a:tcPr marL="91440" marR="91440" marT="45720" marB="45720" anchor="ctr">
                    <a:lnR w="5715">
                      <a:solidFill>
                        <a:srgbClr val="D2DAD9"/>
                      </a:solidFill>
                      <a:prstDash val="solid"/>
                    </a:lnR>
                    <a:lnB w="5715">
                      <a:solidFill>
                        <a:srgbClr val="D2DAD9"/>
                      </a:solidFill>
                      <a:prstDash val="solid"/>
                    </a:lnB>
                    <a:solidFill>
                      <a:srgbClr val="E6F0ED"/>
                    </a:solidFill>
                  </a:tcPr>
                </a:tc>
                <a:tc>
                  <a:txBody>
                    <a:bodyPr lIns="95250" tIns="76200" rIns="95250" bIns="76200">
                      <a:noAutofit/>
                    </a:bodyPr>
                    <a:lstStyle/>
                    <a:p>
                      <a:pPr algn="ctr" rtl="0"/>
                      <a:r>
                        <a:rPr sz="1875" b="1" lang="en-US">
                          <a:solidFill>
                            <a:srgbClr val="172F3A"/>
                          </a:solidFill>
                          <a:latin typeface="DejaVu Sans"/>
                          <a:ea typeface="DejaVu Sans"/>
                          <a:cs typeface="DejaVu Sans"/>
                        </a:rPr>
                        <a:t>Benaloh</a:t>
                      </a:r>
                    </a:p>
                  </a:txBody>
                  <a:tcPr marL="91440" marR="91440" marT="45720" marB="45720" anchor="ctr">
                    <a:lnR w="5715">
                      <a:solidFill>
                        <a:srgbClr val="D2DAD9"/>
                      </a:solidFill>
                      <a:prstDash val="solid"/>
                    </a:lnR>
                    <a:lnB w="5715">
                      <a:solidFill>
                        <a:srgbClr val="D2DAD9"/>
                      </a:solidFill>
                      <a:prstDash val="solid"/>
                    </a:lnB>
                    <a:solidFill>
                      <a:srgbClr val="E6F0ED"/>
                    </a:solidFill>
                  </a:tcPr>
                </a:tc>
              </a:tr>
              <a:tr h="688181">
                <a:tc>
                  <a:txBody>
                    <a:bodyPr lIns="95250" tIns="76200" rIns="95250" bIns="76200">
                      <a:noAutofit/>
                    </a:bodyPr>
                    <a:lstStyle/>
                    <a:p>
                      <a:pPr algn="ctr" rtl="1"/>
                      <a:r>
                        <a:rPr sz="1875" b="0" lang="fa-IR">
                          <a:solidFill>
                            <a:srgbClr val="172F3A"/>
                          </a:solidFill>
                          <a:latin typeface="DejaVu Sans"/>
                          <a:ea typeface="DejaVu Sans"/>
                          <a:cs typeface="DejaVu Sans"/>
                        </a:rPr>
                        <a:t>سازگار با عملیات مورد نیاز</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1"/>
                      <a:r>
                        <a:rPr sz="1875" b="0" lang="fa-IR">
                          <a:solidFill>
                            <a:srgbClr val="172F3A"/>
                          </a:solidFill>
                          <a:latin typeface="DejaVu Sans"/>
                          <a:ea typeface="DejaVu Sans"/>
                          <a:cs typeface="DejaVu Sans"/>
                        </a:rPr>
                        <a:t>جمعی</a:t>
                      </a:r>
                    </a:p>
                  </a:txBody>
                  <a:tcPr marL="91440" marR="91440" marT="45720" marB="45720" anchor="ctr">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875" b="0" lang="en-US">
                          <a:solidFill>
                            <a:srgbClr val="172F3A"/>
                          </a:solidFill>
                          <a:latin typeface="DejaVu Sans"/>
                          <a:ea typeface="DejaVu Sans"/>
                          <a:cs typeface="DejaVu Sans"/>
                        </a:rPr>
                        <a:t>Paillier / Damgård–Jurik</a:t>
                      </a:r>
                    </a:p>
                  </a:txBody>
                  <a:tcPr marL="91440" marR="91440" marT="45720" marB="45720" anchor="ctr">
                    <a:lnR w="5715">
                      <a:solidFill>
                        <a:srgbClr val="D2DAD9"/>
                      </a:solidFill>
                      <a:prstDash val="solid"/>
                    </a:lnR>
                    <a:lnB w="5715">
                      <a:solidFill>
                        <a:srgbClr val="D2DAD9"/>
                      </a:solidFill>
                      <a:prstDash val="solid"/>
                    </a:lnB>
                    <a:solidFill>
                      <a:srgbClr val="F7F6F2"/>
                    </a:solidFill>
                  </a:tcPr>
                </a:tc>
              </a:tr>
              <a:tr h="688181">
                <a:tc>
                  <a:txBody>
                    <a:bodyPr lIns="95250" tIns="76200" rIns="95250" bIns="76200">
                      <a:noAutofit/>
                    </a:bodyPr>
                    <a:lstStyle/>
                    <a:p>
                      <a:pPr algn="ctr" rtl="1"/>
                      <a:r>
                        <a:rPr sz="1875" b="0" lang="fa-IR">
                          <a:solidFill>
                            <a:srgbClr val="172F3A"/>
                          </a:solidFill>
                          <a:latin typeface="DejaVu Sans"/>
                          <a:ea typeface="DejaVu Sans"/>
                          <a:cs typeface="DejaVu Sans"/>
                        </a:rPr>
                        <a:t>نیازمند سازوکار متفاوت</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1"/>
                      <a:r>
                        <a:rPr sz="1875" b="0" lang="fa-IR">
                          <a:solidFill>
                            <a:srgbClr val="172F3A"/>
                          </a:solidFill>
                          <a:latin typeface="DejaVu Sans"/>
                          <a:ea typeface="DejaVu Sans"/>
                          <a:cs typeface="DejaVu Sans"/>
                        </a:rPr>
                        <a:t>ضربی</a:t>
                      </a:r>
                    </a:p>
                  </a:txBody>
                  <a:tcPr marL="91440" marR="91440" marT="45720" marB="45720" anchor="ctr">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1"/>
                      <a:r>
                        <a:rPr sz="1875" b="0" lang="fa-IR">
                          <a:solidFill>
                            <a:srgbClr val="172F3A"/>
                          </a:solidFill>
                          <a:latin typeface="DejaVu Sans"/>
                          <a:ea typeface="DejaVu Sans"/>
                          <a:cs typeface="DejaVu Sans"/>
                        </a:rPr>
                        <a:t>ElGamal / RSA پایه</a:t>
                      </a:r>
                    </a:p>
                  </a:txBody>
                  <a:tcPr marL="91440" marR="91440" marT="45720" marB="45720" anchor="ctr">
                    <a:lnR w="5715">
                      <a:solidFill>
                        <a:srgbClr val="D2DAD9"/>
                      </a:solidFill>
                      <a:prstDash val="solid"/>
                    </a:lnR>
                    <a:lnB w="5715">
                      <a:solidFill>
                        <a:srgbClr val="D2DAD9"/>
                      </a:solidFill>
                      <a:prstDash val="solid"/>
                    </a:lnB>
                    <a:solidFill>
                      <a:srgbClr val="F7F6F2"/>
                    </a:solidFill>
                  </a:tcPr>
                </a:tc>
              </a:tr>
            </a:tbl>
          </a:graphicData>
        </a:graphic>
      </p:graphicFrame>
      <p:sp>
        <p:nvSpPr>
          <p:cNvPr id="4" name="ltr_text_2">
            <a:extLst xmlns:a="http://schemas.openxmlformats.org/drawingml/2006/main">
              <a:ext uri="{FF2B5EF4-FFF2-40B4-BE49-F238E27FC236}">
                <a16:creationId xmlns:a16="http://schemas.microsoft.com/office/drawing/2014/main" id="{E39628EB-FD00-4C68-B0CF-E7B05274AF52}"/>
              </a:ext>
            </a:extLst>
          </p:cNvPr>
          <p:cNvSpPr>
            <a:spLocks xmlns:a="http://schemas.openxmlformats.org/drawingml/2006/main" noGrp="1"/>
          </p:cNvSpPr>
          <p:nvPr/>
        </p:nvSpPr>
        <p:spPr>
          <a:xfrm xmlns:a="http://schemas.openxmlformats.org/drawingml/2006/main">
            <a:off x="609600" y="4933950"/>
            <a:ext cx="4476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650" b="1">
                <a:solidFill>
                  <a:srgbClr val="087E83"/>
                </a:solidFill>
                <a:latin typeface="DejaVu Sans"/>
                <a:ea typeface="DejaVu Sans"/>
                <a:cs typeface="DejaVu Sans"/>
              </a:defRPr>
            </a:defPPr>
          </a:lstStyle>
          <a:p xmlns:a="http://schemas.openxmlformats.org/drawingml/2006/main">
            <a:pPr algn="ctr" rtl="0">
              <a:defRPr sz="4650" b="1">
                <a:solidFill>
                  <a:srgbClr val="087E83"/>
                </a:solidFill>
                <a:latin typeface="DejaVu Sans"/>
                <a:ea typeface="DejaVu Sans"/>
                <a:cs typeface="DejaVu Sans"/>
              </a:defRPr>
            </a:pPr>
            <a:r>
              <a:rPr sz="4650" b="1" lang="en-US">
                <a:solidFill>
                  <a:srgbClr val="087E83"/>
                </a:solidFill>
                <a:latin typeface="DejaVu Sans"/>
                <a:ea typeface="DejaVu Sans"/>
                <a:cs typeface="DejaVu Sans"/>
              </a:rPr>
              <a:t>376 ms</a:t>
            </a:r>
          </a:p>
        </p:txBody>
      </p:sp>
      <p:sp>
        <p:nvSpPr>
          <p:cNvPr id="5" name="rtl_text_3">
            <a:extLst xmlns:a="http://schemas.openxmlformats.org/drawingml/2006/main">
              <a:ext uri="{FF2B5EF4-FFF2-40B4-BE49-F238E27FC236}">
                <a16:creationId xmlns:a16="http://schemas.microsoft.com/office/drawing/2014/main" id="{05DED3A9-62F5-482D-85A8-7AE8755D252A}"/>
              </a:ext>
            </a:extLst>
          </p:cNvPr>
          <p:cNvSpPr>
            <a:spLocks xmlns:a="http://schemas.openxmlformats.org/drawingml/2006/main" noGrp="1"/>
          </p:cNvSpPr>
          <p:nvPr/>
        </p:nvSpPr>
        <p:spPr>
          <a:xfrm xmlns:a="http://schemas.openxmlformats.org/drawingml/2006/main">
            <a:off x="5372100" y="5010150"/>
            <a:ext cx="62103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950" b="0">
                <a:solidFill>
                  <a:srgbClr val="546973"/>
                </a:solidFill>
                <a:latin typeface="DejaVu Sans"/>
                <a:ea typeface="DejaVu Sans"/>
                <a:cs typeface="DejaVu Sans"/>
              </a:defRPr>
            </a:defPPr>
          </a:lstStyle>
          <a:p xmlns:a="http://schemas.openxmlformats.org/drawingml/2006/main">
            <a:pPr algn="r" rtl="1">
              <a:defRPr sz="1950" b="0">
                <a:solidFill>
                  <a:srgbClr val="546973"/>
                </a:solidFill>
                <a:latin typeface="DejaVu Sans"/>
                <a:ea typeface="DejaVu Sans"/>
                <a:cs typeface="DejaVu Sans"/>
              </a:defRPr>
            </a:pPr>
            <a:r>
              <a:rPr sz="1950" b="0" lang="fa-IR">
                <a:solidFill>
                  <a:srgbClr val="546973"/>
                </a:solidFill>
                <a:latin typeface="DejaVu Sans"/>
                <a:ea typeface="DejaVu Sans"/>
                <a:cs typeface="DejaVu Sans"/>
              </a:rPr>
              <a:t>زمان کل Benaloh در مقایسه فصل سوم</a:t>
            </a:r>
          </a:p>
          <a:p xmlns:a="http://schemas.openxmlformats.org/drawingml/2006/main">
            <a:pPr algn="r" rtl="1">
              <a:defRPr sz="1950" b="0">
                <a:solidFill>
                  <a:srgbClr val="546973"/>
                </a:solidFill>
                <a:latin typeface="DejaVu Sans"/>
                <a:ea typeface="DejaVu Sans"/>
                <a:cs typeface="DejaVu Sans"/>
              </a:defRPr>
            </a:pPr>
            <a:r>
              <a:rPr sz="1950" b="0" lang="fa-IR">
                <a:solidFill>
                  <a:srgbClr val="546973"/>
                </a:solidFill>
                <a:latin typeface="DejaVu Sans"/>
                <a:ea typeface="DejaVu Sans"/>
                <a:cs typeface="DejaVu Sans"/>
              </a:rPr>
              <a:t>۱۰۰ کلاینت، کلید آزمایشی ۱۰۲۴ بیت</a:t>
            </a:r>
          </a:p>
        </p:txBody>
      </p:sp>
    </p:spTree>
    <p:extLst>
      <p:ext uri="{BB962C8B-B14F-4D97-AF65-F5344CB8AC3E}">
        <p14:creationId xmlns:p14="http://schemas.microsoft.com/office/powerpoint/2010/main" val="1471191834"/>
      </p:ext>
    </p:extLst>
  </p:cSld>
</p:sld>
</file>

<file path=ppt/slides/slide1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rtl_headline">
            <a:extLst xmlns:a="http://schemas.openxmlformats.org/drawingml/2006/main">
              <a:ext uri="{FF2B5EF4-FFF2-40B4-BE49-F238E27FC236}">
                <a16:creationId xmlns:a16="http://schemas.microsoft.com/office/drawing/2014/main" id="{905D8FEC-77EA-4454-89B9-6E2A390AC5D9}"/>
              </a:ext>
            </a:extLst>
          </p:cNvPr>
          <p:cNvSpPr>
            <a:spLocks xmlns:a="http://schemas.openxmlformats.org/drawingml/2006/main" noGrp="1"/>
          </p:cNvSpPr>
          <p:nvPr/>
        </p:nvSpPr>
        <p:spPr>
          <a:xfrm xmlns:a="http://schemas.openxmlformats.org/drawingml/2006/main">
            <a:off x="609600" y="4191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300" b="1">
                <a:solidFill>
                  <a:srgbClr val="172F3A"/>
                </a:solidFill>
                <a:latin typeface="DejaVu Sans"/>
                <a:ea typeface="DejaVu Sans"/>
                <a:cs typeface="DejaVu Sans"/>
              </a:defRPr>
            </a:defPPr>
          </a:lstStyle>
          <a:p xmlns:a="http://schemas.openxmlformats.org/drawingml/2006/main">
            <a:pPr algn="r" rtl="1">
              <a:defRPr sz="3300" b="1">
                <a:solidFill>
                  <a:srgbClr val="172F3A"/>
                </a:solidFill>
                <a:latin typeface="DejaVu Sans"/>
                <a:ea typeface="DejaVu Sans"/>
                <a:cs typeface="DejaVu Sans"/>
              </a:defRPr>
            </a:pPr>
            <a:r>
              <a:rPr sz="3300" b="1" lang="fa-IR">
                <a:solidFill>
                  <a:srgbClr val="172F3A"/>
                </a:solidFill>
                <a:latin typeface="DejaVu Sans"/>
                <a:ea typeface="DejaVu Sans"/>
                <a:cs typeface="DejaVu Sans"/>
              </a:rPr>
              <a:t>ساختار بسته SBHE-Benaloh</a:t>
            </a:r>
          </a:p>
        </p:txBody>
      </p:sp>
      <p:sp>
        <p:nvSpPr>
          <p:cNvPr id="2" name="ltr_page">
            <a:extLst xmlns:a="http://schemas.openxmlformats.org/drawingml/2006/main">
              <a:ext uri="{FF2B5EF4-FFF2-40B4-BE49-F238E27FC236}">
                <a16:creationId xmlns:a16="http://schemas.microsoft.com/office/drawing/2014/main" id="{D8BC35AA-DDC1-4C1C-AF7B-3A5893A5BED3}"/>
              </a:ext>
            </a:extLst>
          </p:cNvPr>
          <p:cNvSpPr>
            <a:spLocks xmlns:a="http://schemas.openxmlformats.org/drawingml/2006/main" noGrp="1"/>
          </p:cNvSpPr>
          <p:nvPr/>
        </p:nvSpPr>
        <p:spPr>
          <a:xfrm xmlns:a="http://schemas.openxmlformats.org/drawingml/2006/main">
            <a:off x="609600" y="63436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46973"/>
                </a:solidFill>
                <a:latin typeface="DejaVu Sans"/>
                <a:ea typeface="DejaVu Sans"/>
                <a:cs typeface="DejaVu Sans"/>
              </a:defRPr>
            </a:defPPr>
          </a:lstStyle>
          <a:p xmlns:a="http://schemas.openxmlformats.org/drawingml/2006/main">
            <a:pPr algn="l" rtl="0">
              <a:defRPr sz="1350" b="0">
                <a:solidFill>
                  <a:srgbClr val="546973"/>
                </a:solidFill>
                <a:latin typeface="DejaVu Sans"/>
                <a:ea typeface="DejaVu Sans"/>
                <a:cs typeface="DejaVu Sans"/>
              </a:defRPr>
            </a:pPr>
            <a:r>
              <a:rPr sz="1350" b="0" lang="en-US">
                <a:solidFill>
                  <a:srgbClr val="546973"/>
                </a:solidFill>
                <a:latin typeface="DejaVu Sans"/>
                <a:ea typeface="DejaVu Sans"/>
                <a:cs typeface="DejaVu Sans"/>
              </a:rPr>
              <a:t>12</a:t>
            </a:r>
          </a:p>
        </p:txBody>
      </p:sp>
      <p:sp>
        <p:nvSpPr>
          <p:cNvPr id="3" name="ltr_text_2">
            <a:extLst xmlns:a="http://schemas.openxmlformats.org/drawingml/2006/main">
              <a:ext uri="{FF2B5EF4-FFF2-40B4-BE49-F238E27FC236}">
                <a16:creationId xmlns:a16="http://schemas.microsoft.com/office/drawing/2014/main" id="{F6F4BE33-84AE-4248-B2E0-D0E800C0C732}"/>
              </a:ext>
            </a:extLst>
          </p:cNvPr>
          <p:cNvSpPr>
            <a:spLocks xmlns:a="http://schemas.openxmlformats.org/drawingml/2006/main" noGrp="1"/>
          </p:cNvSpPr>
          <p:nvPr/>
        </p:nvSpPr>
        <p:spPr>
          <a:xfrm xmlns:a="http://schemas.openxmlformats.org/drawingml/2006/main">
            <a:off x="609600" y="1581150"/>
            <a:ext cx="109728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550" b="1">
                <a:solidFill>
                  <a:srgbClr val="087E83"/>
                </a:solidFill>
                <a:latin typeface="DejaVu Sans"/>
                <a:ea typeface="DejaVu Sans"/>
                <a:cs typeface="DejaVu Sans"/>
              </a:defRPr>
            </a:defPPr>
          </a:lstStyle>
          <a:p xmlns:a="http://schemas.openxmlformats.org/drawingml/2006/main">
            <a:pPr algn="ctr" rtl="0">
              <a:defRPr sz="2550" b="1">
                <a:solidFill>
                  <a:srgbClr val="087E83"/>
                </a:solidFill>
                <a:latin typeface="DejaVu Sans"/>
                <a:ea typeface="DejaVu Sans"/>
                <a:cs typeface="DejaVu Sans"/>
              </a:defRPr>
            </a:pPr>
            <a:r>
              <a:rPr sz="2550" b="1" lang="en-US">
                <a:solidFill>
                  <a:srgbClr val="087E83"/>
                </a:solidFill>
                <a:latin typeface="DejaVu Sans"/>
                <a:ea typeface="DejaVu Sans"/>
                <a:cs typeface="DejaVu Sans"/>
              </a:rPr>
              <a:t>SCᵢ = (IDᵢ, RID, nonceᵢ, Cᵢ, wᵢ, σᵢ)</a:t>
            </a:r>
          </a:p>
        </p:txBody>
      </p:sp>
      <p:graphicFrame>
        <p:nvGraphicFramePr>
          <p:cNvPr id="4" name="">
            <a:extLst xmlns:a="http://schemas.openxmlformats.org/drawingml/2006/main">
              <a:ext uri="{FF2B5EF4-FFF2-40B4-BE49-F238E27FC236}">
                <a16:creationId xmlns:a16="http://schemas.microsoft.com/office/drawing/2014/main" id="{F0601339-CC5A-4202-B638-87C2FBF09E8A}"/>
              </a:ext>
            </a:extLst>
          </p:cNvPr>
          <p:cNvGraphicFramePr/>
          <p:nvPr/>
        </p:nvGraphicFramePr>
        <p:xfrm>
          <a:off xmlns:a="http://schemas.openxmlformats.org/drawingml/2006/main" x="609600" y="2505075"/>
          <a:ext xmlns:a="http://schemas.openxmlformats.org/drawingml/2006/main" cx="10972800" cy="2924175"/>
        </p:xfrm>
        <a:graphic xmlns:a="http://schemas.openxmlformats.org/drawingml/2006/main">
          <a:graphicData uri="http://schemas.openxmlformats.org/drawingml/2006/table">
            <a:tbl>
              <a:tblPr firstRow="0" bandRow="0"/>
              <a:tblGrid>
                <a:gridCol w="7886700"/>
                <a:gridCol w="3086100"/>
              </a:tblGrid>
              <a:tr h="584835">
                <a:tc>
                  <a:txBody>
                    <a:bodyPr lIns="95250" tIns="76200" rIns="95250" bIns="76200">
                      <a:noAutofit/>
                    </a:bodyPr>
                    <a:lstStyle/>
                    <a:p>
                      <a:pPr algn="ctr" rtl="1"/>
                      <a:r>
                        <a:rPr sz="1875" b="1" lang="fa-IR">
                          <a:solidFill>
                            <a:srgbClr val="FFFFFF"/>
                          </a:solidFill>
                          <a:latin typeface="DejaVu Sans"/>
                          <a:ea typeface="DejaVu Sans"/>
                          <a:cs typeface="DejaVu Sans"/>
                        </a:rPr>
                        <a:t>کارکرد</a:t>
                      </a:r>
                    </a:p>
                  </a:txBody>
                  <a:tcPr marL="91440" marR="91440" marT="45720" marB="45720" anchor="ctr">
                    <a:lnL w="5715">
                      <a:solidFill>
                        <a:srgbClr val="D2DAD9"/>
                      </a:solidFill>
                      <a:prstDash val="solid"/>
                    </a:lnL>
                    <a:lnR w="5715">
                      <a:solidFill>
                        <a:srgbClr val="D2DAD9"/>
                      </a:solidFill>
                      <a:prstDash val="solid"/>
                    </a:lnR>
                    <a:lnT w="5715">
                      <a:solidFill>
                        <a:srgbClr val="D2DAD9"/>
                      </a:solidFill>
                      <a:prstDash val="solid"/>
                    </a:lnT>
                    <a:lnB w="5715">
                      <a:solidFill>
                        <a:srgbClr val="D2DAD9"/>
                      </a:solidFill>
                      <a:prstDash val="solid"/>
                    </a:lnB>
                    <a:solidFill>
                      <a:srgbClr val="172F3A"/>
                    </a:solidFill>
                  </a:tcPr>
                </a:tc>
                <a:tc>
                  <a:txBody>
                    <a:bodyPr lIns="95250" tIns="76200" rIns="95250" bIns="76200">
                      <a:noAutofit/>
                    </a:bodyPr>
                    <a:lstStyle/>
                    <a:p>
                      <a:pPr algn="ctr" rtl="1"/>
                      <a:r>
                        <a:rPr sz="1875" b="1" lang="fa-IR">
                          <a:solidFill>
                            <a:srgbClr val="FFFFFF"/>
                          </a:solidFill>
                          <a:latin typeface="DejaVu Sans"/>
                          <a:ea typeface="DejaVu Sans"/>
                          <a:cs typeface="DejaVu Sans"/>
                        </a:rPr>
                        <a:t>فیلد</a:t>
                      </a:r>
                    </a:p>
                  </a:txBody>
                  <a:tcPr marL="91440" marR="91440" marT="45720" marB="45720" anchor="ctr">
                    <a:lnR w="5715">
                      <a:solidFill>
                        <a:srgbClr val="D2DAD9"/>
                      </a:solidFill>
                      <a:prstDash val="solid"/>
                    </a:lnR>
                    <a:lnT w="5715">
                      <a:solidFill>
                        <a:srgbClr val="D2DAD9"/>
                      </a:solidFill>
                      <a:prstDash val="solid"/>
                    </a:lnT>
                    <a:lnB w="5715">
                      <a:solidFill>
                        <a:srgbClr val="D2DAD9"/>
                      </a:solidFill>
                      <a:prstDash val="solid"/>
                    </a:lnB>
                    <a:solidFill>
                      <a:srgbClr val="172F3A"/>
                    </a:solidFill>
                  </a:tcPr>
                </a:tc>
              </a:tr>
              <a:tr h="584835">
                <a:tc>
                  <a:txBody>
                    <a:bodyPr lIns="95250" tIns="76200" rIns="95250" bIns="76200">
                      <a:noAutofit/>
                    </a:bodyPr>
                    <a:lstStyle/>
                    <a:p>
                      <a:pPr algn="ctr" rtl="1"/>
                      <a:r>
                        <a:rPr sz="1875" b="0" lang="fa-IR">
                          <a:solidFill>
                            <a:srgbClr val="172F3A"/>
                          </a:solidFill>
                          <a:latin typeface="DejaVu Sans"/>
                          <a:ea typeface="DejaVu Sans"/>
                          <a:cs typeface="DejaVu Sans"/>
                        </a:rPr>
                        <a:t>تطبیق با کلاینت مجاز</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875" b="0" lang="en-US">
                          <a:solidFill>
                            <a:srgbClr val="172F3A"/>
                          </a:solidFill>
                          <a:latin typeface="DejaVu Sans"/>
                          <a:ea typeface="DejaVu Sans"/>
                          <a:cs typeface="DejaVu Sans"/>
                        </a:rPr>
                        <a:t>IDᵢ</a:t>
                      </a:r>
                    </a:p>
                  </a:txBody>
                  <a:tcPr marL="91440" marR="91440" marT="45720" marB="45720" anchor="ctr">
                    <a:lnR w="5715">
                      <a:solidFill>
                        <a:srgbClr val="D2DAD9"/>
                      </a:solidFill>
                      <a:prstDash val="solid"/>
                    </a:lnR>
                    <a:lnB w="5715">
                      <a:solidFill>
                        <a:srgbClr val="D2DAD9"/>
                      </a:solidFill>
                      <a:prstDash val="solid"/>
                    </a:lnB>
                    <a:solidFill>
                      <a:srgbClr val="F7F6F2"/>
                    </a:solidFill>
                  </a:tcPr>
                </a:tc>
              </a:tr>
              <a:tr h="584835">
                <a:tc>
                  <a:txBody>
                    <a:bodyPr lIns="95250" tIns="76200" rIns="95250" bIns="76200">
                      <a:noAutofit/>
                    </a:bodyPr>
                    <a:lstStyle/>
                    <a:p>
                      <a:pPr algn="ctr" rtl="1"/>
                      <a:r>
                        <a:rPr sz="1875" b="0" lang="fa-IR">
                          <a:solidFill>
                            <a:srgbClr val="172F3A"/>
                          </a:solidFill>
                          <a:latin typeface="DejaVu Sans"/>
                          <a:ea typeface="DejaVu Sans"/>
                          <a:cs typeface="DejaVu Sans"/>
                        </a:rPr>
                        <a:t>تعیین دور و تشخیص تکرار</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875" b="0" lang="en-US">
                          <a:solidFill>
                            <a:srgbClr val="172F3A"/>
                          </a:solidFill>
                          <a:latin typeface="DejaVu Sans"/>
                          <a:ea typeface="DejaVu Sans"/>
                          <a:cs typeface="DejaVu Sans"/>
                        </a:rPr>
                        <a:t>RID, nonceᵢ</a:t>
                      </a:r>
                    </a:p>
                  </a:txBody>
                  <a:tcPr marL="91440" marR="91440" marT="45720" marB="45720" anchor="ctr">
                    <a:lnR w="5715">
                      <a:solidFill>
                        <a:srgbClr val="D2DAD9"/>
                      </a:solidFill>
                      <a:prstDash val="solid"/>
                    </a:lnR>
                    <a:lnB w="5715">
                      <a:solidFill>
                        <a:srgbClr val="D2DAD9"/>
                      </a:solidFill>
                      <a:prstDash val="solid"/>
                    </a:lnB>
                    <a:solidFill>
                      <a:srgbClr val="F7F6F2"/>
                    </a:solidFill>
                  </a:tcPr>
                </a:tc>
              </a:tr>
              <a:tr h="584835">
                <a:tc>
                  <a:txBody>
                    <a:bodyPr lIns="95250" tIns="76200" rIns="95250" bIns="76200">
                      <a:noAutofit/>
                    </a:bodyPr>
                    <a:lstStyle/>
                    <a:p>
                      <a:pPr algn="ctr" rtl="1"/>
                      <a:r>
                        <a:rPr sz="1875" b="0" lang="fa-IR">
                          <a:solidFill>
                            <a:srgbClr val="172F3A"/>
                          </a:solidFill>
                          <a:latin typeface="DejaVu Sans"/>
                          <a:ea typeface="DejaVu Sans"/>
                          <a:cs typeface="DejaVu Sans"/>
                        </a:rPr>
                        <a:t>رمز احتمال و وزن مشارکت</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875" b="0" lang="en-US">
                          <a:solidFill>
                            <a:srgbClr val="172F3A"/>
                          </a:solidFill>
                          <a:latin typeface="DejaVu Sans"/>
                          <a:ea typeface="DejaVu Sans"/>
                          <a:cs typeface="DejaVu Sans"/>
                        </a:rPr>
                        <a:t>Cᵢ, wᵢ</a:t>
                      </a:r>
                    </a:p>
                  </a:txBody>
                  <a:tcPr marL="91440" marR="91440" marT="45720" marB="45720" anchor="ctr">
                    <a:lnR w="5715">
                      <a:solidFill>
                        <a:srgbClr val="D2DAD9"/>
                      </a:solidFill>
                      <a:prstDash val="solid"/>
                    </a:lnR>
                    <a:lnB w="5715">
                      <a:solidFill>
                        <a:srgbClr val="D2DAD9"/>
                      </a:solidFill>
                      <a:prstDash val="solid"/>
                    </a:lnB>
                    <a:solidFill>
                      <a:srgbClr val="F7F6F2"/>
                    </a:solidFill>
                  </a:tcPr>
                </a:tc>
              </a:tr>
              <a:tr h="584835">
                <a:tc>
                  <a:txBody>
                    <a:bodyPr lIns="95250" tIns="76200" rIns="95250" bIns="76200">
                      <a:noAutofit/>
                    </a:bodyPr>
                    <a:lstStyle/>
                    <a:p>
                      <a:pPr algn="ctr" rtl="1"/>
                      <a:r>
                        <a:rPr sz="1875" b="0" lang="fa-IR">
                          <a:solidFill>
                            <a:srgbClr val="172F3A"/>
                          </a:solidFill>
                          <a:latin typeface="DejaVu Sans"/>
                          <a:ea typeface="DejaVu Sans"/>
                          <a:cs typeface="DejaVu Sans"/>
                        </a:rPr>
                        <a:t>احراز فرستنده و تمامیت بسته</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875" b="0" lang="en-US">
                          <a:solidFill>
                            <a:srgbClr val="172F3A"/>
                          </a:solidFill>
                          <a:latin typeface="DejaVu Sans"/>
                          <a:ea typeface="DejaVu Sans"/>
                          <a:cs typeface="DejaVu Sans"/>
                        </a:rPr>
                        <a:t>σᵢ</a:t>
                      </a:r>
                    </a:p>
                  </a:txBody>
                  <a:tcPr marL="91440" marR="91440" marT="45720" marB="45720" anchor="ctr">
                    <a:lnR w="5715">
                      <a:solidFill>
                        <a:srgbClr val="D2DAD9"/>
                      </a:solidFill>
                      <a:prstDash val="solid"/>
                    </a:lnR>
                    <a:lnB w="5715">
                      <a:solidFill>
                        <a:srgbClr val="D2DAD9"/>
                      </a:solidFill>
                      <a:prstDash val="solid"/>
                    </a:lnB>
                    <a:solidFill>
                      <a:srgbClr val="F7F6F2"/>
                    </a:solidFill>
                  </a:tcPr>
                </a:tc>
              </a:tr>
            </a:tbl>
          </a:graphicData>
        </a:graphic>
      </p:graphicFrame>
      <p:sp>
        <p:nvSpPr>
          <p:cNvPr id="5" name="rtl_text_3">
            <a:extLst xmlns:a="http://schemas.openxmlformats.org/drawingml/2006/main">
              <a:ext uri="{FF2B5EF4-FFF2-40B4-BE49-F238E27FC236}">
                <a16:creationId xmlns:a16="http://schemas.microsoft.com/office/drawing/2014/main" id="{C76A47F6-9C1F-4CE4-AAD0-4987083EE08A}"/>
              </a:ext>
            </a:extLst>
          </p:cNvPr>
          <p:cNvSpPr>
            <a:spLocks xmlns:a="http://schemas.openxmlformats.org/drawingml/2006/main" noGrp="1"/>
          </p:cNvSpPr>
          <p:nvPr/>
        </p:nvSpPr>
        <p:spPr>
          <a:xfrm xmlns:a="http://schemas.openxmlformats.org/drawingml/2006/main">
            <a:off x="609600" y="5753100"/>
            <a:ext cx="109728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025" b="1">
                <a:solidFill>
                  <a:srgbClr val="172F3A"/>
                </a:solidFill>
                <a:latin typeface="DejaVu Sans"/>
                <a:ea typeface="DejaVu Sans"/>
                <a:cs typeface="DejaVu Sans"/>
              </a:defRPr>
            </a:defPPr>
          </a:lstStyle>
          <a:p xmlns:a="http://schemas.openxmlformats.org/drawingml/2006/main">
            <a:pPr algn="r" rtl="1">
              <a:defRPr sz="2025" b="1">
                <a:solidFill>
                  <a:srgbClr val="172F3A"/>
                </a:solidFill>
                <a:latin typeface="DejaVu Sans"/>
                <a:ea typeface="DejaVu Sans"/>
                <a:cs typeface="DejaVu Sans"/>
              </a:defRPr>
            </a:pPr>
            <a:r>
              <a:rPr sz="2025" b="1" lang="fa-IR">
                <a:solidFill>
                  <a:srgbClr val="172F3A"/>
                </a:solidFill>
                <a:latin typeface="DejaVu Sans"/>
                <a:ea typeface="DejaVu Sans"/>
                <a:cs typeface="DejaVu Sans"/>
              </a:rPr>
              <a:t>تأیید امضا پیش از تجمیع، عملیات هم‌ریخت فقط روی Cᵢ</a:t>
            </a:r>
          </a:p>
        </p:txBody>
      </p:sp>
    </p:spTree>
    <p:extLst>
      <p:ext uri="{BB962C8B-B14F-4D97-AF65-F5344CB8AC3E}">
        <p14:creationId xmlns:p14="http://schemas.microsoft.com/office/powerpoint/2010/main" val="1332254994"/>
      </p:ext>
    </p:extLst>
  </p:cSld>
</p:sld>
</file>

<file path=ppt/slides/slide1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rtl_headline">
            <a:extLst xmlns:a="http://schemas.openxmlformats.org/drawingml/2006/main">
              <a:ext uri="{FF2B5EF4-FFF2-40B4-BE49-F238E27FC236}">
                <a16:creationId xmlns:a16="http://schemas.microsoft.com/office/drawing/2014/main" id="{52AFF588-61E4-4FDE-B68F-12FB1B8365BE}"/>
              </a:ext>
            </a:extLst>
          </p:cNvPr>
          <p:cNvSpPr>
            <a:spLocks xmlns:a="http://schemas.openxmlformats.org/drawingml/2006/main" noGrp="1"/>
          </p:cNvSpPr>
          <p:nvPr/>
        </p:nvSpPr>
        <p:spPr>
          <a:xfrm xmlns:a="http://schemas.openxmlformats.org/drawingml/2006/main">
            <a:off x="609600" y="4191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300" b="1">
                <a:solidFill>
                  <a:srgbClr val="172F3A"/>
                </a:solidFill>
                <a:latin typeface="DejaVu Sans"/>
                <a:ea typeface="DejaVu Sans"/>
                <a:cs typeface="DejaVu Sans"/>
              </a:defRPr>
            </a:defPPr>
          </a:lstStyle>
          <a:p xmlns:a="http://schemas.openxmlformats.org/drawingml/2006/main">
            <a:pPr algn="r" rtl="1">
              <a:defRPr sz="3300" b="1">
                <a:solidFill>
                  <a:srgbClr val="172F3A"/>
                </a:solidFill>
                <a:latin typeface="DejaVu Sans"/>
                <a:ea typeface="DejaVu Sans"/>
                <a:cs typeface="DejaVu Sans"/>
              </a:defRPr>
            </a:pPr>
            <a:r>
              <a:rPr sz="3300" b="1" lang="fa-IR">
                <a:solidFill>
                  <a:srgbClr val="172F3A"/>
                </a:solidFill>
                <a:latin typeface="DejaVu Sans"/>
                <a:ea typeface="DejaVu Sans"/>
                <a:cs typeface="DejaVu Sans"/>
              </a:rPr>
              <a:t>اعتبارسنجی پیش از تجمیع</a:t>
            </a:r>
          </a:p>
        </p:txBody>
      </p:sp>
      <p:sp>
        <p:nvSpPr>
          <p:cNvPr id="2" name="ltr_page">
            <a:extLst xmlns:a="http://schemas.openxmlformats.org/drawingml/2006/main">
              <a:ext uri="{FF2B5EF4-FFF2-40B4-BE49-F238E27FC236}">
                <a16:creationId xmlns:a16="http://schemas.microsoft.com/office/drawing/2014/main" id="{4BAEAD92-32EA-466E-8A1A-D6811EE4AF92}"/>
              </a:ext>
            </a:extLst>
          </p:cNvPr>
          <p:cNvSpPr>
            <a:spLocks xmlns:a="http://schemas.openxmlformats.org/drawingml/2006/main" noGrp="1"/>
          </p:cNvSpPr>
          <p:nvPr/>
        </p:nvSpPr>
        <p:spPr>
          <a:xfrm xmlns:a="http://schemas.openxmlformats.org/drawingml/2006/main">
            <a:off x="609600" y="63436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46973"/>
                </a:solidFill>
                <a:latin typeface="DejaVu Sans"/>
                <a:ea typeface="DejaVu Sans"/>
                <a:cs typeface="DejaVu Sans"/>
              </a:defRPr>
            </a:defPPr>
          </a:lstStyle>
          <a:p xmlns:a="http://schemas.openxmlformats.org/drawingml/2006/main">
            <a:pPr algn="l" rtl="0">
              <a:defRPr sz="1350" b="0">
                <a:solidFill>
                  <a:srgbClr val="546973"/>
                </a:solidFill>
                <a:latin typeface="DejaVu Sans"/>
                <a:ea typeface="DejaVu Sans"/>
                <a:cs typeface="DejaVu Sans"/>
              </a:defRPr>
            </a:pPr>
            <a:r>
              <a:rPr sz="1350" b="0" lang="en-US">
                <a:solidFill>
                  <a:srgbClr val="546973"/>
                </a:solidFill>
                <a:latin typeface="DejaVu Sans"/>
                <a:ea typeface="DejaVu Sans"/>
                <a:cs typeface="DejaVu Sans"/>
              </a:rPr>
              <a:t>13</a:t>
            </a:r>
          </a:p>
        </p:txBody>
      </p:sp>
      <p:graphicFrame>
        <p:nvGraphicFramePr>
          <p:cNvPr id="3" name="">
            <a:extLst xmlns:a="http://schemas.openxmlformats.org/drawingml/2006/main">
              <a:ext uri="{FF2B5EF4-FFF2-40B4-BE49-F238E27FC236}">
                <a16:creationId xmlns:a16="http://schemas.microsoft.com/office/drawing/2014/main" id="{02DCF95A-0B87-4936-8418-D0802B78ECCB}"/>
              </a:ext>
            </a:extLst>
          </p:cNvPr>
          <p:cNvGraphicFramePr/>
          <p:nvPr/>
        </p:nvGraphicFramePr>
        <p:xfrm>
          <a:off xmlns:a="http://schemas.openxmlformats.org/drawingml/2006/main" x="609600" y="1743075"/>
          <a:ext xmlns:a="http://schemas.openxmlformats.org/drawingml/2006/main" cx="10972800" cy="3238500"/>
        </p:xfrm>
        <a:graphic xmlns:a="http://schemas.openxmlformats.org/drawingml/2006/main">
          <a:graphicData uri="http://schemas.openxmlformats.org/drawingml/2006/table">
            <a:tbl>
              <a:tblPr firstRow="0" bandRow="0"/>
              <a:tblGrid>
                <a:gridCol w="6991350"/>
                <a:gridCol w="3981450"/>
              </a:tblGrid>
              <a:tr h="647700">
                <a:tc>
                  <a:txBody>
                    <a:bodyPr lIns="95250" tIns="76200" rIns="95250" bIns="76200">
                      <a:noAutofit/>
                    </a:bodyPr>
                    <a:lstStyle/>
                    <a:p>
                      <a:pPr algn="ctr" rtl="1"/>
                      <a:r>
                        <a:rPr sz="1950" b="1" lang="fa-IR">
                          <a:solidFill>
                            <a:srgbClr val="FFFFFF"/>
                          </a:solidFill>
                          <a:latin typeface="DejaVu Sans"/>
                          <a:ea typeface="DejaVu Sans"/>
                          <a:cs typeface="DejaVu Sans"/>
                        </a:rPr>
                        <a:t>کنترل سرور</a:t>
                      </a:r>
                    </a:p>
                  </a:txBody>
                  <a:tcPr marL="91440" marR="91440" marT="45720" marB="45720" anchor="ctr">
                    <a:lnL w="5715">
                      <a:solidFill>
                        <a:srgbClr val="D2DAD9"/>
                      </a:solidFill>
                      <a:prstDash val="solid"/>
                    </a:lnL>
                    <a:lnR w="5715">
                      <a:solidFill>
                        <a:srgbClr val="D2DAD9"/>
                      </a:solidFill>
                      <a:prstDash val="solid"/>
                    </a:lnR>
                    <a:lnT w="5715">
                      <a:solidFill>
                        <a:srgbClr val="D2DAD9"/>
                      </a:solidFill>
                      <a:prstDash val="solid"/>
                    </a:lnT>
                    <a:lnB w="5715">
                      <a:solidFill>
                        <a:srgbClr val="D2DAD9"/>
                      </a:solidFill>
                      <a:prstDash val="solid"/>
                    </a:lnB>
                    <a:solidFill>
                      <a:srgbClr val="172F3A"/>
                    </a:solidFill>
                  </a:tcPr>
                </a:tc>
                <a:tc>
                  <a:txBody>
                    <a:bodyPr lIns="95250" tIns="76200" rIns="95250" bIns="76200">
                      <a:noAutofit/>
                    </a:bodyPr>
                    <a:lstStyle/>
                    <a:p>
                      <a:pPr algn="ctr" rtl="1"/>
                      <a:r>
                        <a:rPr sz="1950" b="1" lang="fa-IR">
                          <a:solidFill>
                            <a:srgbClr val="FFFFFF"/>
                          </a:solidFill>
                          <a:latin typeface="DejaVu Sans"/>
                          <a:ea typeface="DejaVu Sans"/>
                          <a:cs typeface="DejaVu Sans"/>
                        </a:rPr>
                        <a:t>تهدید در کانال</a:t>
                      </a:r>
                    </a:p>
                  </a:txBody>
                  <a:tcPr marL="91440" marR="91440" marT="45720" marB="45720" anchor="ctr">
                    <a:lnR w="5715">
                      <a:solidFill>
                        <a:srgbClr val="D2DAD9"/>
                      </a:solidFill>
                      <a:prstDash val="solid"/>
                    </a:lnR>
                    <a:lnT w="5715">
                      <a:solidFill>
                        <a:srgbClr val="D2DAD9"/>
                      </a:solidFill>
                      <a:prstDash val="solid"/>
                    </a:lnT>
                    <a:lnB w="5715">
                      <a:solidFill>
                        <a:srgbClr val="D2DAD9"/>
                      </a:solidFill>
                      <a:prstDash val="solid"/>
                    </a:lnB>
                    <a:solidFill>
                      <a:srgbClr val="172F3A"/>
                    </a:solidFill>
                  </a:tcPr>
                </a:tc>
              </a:tr>
              <a:tr h="647700">
                <a:tc>
                  <a:txBody>
                    <a:bodyPr lIns="95250" tIns="76200" rIns="95250" bIns="76200">
                      <a:noAutofit/>
                    </a:bodyPr>
                    <a:lstStyle/>
                    <a:p>
                      <a:pPr algn="ctr" rtl="1"/>
                      <a:r>
                        <a:rPr sz="1950" b="0" lang="fa-IR">
                          <a:solidFill>
                            <a:srgbClr val="172F3A"/>
                          </a:solidFill>
                          <a:latin typeface="DejaVu Sans"/>
                          <a:ea typeface="DejaVu Sans"/>
                          <a:cs typeface="DejaVu Sans"/>
                        </a:rPr>
                        <a:t>ثبت کلید عمومی و تأیید امضا</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1"/>
                      <a:r>
                        <a:rPr sz="1950" b="0" lang="fa-IR">
                          <a:solidFill>
                            <a:srgbClr val="172F3A"/>
                          </a:solidFill>
                          <a:latin typeface="DejaVu Sans"/>
                          <a:ea typeface="DejaVu Sans"/>
                          <a:cs typeface="DejaVu Sans"/>
                        </a:rPr>
                        <a:t>فرستنده غیرمجاز</a:t>
                      </a:r>
                    </a:p>
                  </a:txBody>
                  <a:tcPr marL="91440" marR="91440" marT="45720" marB="45720" anchor="ctr">
                    <a:lnR w="5715">
                      <a:solidFill>
                        <a:srgbClr val="D2DAD9"/>
                      </a:solidFill>
                      <a:prstDash val="solid"/>
                    </a:lnR>
                    <a:lnB w="5715">
                      <a:solidFill>
                        <a:srgbClr val="D2DAD9"/>
                      </a:solidFill>
                      <a:prstDash val="solid"/>
                    </a:lnB>
                    <a:solidFill>
                      <a:srgbClr val="F7F6F2"/>
                    </a:solidFill>
                  </a:tcPr>
                </a:tc>
              </a:tr>
              <a:tr h="647700">
                <a:tc>
                  <a:txBody>
                    <a:bodyPr lIns="95250" tIns="76200" rIns="95250" bIns="76200">
                      <a:noAutofit/>
                    </a:bodyPr>
                    <a:lstStyle/>
                    <a:p>
                      <a:pPr algn="ctr" rtl="1"/>
                      <a:r>
                        <a:rPr sz="1950" b="0" lang="fa-IR">
                          <a:solidFill>
                            <a:srgbClr val="172F3A"/>
                          </a:solidFill>
                          <a:latin typeface="DejaVu Sans"/>
                          <a:ea typeface="DejaVu Sans"/>
                          <a:cs typeface="DejaVu Sans"/>
                        </a:rPr>
                        <a:t>امضا روی متن رمز و وزن</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1"/>
                      <a:r>
                        <a:rPr sz="1950" b="0" lang="fa-IR">
                          <a:solidFill>
                            <a:srgbClr val="172F3A"/>
                          </a:solidFill>
                          <a:latin typeface="DejaVu Sans"/>
                          <a:ea typeface="DejaVu Sans"/>
                          <a:cs typeface="DejaVu Sans"/>
                        </a:rPr>
                        <a:t>تغییر Cᵢ یا wᵢ</a:t>
                      </a:r>
                    </a:p>
                  </a:txBody>
                  <a:tcPr marL="91440" marR="91440" marT="45720" marB="45720" anchor="ctr">
                    <a:lnR w="5715">
                      <a:solidFill>
                        <a:srgbClr val="D2DAD9"/>
                      </a:solidFill>
                      <a:prstDash val="solid"/>
                    </a:lnR>
                    <a:lnB w="5715">
                      <a:solidFill>
                        <a:srgbClr val="D2DAD9"/>
                      </a:solidFill>
                      <a:prstDash val="solid"/>
                    </a:lnB>
                    <a:solidFill>
                      <a:srgbClr val="F7F6F2"/>
                    </a:solidFill>
                  </a:tcPr>
                </a:tc>
              </a:tr>
              <a:tr h="647700">
                <a:tc>
                  <a:txBody>
                    <a:bodyPr lIns="95250" tIns="76200" rIns="95250" bIns="76200">
                      <a:noAutofit/>
                    </a:bodyPr>
                    <a:lstStyle/>
                    <a:p>
                      <a:pPr algn="ctr" rtl="1"/>
                      <a:r>
                        <a:rPr sz="1950" b="0" lang="fa-IR">
                          <a:solidFill>
                            <a:srgbClr val="172F3A"/>
                          </a:solidFill>
                          <a:latin typeface="DejaVu Sans"/>
                          <a:ea typeface="DejaVu Sans"/>
                          <a:cs typeface="DejaVu Sans"/>
                        </a:rPr>
                        <a:t>تطبیق RID با دور جاری</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1"/>
                      <a:r>
                        <a:rPr sz="1950" b="0" lang="fa-IR">
                          <a:solidFill>
                            <a:srgbClr val="172F3A"/>
                          </a:solidFill>
                          <a:latin typeface="DejaVu Sans"/>
                          <a:ea typeface="DejaVu Sans"/>
                          <a:cs typeface="DejaVu Sans"/>
                        </a:rPr>
                        <a:t>بازپخش از دور گذشته</a:t>
                      </a:r>
                    </a:p>
                  </a:txBody>
                  <a:tcPr marL="91440" marR="91440" marT="45720" marB="45720" anchor="ctr">
                    <a:lnR w="5715">
                      <a:solidFill>
                        <a:srgbClr val="D2DAD9"/>
                      </a:solidFill>
                      <a:prstDash val="solid"/>
                    </a:lnR>
                    <a:lnB w="5715">
                      <a:solidFill>
                        <a:srgbClr val="D2DAD9"/>
                      </a:solidFill>
                      <a:prstDash val="solid"/>
                    </a:lnB>
                    <a:solidFill>
                      <a:srgbClr val="F7F6F2"/>
                    </a:solidFill>
                  </a:tcPr>
                </a:tc>
              </a:tr>
              <a:tr h="647700">
                <a:tc>
                  <a:txBody>
                    <a:bodyPr lIns="95250" tIns="76200" rIns="95250" bIns="76200">
                      <a:noAutofit/>
                    </a:bodyPr>
                    <a:lstStyle/>
                    <a:p>
                      <a:pPr algn="ctr" rtl="1"/>
                      <a:r>
                        <a:rPr sz="1950" b="0" lang="fa-IR">
                          <a:solidFill>
                            <a:srgbClr val="172F3A"/>
                          </a:solidFill>
                          <a:latin typeface="DejaVu Sans"/>
                          <a:ea typeface="DejaVu Sans"/>
                          <a:cs typeface="DejaVu Sans"/>
                        </a:rPr>
                        <a:t>ثبت ترکیب IDᵢ، RID و nonceᵢ</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1"/>
                      <a:r>
                        <a:rPr sz="1950" b="0" lang="fa-IR">
                          <a:solidFill>
                            <a:srgbClr val="172F3A"/>
                          </a:solidFill>
                          <a:latin typeface="DejaVu Sans"/>
                          <a:ea typeface="DejaVu Sans"/>
                          <a:cs typeface="DejaVu Sans"/>
                        </a:rPr>
                        <a:t>تکرار بسته در همان دور</a:t>
                      </a:r>
                    </a:p>
                  </a:txBody>
                  <a:tcPr marL="91440" marR="91440" marT="45720" marB="45720" anchor="ctr">
                    <a:lnR w="5715">
                      <a:solidFill>
                        <a:srgbClr val="D2DAD9"/>
                      </a:solidFill>
                      <a:prstDash val="solid"/>
                    </a:lnR>
                    <a:lnB w="5715">
                      <a:solidFill>
                        <a:srgbClr val="D2DAD9"/>
                      </a:solidFill>
                      <a:prstDash val="solid"/>
                    </a:lnB>
                    <a:solidFill>
                      <a:srgbClr val="F7F6F2"/>
                    </a:solidFill>
                  </a:tcPr>
                </a:tc>
              </a:tr>
            </a:tbl>
          </a:graphicData>
        </a:graphic>
      </p:graphicFrame>
      <p:sp>
        <p:nvSpPr>
          <p:cNvPr id="4" name="rtl_text_2">
            <a:extLst xmlns:a="http://schemas.openxmlformats.org/drawingml/2006/main">
              <a:ext uri="{FF2B5EF4-FFF2-40B4-BE49-F238E27FC236}">
                <a16:creationId xmlns:a16="http://schemas.microsoft.com/office/drawing/2014/main" id="{4E646DF9-41FE-43E7-ACC6-8DBAB42843DF}"/>
              </a:ext>
            </a:extLst>
          </p:cNvPr>
          <p:cNvSpPr>
            <a:spLocks xmlns:a="http://schemas.openxmlformats.org/drawingml/2006/main" noGrp="1"/>
          </p:cNvSpPr>
          <p:nvPr/>
        </p:nvSpPr>
        <p:spPr>
          <a:xfrm xmlns:a="http://schemas.openxmlformats.org/drawingml/2006/main">
            <a:off x="609600" y="5476875"/>
            <a:ext cx="109728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250" b="1">
                <a:solidFill>
                  <a:srgbClr val="087E83"/>
                </a:solidFill>
                <a:latin typeface="DejaVu Sans"/>
                <a:ea typeface="DejaVu Sans"/>
                <a:cs typeface="DejaVu Sans"/>
              </a:defRPr>
            </a:defPPr>
          </a:lstStyle>
          <a:p xmlns:a="http://schemas.openxmlformats.org/drawingml/2006/main">
            <a:pPr algn="r" rtl="1">
              <a:defRPr sz="2250" b="1">
                <a:solidFill>
                  <a:srgbClr val="087E83"/>
                </a:solidFill>
                <a:latin typeface="DejaVu Sans"/>
                <a:ea typeface="DejaVu Sans"/>
                <a:cs typeface="DejaVu Sans"/>
              </a:defRPr>
            </a:pPr>
            <a:r>
              <a:rPr sz="2250" b="1" lang="fa-IR">
                <a:solidFill>
                  <a:srgbClr val="087E83"/>
                </a:solidFill>
                <a:latin typeface="DejaVu Sans"/>
                <a:ea typeface="DejaVu Sans"/>
                <a:cs typeface="DejaVu Sans"/>
              </a:rPr>
              <a:t>خروجی مرحله پذیرش: مجموعه کلاینت‌های معتبر A</a:t>
            </a:r>
          </a:p>
        </p:txBody>
      </p:sp>
    </p:spTree>
    <p:extLst>
      <p:ext uri="{BB962C8B-B14F-4D97-AF65-F5344CB8AC3E}">
        <p14:creationId xmlns:p14="http://schemas.microsoft.com/office/powerpoint/2010/main" val="1409038229"/>
      </p:ext>
    </p:extLst>
  </p:cSld>
</p:sld>
</file>

<file path=ppt/slides/slide1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 name="rtl_headline">
            <a:extLst xmlns:a="http://schemas.openxmlformats.org/drawingml/2006/main">
              <a:ext uri="{FF2B5EF4-FFF2-40B4-BE49-F238E27FC236}">
                <a16:creationId xmlns:a16="http://schemas.microsoft.com/office/drawing/2014/main" id="{3CD03A68-1740-4BA5-A5D8-A9D271C69BC6}"/>
              </a:ext>
            </a:extLst>
          </p:cNvPr>
          <p:cNvSpPr>
            <a:spLocks xmlns:a="http://schemas.openxmlformats.org/drawingml/2006/main" noGrp="1"/>
          </p:cNvSpPr>
          <p:nvPr/>
        </p:nvSpPr>
        <p:spPr>
          <a:xfrm xmlns:a="http://schemas.openxmlformats.org/drawingml/2006/main">
            <a:off x="609600" y="4191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300" b="1">
                <a:solidFill>
                  <a:srgbClr val="172F3A"/>
                </a:solidFill>
                <a:latin typeface="DejaVu Sans"/>
                <a:ea typeface="DejaVu Sans"/>
                <a:cs typeface="DejaVu Sans"/>
              </a:defRPr>
            </a:defPPr>
          </a:lstStyle>
          <a:p xmlns:a="http://schemas.openxmlformats.org/drawingml/2006/main">
            <a:pPr algn="r" rtl="1">
              <a:defRPr sz="3300" b="1">
                <a:solidFill>
                  <a:srgbClr val="172F3A"/>
                </a:solidFill>
                <a:latin typeface="DejaVu Sans"/>
                <a:ea typeface="DejaVu Sans"/>
                <a:cs typeface="DejaVu Sans"/>
              </a:defRPr>
            </a:pPr>
            <a:r>
              <a:rPr sz="3300" b="1" lang="fa-IR">
                <a:solidFill>
                  <a:srgbClr val="172F3A"/>
                </a:solidFill>
                <a:latin typeface="DejaVu Sans"/>
                <a:ea typeface="DejaVu Sans"/>
                <a:cs typeface="DejaVu Sans"/>
              </a:rPr>
              <a:t>میانگین وزنی در فضای رمز</a:t>
            </a:r>
          </a:p>
        </p:txBody>
      </p:sp>
      <p:sp>
        <p:nvSpPr>
          <p:cNvPr id="2" name="ltr_page">
            <a:extLst xmlns:a="http://schemas.openxmlformats.org/drawingml/2006/main">
              <a:ext uri="{FF2B5EF4-FFF2-40B4-BE49-F238E27FC236}">
                <a16:creationId xmlns:a16="http://schemas.microsoft.com/office/drawing/2014/main" id="{D35B5ED7-0FFF-49AA-B039-EC2208652C19}"/>
              </a:ext>
            </a:extLst>
          </p:cNvPr>
          <p:cNvSpPr>
            <a:spLocks xmlns:a="http://schemas.openxmlformats.org/drawingml/2006/main" noGrp="1"/>
          </p:cNvSpPr>
          <p:nvPr/>
        </p:nvSpPr>
        <p:spPr>
          <a:xfrm xmlns:a="http://schemas.openxmlformats.org/drawingml/2006/main">
            <a:off x="609600" y="63436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46973"/>
                </a:solidFill>
                <a:latin typeface="DejaVu Sans"/>
                <a:ea typeface="DejaVu Sans"/>
                <a:cs typeface="DejaVu Sans"/>
              </a:defRPr>
            </a:defPPr>
          </a:lstStyle>
          <a:p xmlns:a="http://schemas.openxmlformats.org/drawingml/2006/main">
            <a:pPr algn="l" rtl="0">
              <a:defRPr sz="1350" b="0">
                <a:solidFill>
                  <a:srgbClr val="546973"/>
                </a:solidFill>
                <a:latin typeface="DejaVu Sans"/>
                <a:ea typeface="DejaVu Sans"/>
                <a:cs typeface="DejaVu Sans"/>
              </a:defRPr>
            </a:pPr>
            <a:r>
              <a:rPr sz="1350" b="0" lang="en-US">
                <a:solidFill>
                  <a:srgbClr val="546973"/>
                </a:solidFill>
                <a:latin typeface="DejaVu Sans"/>
                <a:ea typeface="DejaVu Sans"/>
                <a:cs typeface="DejaVu Sans"/>
              </a:rPr>
              <a:t>14</a:t>
            </a:r>
          </a:p>
        </p:txBody>
      </p:sp>
      <p:sp>
        <p:nvSpPr>
          <p:cNvPr id="3" name="rtl_text_2">
            <a:extLst xmlns:a="http://schemas.openxmlformats.org/drawingml/2006/main">
              <a:ext uri="{FF2B5EF4-FFF2-40B4-BE49-F238E27FC236}">
                <a16:creationId xmlns:a16="http://schemas.microsoft.com/office/drawing/2014/main" id="{170D2485-EEDB-4423-8F55-EEA467088F50}"/>
              </a:ext>
            </a:extLst>
          </p:cNvPr>
          <p:cNvSpPr>
            <a:spLocks xmlns:a="http://schemas.openxmlformats.org/drawingml/2006/main" noGrp="1"/>
          </p:cNvSpPr>
          <p:nvPr/>
        </p:nvSpPr>
        <p:spPr>
          <a:xfrm xmlns:a="http://schemas.openxmlformats.org/drawingml/2006/main">
            <a:off x="609600" y="163830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100" b="1">
                <a:solidFill>
                  <a:srgbClr val="087E83"/>
                </a:solidFill>
                <a:latin typeface="DejaVu Sans"/>
                <a:ea typeface="DejaVu Sans"/>
                <a:cs typeface="DejaVu Sans"/>
              </a:defRPr>
            </a:defPPr>
          </a:lstStyle>
          <a:p xmlns:a="http://schemas.openxmlformats.org/drawingml/2006/main">
            <a:pPr algn="r" rtl="1">
              <a:defRPr sz="2100" b="1">
                <a:solidFill>
                  <a:srgbClr val="087E83"/>
                </a:solidFill>
                <a:latin typeface="DejaVu Sans"/>
                <a:ea typeface="DejaVu Sans"/>
                <a:cs typeface="DejaVu Sans"/>
              </a:defRPr>
            </a:pPr>
            <a:r>
              <a:rPr sz="2100" b="1" lang="fa-IR">
                <a:solidFill>
                  <a:srgbClr val="087E83"/>
                </a:solidFill>
                <a:latin typeface="DejaVu Sans"/>
                <a:ea typeface="DejaVu Sans"/>
                <a:cs typeface="DejaVu Sans"/>
              </a:rPr>
              <a:t>بازنمایی چهار رقم اعشار</a:t>
            </a:r>
          </a:p>
        </p:txBody>
      </p:sp>
      <p:sp>
        <p:nvSpPr>
          <p:cNvPr id="4" name="ltr_text_3">
            <a:extLst xmlns:a="http://schemas.openxmlformats.org/drawingml/2006/main">
              <a:ext uri="{FF2B5EF4-FFF2-40B4-BE49-F238E27FC236}">
                <a16:creationId xmlns:a16="http://schemas.microsoft.com/office/drawing/2014/main" id="{BE2417EE-40E8-4A91-825E-CE57E5059493}"/>
              </a:ext>
            </a:extLst>
          </p:cNvPr>
          <p:cNvSpPr>
            <a:spLocks xmlns:a="http://schemas.openxmlformats.org/drawingml/2006/main" noGrp="1"/>
          </p:cNvSpPr>
          <p:nvPr/>
        </p:nvSpPr>
        <p:spPr>
          <a:xfrm xmlns:a="http://schemas.openxmlformats.org/drawingml/2006/main">
            <a:off x="609600" y="2257425"/>
            <a:ext cx="109728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75" b="0">
                <a:solidFill>
                  <a:srgbClr val="172F3A"/>
                </a:solidFill>
                <a:latin typeface="DejaVu Sans"/>
                <a:ea typeface="DejaVu Sans"/>
                <a:cs typeface="DejaVu Sans"/>
              </a:defRPr>
            </a:defPPr>
          </a:lstStyle>
          <a:p xmlns:a="http://schemas.openxmlformats.org/drawingml/2006/main">
            <a:pPr algn="ctr" rtl="0">
              <a:defRPr sz="2475" b="0">
                <a:solidFill>
                  <a:srgbClr val="172F3A"/>
                </a:solidFill>
                <a:latin typeface="DejaVu Sans"/>
                <a:ea typeface="DejaVu Sans"/>
                <a:cs typeface="DejaVu Sans"/>
              </a:defRPr>
            </a:pPr>
            <a:r>
              <a:rPr sz="2475" b="0" lang="en-US">
                <a:solidFill>
                  <a:srgbClr val="172F3A"/>
                </a:solidFill>
                <a:latin typeface="DejaVu Sans"/>
                <a:ea typeface="DejaVu Sans"/>
                <a:cs typeface="DejaVu Sans"/>
              </a:rPr>
              <a:t>S = 10⁴       mᵢ = S xᵢ       W = Σ wᵢ</a:t>
            </a:r>
          </a:p>
        </p:txBody>
      </p:sp>
      <p:sp>
        <p:nvSpPr>
          <p:cNvPr id="5" name="ltr_text_4">
            <a:extLst xmlns:a="http://schemas.openxmlformats.org/drawingml/2006/main">
              <a:ext uri="{FF2B5EF4-FFF2-40B4-BE49-F238E27FC236}">
                <a16:creationId xmlns:a16="http://schemas.microsoft.com/office/drawing/2014/main" id="{4283E351-2292-4867-BEC0-F7A2393BEB6A}"/>
              </a:ext>
            </a:extLst>
          </p:cNvPr>
          <p:cNvSpPr>
            <a:spLocks xmlns:a="http://schemas.openxmlformats.org/drawingml/2006/main" noGrp="1"/>
          </p:cNvSpPr>
          <p:nvPr/>
        </p:nvSpPr>
        <p:spPr>
          <a:xfrm xmlns:a="http://schemas.openxmlformats.org/drawingml/2006/main">
            <a:off x="609600" y="318135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3150" b="1">
                <a:solidFill>
                  <a:srgbClr val="172F3A"/>
                </a:solidFill>
                <a:latin typeface="DejaVu Sans"/>
                <a:ea typeface="DejaVu Sans"/>
                <a:cs typeface="DejaVu Sans"/>
              </a:defRPr>
            </a:defPPr>
          </a:lstStyle>
          <a:p xmlns:a="http://schemas.openxmlformats.org/drawingml/2006/main">
            <a:pPr algn="ctr" rtl="0">
              <a:defRPr sz="3150" b="1">
                <a:solidFill>
                  <a:srgbClr val="172F3A"/>
                </a:solidFill>
                <a:latin typeface="DejaVu Sans"/>
                <a:ea typeface="DejaVu Sans"/>
                <a:cs typeface="DejaVu Sans"/>
              </a:defRPr>
            </a:pPr>
            <a:r>
              <a:rPr sz="3150" b="1" lang="en-US">
                <a:solidFill>
                  <a:srgbClr val="172F3A"/>
                </a:solidFill>
                <a:latin typeface="DejaVu Sans"/>
                <a:ea typeface="DejaVu Sans"/>
                <a:cs typeface="DejaVu Sans"/>
              </a:rPr>
              <a:t>Cagg = ∏ Cᵢʷⁱ (mod n)</a:t>
            </a:r>
          </a:p>
        </p:txBody>
      </p:sp>
      <p:sp>
        <p:nvSpPr>
          <p:cNvPr id="6" name="ltr_text_5">
            <a:extLst xmlns:a="http://schemas.openxmlformats.org/drawingml/2006/main">
              <a:ext uri="{FF2B5EF4-FFF2-40B4-BE49-F238E27FC236}">
                <a16:creationId xmlns:a16="http://schemas.microsoft.com/office/drawing/2014/main" id="{674947D0-A298-4F7B-8FC1-825FEFBB5480}"/>
              </a:ext>
            </a:extLst>
          </p:cNvPr>
          <p:cNvSpPr>
            <a:spLocks xmlns:a="http://schemas.openxmlformats.org/drawingml/2006/main" noGrp="1"/>
          </p:cNvSpPr>
          <p:nvPr/>
        </p:nvSpPr>
        <p:spPr>
          <a:xfrm xmlns:a="http://schemas.openxmlformats.org/drawingml/2006/main">
            <a:off x="609600" y="4048125"/>
            <a:ext cx="109728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625" b="0">
                <a:solidFill>
                  <a:srgbClr val="172F3A"/>
                </a:solidFill>
                <a:latin typeface="DejaVu Sans"/>
                <a:ea typeface="DejaVu Sans"/>
                <a:cs typeface="DejaVu Sans"/>
              </a:defRPr>
            </a:defPPr>
          </a:lstStyle>
          <a:p xmlns:a="http://schemas.openxmlformats.org/drawingml/2006/main">
            <a:pPr algn="ctr" rtl="0">
              <a:defRPr sz="2625" b="0">
                <a:solidFill>
                  <a:srgbClr val="172F3A"/>
                </a:solidFill>
                <a:latin typeface="DejaVu Sans"/>
                <a:ea typeface="DejaVu Sans"/>
                <a:cs typeface="DejaVu Sans"/>
              </a:defRPr>
            </a:pPr>
            <a:r>
              <a:rPr sz="2625" b="0" lang="en-US">
                <a:solidFill>
                  <a:srgbClr val="172F3A"/>
                </a:solidFill>
                <a:latin typeface="DejaVu Sans"/>
                <a:ea typeface="DejaVu Sans"/>
                <a:cs typeface="DejaVu Sans"/>
              </a:rPr>
              <a:t>M = Dec(Cagg) = Σ wᵢmᵢ</a:t>
            </a:r>
          </a:p>
        </p:txBody>
      </p:sp>
      <p:sp>
        <p:nvSpPr>
          <p:cNvPr id="7" name="ltr_text_6">
            <a:extLst xmlns:a="http://schemas.openxmlformats.org/drawingml/2006/main">
              <a:ext uri="{FF2B5EF4-FFF2-40B4-BE49-F238E27FC236}">
                <a16:creationId xmlns:a16="http://schemas.microsoft.com/office/drawing/2014/main" id="{B0FF41F1-6B53-4DE4-8D61-76BC17766090}"/>
              </a:ext>
            </a:extLst>
          </p:cNvPr>
          <p:cNvSpPr>
            <a:spLocks xmlns:a="http://schemas.openxmlformats.org/drawingml/2006/main" noGrp="1"/>
          </p:cNvSpPr>
          <p:nvPr/>
        </p:nvSpPr>
        <p:spPr>
          <a:xfrm xmlns:a="http://schemas.openxmlformats.org/drawingml/2006/main">
            <a:off x="609600" y="4886325"/>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3225" b="1">
                <a:solidFill>
                  <a:srgbClr val="087E83"/>
                </a:solidFill>
                <a:latin typeface="DejaVu Sans"/>
                <a:ea typeface="DejaVu Sans"/>
                <a:cs typeface="DejaVu Sans"/>
              </a:defRPr>
            </a:defPPr>
          </a:lstStyle>
          <a:p xmlns:a="http://schemas.openxmlformats.org/drawingml/2006/main">
            <a:pPr algn="ctr" rtl="0">
              <a:defRPr sz="3225" b="1">
                <a:solidFill>
                  <a:srgbClr val="087E83"/>
                </a:solidFill>
                <a:latin typeface="DejaVu Sans"/>
                <a:ea typeface="DejaVu Sans"/>
                <a:cs typeface="DejaVu Sans"/>
              </a:defRPr>
            </a:pPr>
            <a:r>
              <a:rPr sz="3225" b="1" lang="en-US">
                <a:solidFill>
                  <a:srgbClr val="087E83"/>
                </a:solidFill>
                <a:latin typeface="DejaVu Sans"/>
                <a:ea typeface="DejaVu Sans"/>
                <a:cs typeface="DejaVu Sans"/>
              </a:rPr>
              <a:t>x̄ = M / (10⁴ W)</a:t>
            </a:r>
          </a:p>
        </p:txBody>
      </p:sp>
      <p:sp>
        <p:nvSpPr>
          <p:cNvPr id="8" name="rtl_text_7">
            <a:extLst xmlns:a="http://schemas.openxmlformats.org/drawingml/2006/main">
              <a:ext uri="{FF2B5EF4-FFF2-40B4-BE49-F238E27FC236}">
                <a16:creationId xmlns:a16="http://schemas.microsoft.com/office/drawing/2014/main" id="{B4A3CB68-0691-4FF3-8853-B231ED6422A5}"/>
              </a:ext>
            </a:extLst>
          </p:cNvPr>
          <p:cNvSpPr>
            <a:spLocks xmlns:a="http://schemas.openxmlformats.org/drawingml/2006/main" noGrp="1"/>
          </p:cNvSpPr>
          <p:nvPr/>
        </p:nvSpPr>
        <p:spPr>
          <a:xfrm xmlns:a="http://schemas.openxmlformats.org/drawingml/2006/main">
            <a:off x="7524750" y="5781675"/>
            <a:ext cx="4057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75" b="0">
                <a:solidFill>
                  <a:srgbClr val="546973"/>
                </a:solidFill>
                <a:latin typeface="DejaVu Sans"/>
                <a:ea typeface="DejaVu Sans"/>
                <a:cs typeface="DejaVu Sans"/>
              </a:defRPr>
            </a:defPPr>
          </a:lstStyle>
          <a:p xmlns:a="http://schemas.openxmlformats.org/drawingml/2006/main">
            <a:pPr algn="r" rtl="1">
              <a:defRPr sz="1875" b="0">
                <a:solidFill>
                  <a:srgbClr val="546973"/>
                </a:solidFill>
                <a:latin typeface="DejaVu Sans"/>
                <a:ea typeface="DejaVu Sans"/>
                <a:cs typeface="DejaVu Sans"/>
              </a:defRPr>
            </a:pPr>
            <a:r>
              <a:rPr sz="1875" b="0" lang="fa-IR">
                <a:solidFill>
                  <a:srgbClr val="546973"/>
                </a:solidFill>
                <a:latin typeface="DejaVu Sans"/>
                <a:ea typeface="DejaVu Sans"/>
                <a:cs typeface="DejaVu Sans"/>
              </a:rPr>
              <a:t>شرط جلوگیری از سرریز:</a:t>
            </a:r>
          </a:p>
        </p:txBody>
      </p:sp>
      <p:sp>
        <p:nvSpPr>
          <p:cNvPr id="9" name="ltr_text_8">
            <a:extLst xmlns:a="http://schemas.openxmlformats.org/drawingml/2006/main">
              <a:ext uri="{FF2B5EF4-FFF2-40B4-BE49-F238E27FC236}">
                <a16:creationId xmlns:a16="http://schemas.microsoft.com/office/drawing/2014/main" id="{7EE551D3-3041-4D4E-922A-476EABC83F48}"/>
              </a:ext>
            </a:extLst>
          </p:cNvPr>
          <p:cNvSpPr>
            <a:spLocks xmlns:a="http://schemas.openxmlformats.org/drawingml/2006/main" noGrp="1"/>
          </p:cNvSpPr>
          <p:nvPr/>
        </p:nvSpPr>
        <p:spPr>
          <a:xfrm xmlns:a="http://schemas.openxmlformats.org/drawingml/2006/main">
            <a:off x="4324350" y="578167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0">
                <a:solidFill>
                  <a:srgbClr val="546973"/>
                </a:solidFill>
                <a:latin typeface="DejaVu Sans"/>
                <a:ea typeface="DejaVu Sans"/>
                <a:cs typeface="DejaVu Sans"/>
              </a:defRPr>
            </a:defPPr>
          </a:lstStyle>
          <a:p xmlns:a="http://schemas.openxmlformats.org/drawingml/2006/main">
            <a:pPr algn="ctr" rtl="0">
              <a:defRPr sz="1875" b="0">
                <a:solidFill>
                  <a:srgbClr val="546973"/>
                </a:solidFill>
                <a:latin typeface="DejaVu Sans"/>
                <a:ea typeface="DejaVu Sans"/>
                <a:cs typeface="DejaVu Sans"/>
              </a:defRPr>
            </a:pPr>
            <a:r>
              <a:rPr sz="1875" b="0" lang="en-US">
                <a:solidFill>
                  <a:srgbClr val="546973"/>
                </a:solidFill>
                <a:latin typeface="DejaVu Sans"/>
                <a:ea typeface="DejaVu Sans"/>
                <a:cs typeface="DejaVu Sans"/>
              </a:rPr>
              <a:t>10⁴ W &lt; r</a:t>
            </a:r>
          </a:p>
        </p:txBody>
      </p:sp>
    </p:spTree>
    <p:extLst>
      <p:ext uri="{BB962C8B-B14F-4D97-AF65-F5344CB8AC3E}">
        <p14:creationId xmlns:p14="http://schemas.microsoft.com/office/powerpoint/2010/main" val="1811861229"/>
      </p:ext>
    </p:extLst>
  </p:cSld>
</p:sld>
</file>

<file path=ppt/slides/slide1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rtl_headline">
            <a:extLst xmlns:a="http://schemas.openxmlformats.org/drawingml/2006/main">
              <a:ext uri="{FF2B5EF4-FFF2-40B4-BE49-F238E27FC236}">
                <a16:creationId xmlns:a16="http://schemas.microsoft.com/office/drawing/2014/main" id="{1483AE8E-AF2D-48D6-B461-9C35FD851C58}"/>
              </a:ext>
            </a:extLst>
          </p:cNvPr>
          <p:cNvSpPr>
            <a:spLocks xmlns:a="http://schemas.openxmlformats.org/drawingml/2006/main" noGrp="1"/>
          </p:cNvSpPr>
          <p:nvPr/>
        </p:nvSpPr>
        <p:spPr>
          <a:xfrm xmlns:a="http://schemas.openxmlformats.org/drawingml/2006/main">
            <a:off x="609600" y="4191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300" b="1">
                <a:solidFill>
                  <a:srgbClr val="172F3A"/>
                </a:solidFill>
                <a:latin typeface="DejaVu Sans"/>
                <a:ea typeface="DejaVu Sans"/>
                <a:cs typeface="DejaVu Sans"/>
              </a:defRPr>
            </a:defPPr>
          </a:lstStyle>
          <a:p xmlns:a="http://schemas.openxmlformats.org/drawingml/2006/main">
            <a:pPr algn="r" rtl="1">
              <a:defRPr sz="3300" b="1">
                <a:solidFill>
                  <a:srgbClr val="172F3A"/>
                </a:solidFill>
                <a:latin typeface="DejaVu Sans"/>
                <a:ea typeface="DejaVu Sans"/>
                <a:cs typeface="DejaVu Sans"/>
              </a:defRPr>
            </a:pPr>
            <a:r>
              <a:rPr sz="3300" b="1" lang="fa-IR">
                <a:solidFill>
                  <a:srgbClr val="172F3A"/>
                </a:solidFill>
                <a:latin typeface="DejaVu Sans"/>
                <a:ea typeface="DejaVu Sans"/>
                <a:cs typeface="DejaVu Sans"/>
              </a:rPr>
              <a:t>زمان اجرای پروتکل با افزایش کلاینت‌ها</a:t>
            </a:r>
          </a:p>
        </p:txBody>
      </p:sp>
      <p:sp>
        <p:nvSpPr>
          <p:cNvPr id="2" name="ltr_page">
            <a:extLst xmlns:a="http://schemas.openxmlformats.org/drawingml/2006/main">
              <a:ext uri="{FF2B5EF4-FFF2-40B4-BE49-F238E27FC236}">
                <a16:creationId xmlns:a16="http://schemas.microsoft.com/office/drawing/2014/main" id="{C2103960-2542-4FBA-A648-20D11A5A62C5}"/>
              </a:ext>
            </a:extLst>
          </p:cNvPr>
          <p:cNvSpPr>
            <a:spLocks xmlns:a="http://schemas.openxmlformats.org/drawingml/2006/main" noGrp="1"/>
          </p:cNvSpPr>
          <p:nvPr/>
        </p:nvSpPr>
        <p:spPr>
          <a:xfrm xmlns:a="http://schemas.openxmlformats.org/drawingml/2006/main">
            <a:off x="609600" y="63436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46973"/>
                </a:solidFill>
                <a:latin typeface="DejaVu Sans"/>
                <a:ea typeface="DejaVu Sans"/>
                <a:cs typeface="DejaVu Sans"/>
              </a:defRPr>
            </a:defPPr>
          </a:lstStyle>
          <a:p xmlns:a="http://schemas.openxmlformats.org/drawingml/2006/main">
            <a:pPr algn="l" rtl="0">
              <a:defRPr sz="1350" b="0">
                <a:solidFill>
                  <a:srgbClr val="546973"/>
                </a:solidFill>
                <a:latin typeface="DejaVu Sans"/>
                <a:ea typeface="DejaVu Sans"/>
                <a:cs typeface="DejaVu Sans"/>
              </a:defRPr>
            </a:pPr>
            <a:r>
              <a:rPr sz="1350" b="0" lang="en-US">
                <a:solidFill>
                  <a:srgbClr val="546973"/>
                </a:solidFill>
                <a:latin typeface="DejaVu Sans"/>
                <a:ea typeface="DejaVu Sans"/>
                <a:cs typeface="DejaVu Sans"/>
              </a:rPr>
              <a:t>15</a:t>
            </a:r>
          </a:p>
        </p:txBody>
      </p:sp>
      <p:graphicFrame>
        <p:nvGraphicFramePr>
          <p:cNvPr id="3" name="Chart">
            <a:extLst xmlns:a="http://schemas.openxmlformats.org/drawingml/2006/main">
              <a:ext uri="{FF2B5EF4-FFF2-40B4-BE49-F238E27FC236}">
                <a16:creationId xmlns:a16="http://schemas.microsoft.com/office/drawing/2014/main" id="{4224F2F5-C86B-4BFC-9B11-8BDC163AEF64}"/>
              </a:ext>
            </a:extLst>
          </p:cNvPr>
          <p:cNvGraphicFramePr/>
          <p:nvPr/>
        </p:nvGraphicFramePr>
        <p:xfrm>
          <a:off xmlns:a="http://schemas.openxmlformats.org/drawingml/2006/main" x="666750" y="1657350"/>
          <a:ext xmlns:a="http://schemas.openxmlformats.org/drawingml/2006/main" cx="10820400" cy="3876675"/>
        </p:xfrm>
        <a:graphic xmlns:a="http://schemas.openxmlformats.org/drawingml/2006/main">
          <a:graphicData uri="http://schemas.openxmlformats.org/drawingml/2006/chart">
            <c:chart xmlns:r="http://schemas.openxmlformats.org/officeDocument/2006/relationships" xmlns:c="http://schemas.openxmlformats.org/drawingml/2006/chart" r:id="R25720adf774b470a"/>
          </a:graphicData>
        </a:graphic>
      </p:graphicFrame>
      <p:sp>
        <p:nvSpPr>
          <p:cNvPr id="4" name="rtl_text_2">
            <a:extLst xmlns:a="http://schemas.openxmlformats.org/drawingml/2006/main">
              <a:ext uri="{FF2B5EF4-FFF2-40B4-BE49-F238E27FC236}">
                <a16:creationId xmlns:a16="http://schemas.microsoft.com/office/drawing/2014/main" id="{857B2056-D529-4BD5-BDA2-6207D911B7AE}"/>
              </a:ext>
            </a:extLst>
          </p:cNvPr>
          <p:cNvSpPr>
            <a:spLocks xmlns:a="http://schemas.openxmlformats.org/drawingml/2006/main" noGrp="1"/>
          </p:cNvSpPr>
          <p:nvPr/>
        </p:nvSpPr>
        <p:spPr>
          <a:xfrm xmlns:a="http://schemas.openxmlformats.org/drawingml/2006/main">
            <a:off x="609600" y="581977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0">
                <a:solidFill>
                  <a:srgbClr val="546973"/>
                </a:solidFill>
                <a:latin typeface="DejaVu Sans"/>
                <a:ea typeface="DejaVu Sans"/>
                <a:cs typeface="DejaVu Sans"/>
              </a:defRPr>
            </a:defPPr>
          </a:lstStyle>
          <a:p xmlns:a="http://schemas.openxmlformats.org/drawingml/2006/main">
            <a:pPr algn="r" rtl="1">
              <a:defRPr sz="1725" b="0">
                <a:solidFill>
                  <a:srgbClr val="546973"/>
                </a:solidFill>
                <a:latin typeface="DejaVu Sans"/>
                <a:ea typeface="DejaVu Sans"/>
                <a:cs typeface="DejaVu Sans"/>
              </a:defRPr>
            </a:pPr>
            <a:r>
              <a:rPr sz="1725" b="0" lang="fa-IR">
                <a:solidFill>
                  <a:srgbClr val="546973"/>
                </a:solidFill>
                <a:latin typeface="DejaVu Sans"/>
                <a:ea typeface="DejaVu Sans"/>
                <a:cs typeface="DejaVu Sans"/>
              </a:rPr>
              <a:t>۱۰۰ اجرای آزمایشی گزارش‌شده؛ اندازه کلیدها برای مقایسه کارایی</a:t>
            </a:r>
          </a:p>
        </p:txBody>
      </p:sp>
    </p:spTree>
    <p:extLst>
      <p:ext uri="{BB962C8B-B14F-4D97-AF65-F5344CB8AC3E}">
        <p14:creationId xmlns:p14="http://schemas.microsoft.com/office/powerpoint/2010/main" val="1877414830"/>
      </p:ext>
    </p:extLst>
  </p:cSld>
</p:sld>
</file>

<file path=ppt/slides/slide1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rtl_headline">
            <a:extLst xmlns:a="http://schemas.openxmlformats.org/drawingml/2006/main">
              <a:ext uri="{FF2B5EF4-FFF2-40B4-BE49-F238E27FC236}">
                <a16:creationId xmlns:a16="http://schemas.microsoft.com/office/drawing/2014/main" id="{06CB1FAA-B0D2-4417-AD5C-0EE8A8AA0A7E}"/>
              </a:ext>
            </a:extLst>
          </p:cNvPr>
          <p:cNvSpPr>
            <a:spLocks xmlns:a="http://schemas.openxmlformats.org/drawingml/2006/main" noGrp="1"/>
          </p:cNvSpPr>
          <p:nvPr/>
        </p:nvSpPr>
        <p:spPr>
          <a:xfrm xmlns:a="http://schemas.openxmlformats.org/drawingml/2006/main">
            <a:off x="609600" y="4191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300" b="1">
                <a:solidFill>
                  <a:srgbClr val="172F3A"/>
                </a:solidFill>
                <a:latin typeface="DejaVu Sans"/>
                <a:ea typeface="DejaVu Sans"/>
                <a:cs typeface="DejaVu Sans"/>
              </a:defRPr>
            </a:defPPr>
          </a:lstStyle>
          <a:p xmlns:a="http://schemas.openxmlformats.org/drawingml/2006/main">
            <a:pPr algn="r" rtl="1">
              <a:defRPr sz="3300" b="1">
                <a:solidFill>
                  <a:srgbClr val="172F3A"/>
                </a:solidFill>
                <a:latin typeface="DejaVu Sans"/>
                <a:ea typeface="DejaVu Sans"/>
                <a:cs typeface="DejaVu Sans"/>
              </a:defRPr>
            </a:pPr>
            <a:r>
              <a:rPr sz="3300" b="1" lang="fa-IR">
                <a:solidFill>
                  <a:srgbClr val="172F3A"/>
                </a:solidFill>
                <a:latin typeface="DejaVu Sans"/>
                <a:ea typeface="DejaVu Sans"/>
                <a:cs typeface="DejaVu Sans"/>
              </a:rPr>
              <a:t>گلوگاه‌های زمان اجرا</a:t>
            </a:r>
          </a:p>
        </p:txBody>
      </p:sp>
      <p:sp>
        <p:nvSpPr>
          <p:cNvPr id="2" name="ltr_page">
            <a:extLst xmlns:a="http://schemas.openxmlformats.org/drawingml/2006/main">
              <a:ext uri="{FF2B5EF4-FFF2-40B4-BE49-F238E27FC236}">
                <a16:creationId xmlns:a16="http://schemas.microsoft.com/office/drawing/2014/main" id="{9848C495-F93B-4382-A6B2-983676CFC11A}"/>
              </a:ext>
            </a:extLst>
          </p:cNvPr>
          <p:cNvSpPr>
            <a:spLocks xmlns:a="http://schemas.openxmlformats.org/drawingml/2006/main" noGrp="1"/>
          </p:cNvSpPr>
          <p:nvPr/>
        </p:nvSpPr>
        <p:spPr>
          <a:xfrm xmlns:a="http://schemas.openxmlformats.org/drawingml/2006/main">
            <a:off x="609600" y="63436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46973"/>
                </a:solidFill>
                <a:latin typeface="DejaVu Sans"/>
                <a:ea typeface="DejaVu Sans"/>
                <a:cs typeface="DejaVu Sans"/>
              </a:defRPr>
            </a:defPPr>
          </a:lstStyle>
          <a:p xmlns:a="http://schemas.openxmlformats.org/drawingml/2006/main">
            <a:pPr algn="l" rtl="0">
              <a:defRPr sz="1350" b="0">
                <a:solidFill>
                  <a:srgbClr val="546973"/>
                </a:solidFill>
                <a:latin typeface="DejaVu Sans"/>
                <a:ea typeface="DejaVu Sans"/>
                <a:cs typeface="DejaVu Sans"/>
              </a:defRPr>
            </a:pPr>
            <a:r>
              <a:rPr sz="1350" b="0" lang="en-US">
                <a:solidFill>
                  <a:srgbClr val="546973"/>
                </a:solidFill>
                <a:latin typeface="DejaVu Sans"/>
                <a:ea typeface="DejaVu Sans"/>
                <a:cs typeface="DejaVu Sans"/>
              </a:rPr>
              <a:t>16</a:t>
            </a:r>
          </a:p>
        </p:txBody>
      </p:sp>
      <p:graphicFrame>
        <p:nvGraphicFramePr>
          <p:cNvPr id="3" name="Chart">
            <a:extLst xmlns:a="http://schemas.openxmlformats.org/drawingml/2006/main">
              <a:ext uri="{FF2B5EF4-FFF2-40B4-BE49-F238E27FC236}">
                <a16:creationId xmlns:a16="http://schemas.microsoft.com/office/drawing/2014/main" id="{0FC51CF8-A283-425E-A38B-0FE4B929944E}"/>
              </a:ext>
            </a:extLst>
          </p:cNvPr>
          <p:cNvGraphicFramePr/>
          <p:nvPr/>
        </p:nvGraphicFramePr>
        <p:xfrm>
          <a:off xmlns:a="http://schemas.openxmlformats.org/drawingml/2006/main" x="609600" y="1657350"/>
          <a:ext xmlns:a="http://schemas.openxmlformats.org/drawingml/2006/main" cx="7915275" cy="3943350"/>
        </p:xfrm>
        <a:graphic xmlns:a="http://schemas.openxmlformats.org/drawingml/2006/main">
          <a:graphicData uri="http://schemas.openxmlformats.org/drawingml/2006/chart">
            <c:chart xmlns:r="http://schemas.openxmlformats.org/officeDocument/2006/relationships" xmlns:c="http://schemas.openxmlformats.org/drawingml/2006/chart" r:id="R8ac0709b4bf74927"/>
          </a:graphicData>
        </a:graphic>
      </p:graphicFrame>
      <p:sp>
        <p:nvSpPr>
          <p:cNvPr id="4" name="rtl_text_2">
            <a:extLst xmlns:a="http://schemas.openxmlformats.org/drawingml/2006/main">
              <a:ext uri="{FF2B5EF4-FFF2-40B4-BE49-F238E27FC236}">
                <a16:creationId xmlns:a16="http://schemas.microsoft.com/office/drawing/2014/main" id="{E9818BC5-0609-41C3-92EE-E4430F9473DD}"/>
              </a:ext>
            </a:extLst>
          </p:cNvPr>
          <p:cNvSpPr>
            <a:spLocks xmlns:a="http://schemas.openxmlformats.org/drawingml/2006/main" noGrp="1"/>
          </p:cNvSpPr>
          <p:nvPr/>
        </p:nvSpPr>
        <p:spPr>
          <a:xfrm xmlns:a="http://schemas.openxmlformats.org/drawingml/2006/main">
            <a:off x="8763000" y="1895475"/>
            <a:ext cx="28194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500" b="1">
                <a:solidFill>
                  <a:srgbClr val="087E83"/>
                </a:solidFill>
                <a:latin typeface="DejaVu Sans"/>
                <a:ea typeface="DejaVu Sans"/>
                <a:cs typeface="DejaVu Sans"/>
              </a:defRPr>
            </a:defPPr>
          </a:lstStyle>
          <a:p xmlns:a="http://schemas.openxmlformats.org/drawingml/2006/main">
            <a:pPr algn="ctr" rtl="1">
              <a:defRPr sz="4500" b="1">
                <a:solidFill>
                  <a:srgbClr val="087E83"/>
                </a:solidFill>
                <a:latin typeface="DejaVu Sans"/>
                <a:ea typeface="DejaVu Sans"/>
                <a:cs typeface="DejaVu Sans"/>
              </a:defRPr>
            </a:pPr>
            <a:r>
              <a:rPr sz="4500" b="1" lang="fa-IR">
                <a:solidFill>
                  <a:srgbClr val="087E83"/>
                </a:solidFill>
                <a:latin typeface="DejaVu Sans"/>
                <a:ea typeface="DejaVu Sans"/>
                <a:cs typeface="DejaVu Sans"/>
              </a:rPr>
              <a:t>۴۶٪</a:t>
            </a:r>
          </a:p>
        </p:txBody>
      </p:sp>
      <p:sp>
        <p:nvSpPr>
          <p:cNvPr id="5" name="rtl_text_3">
            <a:extLst xmlns:a="http://schemas.openxmlformats.org/drawingml/2006/main">
              <a:ext uri="{FF2B5EF4-FFF2-40B4-BE49-F238E27FC236}">
                <a16:creationId xmlns:a16="http://schemas.microsoft.com/office/drawing/2014/main" id="{930AB1EA-0885-4F22-80B7-0C975C6F93FD}"/>
              </a:ext>
            </a:extLst>
          </p:cNvPr>
          <p:cNvSpPr>
            <a:spLocks xmlns:a="http://schemas.openxmlformats.org/drawingml/2006/main" noGrp="1"/>
          </p:cNvSpPr>
          <p:nvPr/>
        </p:nvSpPr>
        <p:spPr>
          <a:xfrm xmlns:a="http://schemas.openxmlformats.org/drawingml/2006/main">
            <a:off x="8763000" y="2781300"/>
            <a:ext cx="2819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25" b="0">
                <a:solidFill>
                  <a:srgbClr val="172F3A"/>
                </a:solidFill>
                <a:latin typeface="DejaVu Sans"/>
                <a:ea typeface="DejaVu Sans"/>
                <a:cs typeface="DejaVu Sans"/>
              </a:defRPr>
            </a:defPPr>
          </a:lstStyle>
          <a:p xmlns:a="http://schemas.openxmlformats.org/drawingml/2006/main">
            <a:pPr algn="ctr" rtl="1">
              <a:defRPr sz="2025" b="0">
                <a:solidFill>
                  <a:srgbClr val="172F3A"/>
                </a:solidFill>
                <a:latin typeface="DejaVu Sans"/>
                <a:ea typeface="DejaVu Sans"/>
                <a:cs typeface="DejaVu Sans"/>
              </a:defRPr>
            </a:pPr>
            <a:r>
              <a:rPr sz="2025" b="0" lang="fa-IR">
                <a:solidFill>
                  <a:srgbClr val="172F3A"/>
                </a:solidFill>
                <a:latin typeface="DejaVu Sans"/>
                <a:ea typeface="DejaVu Sans"/>
                <a:cs typeface="DejaVu Sans"/>
              </a:rPr>
              <a:t>سهم تجمیع</a:t>
            </a:r>
          </a:p>
          <a:p xmlns:a="http://schemas.openxmlformats.org/drawingml/2006/main">
            <a:pPr algn="ctr" rtl="1">
              <a:defRPr sz="2025" b="0">
                <a:solidFill>
                  <a:srgbClr val="172F3A"/>
                </a:solidFill>
                <a:latin typeface="DejaVu Sans"/>
                <a:ea typeface="DejaVu Sans"/>
                <a:cs typeface="DejaVu Sans"/>
              </a:defRPr>
            </a:pPr>
            <a:r>
              <a:rPr sz="2025" b="0" lang="fa-IR">
                <a:solidFill>
                  <a:srgbClr val="172F3A"/>
                </a:solidFill>
                <a:latin typeface="DejaVu Sans"/>
                <a:ea typeface="DejaVu Sans"/>
                <a:cs typeface="DejaVu Sans"/>
              </a:rPr>
              <a:t>در کلید ۲۵۶ بیت</a:t>
            </a:r>
          </a:p>
        </p:txBody>
      </p:sp>
      <p:sp>
        <p:nvSpPr>
          <p:cNvPr id="6" name="rtl_text_4">
            <a:extLst xmlns:a="http://schemas.openxmlformats.org/drawingml/2006/main">
              <a:ext uri="{FF2B5EF4-FFF2-40B4-BE49-F238E27FC236}">
                <a16:creationId xmlns:a16="http://schemas.microsoft.com/office/drawing/2014/main" id="{C66C1FB1-9BBC-43DD-B5FF-DBA7BA2FA7CF}"/>
              </a:ext>
            </a:extLst>
          </p:cNvPr>
          <p:cNvSpPr>
            <a:spLocks xmlns:a="http://schemas.openxmlformats.org/drawingml/2006/main" noGrp="1"/>
          </p:cNvSpPr>
          <p:nvPr/>
        </p:nvSpPr>
        <p:spPr>
          <a:xfrm xmlns:a="http://schemas.openxmlformats.org/drawingml/2006/main">
            <a:off x="8763000" y="4086225"/>
            <a:ext cx="28194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500" b="1">
                <a:solidFill>
                  <a:srgbClr val="BE7542"/>
                </a:solidFill>
                <a:latin typeface="DejaVu Sans"/>
                <a:ea typeface="DejaVu Sans"/>
                <a:cs typeface="DejaVu Sans"/>
              </a:defRPr>
            </a:defPPr>
          </a:lstStyle>
          <a:p xmlns:a="http://schemas.openxmlformats.org/drawingml/2006/main">
            <a:pPr algn="ctr" rtl="1">
              <a:defRPr sz="4500" b="1">
                <a:solidFill>
                  <a:srgbClr val="BE7542"/>
                </a:solidFill>
                <a:latin typeface="DejaVu Sans"/>
                <a:ea typeface="DejaVu Sans"/>
                <a:cs typeface="DejaVu Sans"/>
              </a:defRPr>
            </a:pPr>
            <a:r>
              <a:rPr sz="4500" b="1" lang="fa-IR">
                <a:solidFill>
                  <a:srgbClr val="BE7542"/>
                </a:solidFill>
                <a:latin typeface="DejaVu Sans"/>
                <a:ea typeface="DejaVu Sans"/>
                <a:cs typeface="DejaVu Sans"/>
              </a:rPr>
              <a:t>۷۱٪</a:t>
            </a:r>
          </a:p>
        </p:txBody>
      </p:sp>
      <p:sp>
        <p:nvSpPr>
          <p:cNvPr id="7" name="rtl_text_5">
            <a:extLst xmlns:a="http://schemas.openxmlformats.org/drawingml/2006/main">
              <a:ext uri="{FF2B5EF4-FFF2-40B4-BE49-F238E27FC236}">
                <a16:creationId xmlns:a16="http://schemas.microsoft.com/office/drawing/2014/main" id="{56F1100D-0BFC-47E3-A27C-4D8EEF8A7E68}"/>
              </a:ext>
            </a:extLst>
          </p:cNvPr>
          <p:cNvSpPr>
            <a:spLocks xmlns:a="http://schemas.openxmlformats.org/drawingml/2006/main" noGrp="1"/>
          </p:cNvSpPr>
          <p:nvPr/>
        </p:nvSpPr>
        <p:spPr>
          <a:xfrm xmlns:a="http://schemas.openxmlformats.org/drawingml/2006/main">
            <a:off x="8763000" y="4972050"/>
            <a:ext cx="2819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25" b="0">
                <a:solidFill>
                  <a:srgbClr val="172F3A"/>
                </a:solidFill>
                <a:latin typeface="DejaVu Sans"/>
                <a:ea typeface="DejaVu Sans"/>
                <a:cs typeface="DejaVu Sans"/>
              </a:defRPr>
            </a:defPPr>
          </a:lstStyle>
          <a:p xmlns:a="http://schemas.openxmlformats.org/drawingml/2006/main">
            <a:pPr algn="ctr" rtl="1">
              <a:defRPr sz="2025" b="0">
                <a:solidFill>
                  <a:srgbClr val="172F3A"/>
                </a:solidFill>
                <a:latin typeface="DejaVu Sans"/>
                <a:ea typeface="DejaVu Sans"/>
                <a:cs typeface="DejaVu Sans"/>
              </a:defRPr>
            </a:pPr>
            <a:r>
              <a:rPr sz="2025" b="0" lang="fa-IR">
                <a:solidFill>
                  <a:srgbClr val="172F3A"/>
                </a:solidFill>
                <a:latin typeface="DejaVu Sans"/>
                <a:ea typeface="DejaVu Sans"/>
                <a:cs typeface="DejaVu Sans"/>
              </a:rPr>
              <a:t>سهم راه‌اندازی</a:t>
            </a:r>
          </a:p>
          <a:p xmlns:a="http://schemas.openxmlformats.org/drawingml/2006/main">
            <a:pPr algn="ctr" rtl="1">
              <a:defRPr sz="2025" b="0">
                <a:solidFill>
                  <a:srgbClr val="172F3A"/>
                </a:solidFill>
                <a:latin typeface="DejaVu Sans"/>
                <a:ea typeface="DejaVu Sans"/>
                <a:cs typeface="DejaVu Sans"/>
              </a:defRPr>
            </a:pPr>
            <a:r>
              <a:rPr sz="2025" b="0" lang="fa-IR">
                <a:solidFill>
                  <a:srgbClr val="172F3A"/>
                </a:solidFill>
                <a:latin typeface="DejaVu Sans"/>
                <a:ea typeface="DejaVu Sans"/>
                <a:cs typeface="DejaVu Sans"/>
              </a:rPr>
              <a:t>در کلید ۱۰۲۴ بیت</a:t>
            </a:r>
          </a:p>
        </p:txBody>
      </p:sp>
      <p:sp>
        <p:nvSpPr>
          <p:cNvPr id="8" name="rtl_text_6">
            <a:extLst xmlns:a="http://schemas.openxmlformats.org/drawingml/2006/main">
              <a:ext uri="{FF2B5EF4-FFF2-40B4-BE49-F238E27FC236}">
                <a16:creationId xmlns:a16="http://schemas.microsoft.com/office/drawing/2014/main" id="{196CA730-4BAF-4361-A90B-207C4B507DAB}"/>
              </a:ext>
            </a:extLst>
          </p:cNvPr>
          <p:cNvSpPr>
            <a:spLocks xmlns:a="http://schemas.openxmlformats.org/drawingml/2006/main" noGrp="1"/>
          </p:cNvSpPr>
          <p:nvPr/>
        </p:nvSpPr>
        <p:spPr>
          <a:xfrm xmlns:a="http://schemas.openxmlformats.org/drawingml/2006/main">
            <a:off x="609600" y="5838825"/>
            <a:ext cx="10972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0">
                <a:solidFill>
                  <a:srgbClr val="546973"/>
                </a:solidFill>
                <a:latin typeface="DejaVu Sans"/>
                <a:ea typeface="DejaVu Sans"/>
                <a:cs typeface="DejaVu Sans"/>
              </a:defRPr>
            </a:defPPr>
          </a:lstStyle>
          <a:p xmlns:a="http://schemas.openxmlformats.org/drawingml/2006/main">
            <a:pPr algn="r" rtl="1">
              <a:defRPr sz="1725" b="0">
                <a:solidFill>
                  <a:srgbClr val="546973"/>
                </a:solidFill>
                <a:latin typeface="DejaVu Sans"/>
                <a:ea typeface="DejaVu Sans"/>
                <a:cs typeface="DejaVu Sans"/>
              </a:defRPr>
            </a:pPr>
            <a:r>
              <a:rPr sz="1725" b="0" lang="fa-IR">
                <a:solidFill>
                  <a:srgbClr val="546973"/>
                </a:solidFill>
                <a:latin typeface="DejaVu Sans"/>
                <a:ea typeface="DejaVu Sans"/>
                <a:cs typeface="DejaVu Sans"/>
              </a:rPr>
              <a:t>۱۰۰ کلاینت؛ زمان هر مرحله بر حسب میلی‌ثانیه</a:t>
            </a:r>
          </a:p>
        </p:txBody>
      </p:sp>
    </p:spTree>
    <p:extLst>
      <p:ext uri="{BB962C8B-B14F-4D97-AF65-F5344CB8AC3E}">
        <p14:creationId xmlns:p14="http://schemas.microsoft.com/office/powerpoint/2010/main" val="380933102"/>
      </p:ext>
    </p:extLst>
  </p:cSld>
</p:sld>
</file>

<file path=ppt/slides/slide1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 name="rtl_headline">
            <a:extLst xmlns:a="http://schemas.openxmlformats.org/drawingml/2006/main">
              <a:ext uri="{FF2B5EF4-FFF2-40B4-BE49-F238E27FC236}">
                <a16:creationId xmlns:a16="http://schemas.microsoft.com/office/drawing/2014/main" id="{6C704F9B-4461-449D-8089-A4F0223424AB}"/>
              </a:ext>
            </a:extLst>
          </p:cNvPr>
          <p:cNvSpPr>
            <a:spLocks xmlns:a="http://schemas.openxmlformats.org/drawingml/2006/main" noGrp="1"/>
          </p:cNvSpPr>
          <p:nvPr/>
        </p:nvSpPr>
        <p:spPr>
          <a:xfrm xmlns:a="http://schemas.openxmlformats.org/drawingml/2006/main">
            <a:off x="609600" y="4191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300" b="1">
                <a:solidFill>
                  <a:srgbClr val="172F3A"/>
                </a:solidFill>
                <a:latin typeface="DejaVu Sans"/>
                <a:ea typeface="DejaVu Sans"/>
                <a:cs typeface="DejaVu Sans"/>
              </a:defRPr>
            </a:defPPr>
          </a:lstStyle>
          <a:p xmlns:a="http://schemas.openxmlformats.org/drawingml/2006/main">
            <a:pPr algn="r" rtl="1">
              <a:defRPr sz="3300" b="1">
                <a:solidFill>
                  <a:srgbClr val="172F3A"/>
                </a:solidFill>
                <a:latin typeface="DejaVu Sans"/>
                <a:ea typeface="DejaVu Sans"/>
                <a:cs typeface="DejaVu Sans"/>
              </a:defRPr>
            </a:pPr>
            <a:r>
              <a:rPr sz="3300" b="1" lang="fa-IR">
                <a:solidFill>
                  <a:srgbClr val="172F3A"/>
                </a:solidFill>
                <a:latin typeface="DejaVu Sans"/>
                <a:ea typeface="DejaVu Sans"/>
                <a:cs typeface="DejaVu Sans"/>
              </a:rPr>
              <a:t>محدودیت‌ها و مسیر توسعه</a:t>
            </a:r>
          </a:p>
        </p:txBody>
      </p:sp>
      <p:sp>
        <p:nvSpPr>
          <p:cNvPr id="2" name="ltr_page">
            <a:extLst xmlns:a="http://schemas.openxmlformats.org/drawingml/2006/main">
              <a:ext uri="{FF2B5EF4-FFF2-40B4-BE49-F238E27FC236}">
                <a16:creationId xmlns:a16="http://schemas.microsoft.com/office/drawing/2014/main" id="{49650000-1532-49D2-BDC9-9DDB122510EA}"/>
              </a:ext>
            </a:extLst>
          </p:cNvPr>
          <p:cNvSpPr>
            <a:spLocks xmlns:a="http://schemas.openxmlformats.org/drawingml/2006/main" noGrp="1"/>
          </p:cNvSpPr>
          <p:nvPr/>
        </p:nvSpPr>
        <p:spPr>
          <a:xfrm xmlns:a="http://schemas.openxmlformats.org/drawingml/2006/main">
            <a:off x="609600" y="63436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46973"/>
                </a:solidFill>
                <a:latin typeface="DejaVu Sans"/>
                <a:ea typeface="DejaVu Sans"/>
                <a:cs typeface="DejaVu Sans"/>
              </a:defRPr>
            </a:defPPr>
          </a:lstStyle>
          <a:p xmlns:a="http://schemas.openxmlformats.org/drawingml/2006/main">
            <a:pPr algn="l" rtl="0">
              <a:defRPr sz="1350" b="0">
                <a:solidFill>
                  <a:srgbClr val="546973"/>
                </a:solidFill>
                <a:latin typeface="DejaVu Sans"/>
                <a:ea typeface="DejaVu Sans"/>
                <a:cs typeface="DejaVu Sans"/>
              </a:defRPr>
            </a:pPr>
            <a:r>
              <a:rPr sz="1350" b="0" lang="en-US">
                <a:solidFill>
                  <a:srgbClr val="546973"/>
                </a:solidFill>
                <a:latin typeface="DejaVu Sans"/>
                <a:ea typeface="DejaVu Sans"/>
                <a:cs typeface="DejaVu Sans"/>
              </a:rPr>
              <a:t>17</a:t>
            </a:r>
          </a:p>
        </p:txBody>
      </p:sp>
      <p:sp>
        <p:nvSpPr>
          <p:cNvPr id="3" name="rtl_text_2">
            <a:extLst xmlns:a="http://schemas.openxmlformats.org/drawingml/2006/main">
              <a:ext uri="{FF2B5EF4-FFF2-40B4-BE49-F238E27FC236}">
                <a16:creationId xmlns:a16="http://schemas.microsoft.com/office/drawing/2014/main" id="{5D08AFDD-F88B-4D11-B050-483C0A2E6406}"/>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100" b="1">
                <a:solidFill>
                  <a:srgbClr val="087E83"/>
                </a:solidFill>
                <a:latin typeface="DejaVu Sans"/>
                <a:ea typeface="DejaVu Sans"/>
                <a:cs typeface="DejaVu Sans"/>
              </a:defRPr>
            </a:defPPr>
          </a:lstStyle>
          <a:p xmlns:a="http://schemas.openxmlformats.org/drawingml/2006/main">
            <a:pPr algn="r" rtl="1">
              <a:defRPr sz="2100" b="1">
                <a:solidFill>
                  <a:srgbClr val="087E83"/>
                </a:solidFill>
                <a:latin typeface="DejaVu Sans"/>
                <a:ea typeface="DejaVu Sans"/>
                <a:cs typeface="DejaVu Sans"/>
              </a:defRPr>
            </a:pPr>
            <a:r>
              <a:rPr sz="2100" b="1" lang="fa-IR">
                <a:solidFill>
                  <a:srgbClr val="087E83"/>
                </a:solidFill>
                <a:latin typeface="DejaVu Sans"/>
                <a:ea typeface="DejaVu Sans"/>
                <a:cs typeface="DejaVu Sans"/>
              </a:rPr>
              <a:t>اعتبارسنجی مدل</a:t>
            </a:r>
          </a:p>
        </p:txBody>
      </p:sp>
      <p:sp>
        <p:nvSpPr>
          <p:cNvPr id="4" name="rtl_text_3">
            <a:extLst xmlns:a="http://schemas.openxmlformats.org/drawingml/2006/main">
              <a:ext uri="{FF2B5EF4-FFF2-40B4-BE49-F238E27FC236}">
                <a16:creationId xmlns:a16="http://schemas.microsoft.com/office/drawing/2014/main" id="{0DABC9E9-AA24-4155-A9E2-0F8221E9DC1F}"/>
              </a:ext>
            </a:extLst>
          </p:cNvPr>
          <p:cNvSpPr>
            <a:spLocks xmlns:a="http://schemas.openxmlformats.org/drawingml/2006/main" noGrp="1"/>
          </p:cNvSpPr>
          <p:nvPr/>
        </p:nvSpPr>
        <p:spPr>
          <a:xfrm xmlns:a="http://schemas.openxmlformats.org/drawingml/2006/main">
            <a:off x="609600" y="212407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950" b="0">
                <a:solidFill>
                  <a:srgbClr val="546973"/>
                </a:solidFill>
                <a:latin typeface="DejaVu Sans"/>
                <a:ea typeface="DejaVu Sans"/>
                <a:cs typeface="DejaVu Sans"/>
              </a:defRPr>
            </a:defPPr>
          </a:lstStyle>
          <a:p xmlns:a="http://schemas.openxmlformats.org/drawingml/2006/main">
            <a:pPr algn="r" rtl="1">
              <a:defRPr sz="1950" b="0">
                <a:solidFill>
                  <a:srgbClr val="546973"/>
                </a:solidFill>
                <a:latin typeface="DejaVu Sans"/>
                <a:ea typeface="DejaVu Sans"/>
                <a:cs typeface="DejaVu Sans"/>
              </a:defRPr>
            </a:pPr>
            <a:r>
              <a:rPr sz="1950" b="0" lang="fa-IR">
                <a:solidFill>
                  <a:srgbClr val="546973"/>
                </a:solidFill>
                <a:latin typeface="DejaVu Sans"/>
                <a:ea typeface="DejaVu Sans"/>
                <a:cs typeface="DejaVu Sans"/>
              </a:rPr>
              <a:t>داده مستقل و ارزیابی بالینی برای سنجش تعمیم‌پذیری</a:t>
            </a:r>
          </a:p>
        </p:txBody>
      </p:sp>
      <p:sp>
        <p:nvSpPr>
          <p:cNvPr id="5" name="rtl_text_4">
            <a:extLst xmlns:a="http://schemas.openxmlformats.org/drawingml/2006/main">
              <a:ext uri="{FF2B5EF4-FFF2-40B4-BE49-F238E27FC236}">
                <a16:creationId xmlns:a16="http://schemas.microsoft.com/office/drawing/2014/main" id="{95DC212C-3B13-455A-94E9-4D9F3414B7DE}"/>
              </a:ext>
            </a:extLst>
          </p:cNvPr>
          <p:cNvSpPr>
            <a:spLocks xmlns:a="http://schemas.openxmlformats.org/drawingml/2006/main" noGrp="1"/>
          </p:cNvSpPr>
          <p:nvPr/>
        </p:nvSpPr>
        <p:spPr>
          <a:xfrm xmlns:a="http://schemas.openxmlformats.org/drawingml/2006/main">
            <a:off x="609600" y="288607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100" b="1">
                <a:solidFill>
                  <a:srgbClr val="087E83"/>
                </a:solidFill>
                <a:latin typeface="DejaVu Sans"/>
                <a:ea typeface="DejaVu Sans"/>
                <a:cs typeface="DejaVu Sans"/>
              </a:defRPr>
            </a:defPPr>
          </a:lstStyle>
          <a:p xmlns:a="http://schemas.openxmlformats.org/drawingml/2006/main">
            <a:pPr algn="r" rtl="1">
              <a:defRPr sz="2100" b="1">
                <a:solidFill>
                  <a:srgbClr val="087E83"/>
                </a:solidFill>
                <a:latin typeface="DejaVu Sans"/>
                <a:ea typeface="DejaVu Sans"/>
                <a:cs typeface="DejaVu Sans"/>
              </a:defRPr>
            </a:pPr>
            <a:r>
              <a:rPr sz="2100" b="1" lang="fa-IR">
                <a:solidFill>
                  <a:srgbClr val="087E83"/>
                </a:solidFill>
                <a:latin typeface="DejaVu Sans"/>
                <a:ea typeface="DejaVu Sans"/>
                <a:cs typeface="DejaVu Sans"/>
              </a:rPr>
              <a:t>مدل اعتماد</a:t>
            </a:r>
          </a:p>
        </p:txBody>
      </p:sp>
      <p:sp>
        <p:nvSpPr>
          <p:cNvPr id="6" name="rtl_text_5">
            <a:extLst xmlns:a="http://schemas.openxmlformats.org/drawingml/2006/main">
              <a:ext uri="{FF2B5EF4-FFF2-40B4-BE49-F238E27FC236}">
                <a16:creationId xmlns:a16="http://schemas.microsoft.com/office/drawing/2014/main" id="{00C0109B-E3EA-4359-A67D-69929987E3A0}"/>
              </a:ext>
            </a:extLst>
          </p:cNvPr>
          <p:cNvSpPr>
            <a:spLocks xmlns:a="http://schemas.openxmlformats.org/drawingml/2006/main" noGrp="1"/>
          </p:cNvSpPr>
          <p:nvPr/>
        </p:nvSpPr>
        <p:spPr>
          <a:xfrm xmlns:a="http://schemas.openxmlformats.org/drawingml/2006/main">
            <a:off x="609600" y="332422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950" b="0">
                <a:solidFill>
                  <a:srgbClr val="546973"/>
                </a:solidFill>
                <a:latin typeface="DejaVu Sans"/>
                <a:ea typeface="DejaVu Sans"/>
                <a:cs typeface="DejaVu Sans"/>
              </a:defRPr>
            </a:defPPr>
          </a:lstStyle>
          <a:p xmlns:a="http://schemas.openxmlformats.org/drawingml/2006/main">
            <a:pPr algn="r" rtl="1">
              <a:defRPr sz="1950" b="0">
                <a:solidFill>
                  <a:srgbClr val="546973"/>
                </a:solidFill>
                <a:latin typeface="DejaVu Sans"/>
                <a:ea typeface="DejaVu Sans"/>
                <a:cs typeface="DejaVu Sans"/>
              </a:defRPr>
            </a:pPr>
            <a:r>
              <a:rPr sz="1950" b="0" lang="fa-IR">
                <a:solidFill>
                  <a:srgbClr val="546973"/>
                </a:solidFill>
                <a:latin typeface="DejaVu Sans"/>
                <a:ea typeface="DejaVu Sans"/>
                <a:cs typeface="DejaVu Sans"/>
              </a:rPr>
              <a:t>سرور قابل اعتماد و ثبت امن کلیدهای عمومی</a:t>
            </a:r>
          </a:p>
        </p:txBody>
      </p:sp>
      <p:sp>
        <p:nvSpPr>
          <p:cNvPr id="7" name="rtl_text_6">
            <a:extLst xmlns:a="http://schemas.openxmlformats.org/drawingml/2006/main">
              <a:ext uri="{FF2B5EF4-FFF2-40B4-BE49-F238E27FC236}">
                <a16:creationId xmlns:a16="http://schemas.microsoft.com/office/drawing/2014/main" id="{EAC72EF7-20B0-4E08-9281-6399EBA2C4C3}"/>
              </a:ext>
            </a:extLst>
          </p:cNvPr>
          <p:cNvSpPr>
            <a:spLocks xmlns:a="http://schemas.openxmlformats.org/drawingml/2006/main" noGrp="1"/>
          </p:cNvSpPr>
          <p:nvPr/>
        </p:nvSpPr>
        <p:spPr>
          <a:xfrm xmlns:a="http://schemas.openxmlformats.org/drawingml/2006/main">
            <a:off x="609600" y="408622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100" b="1">
                <a:solidFill>
                  <a:srgbClr val="087E83"/>
                </a:solidFill>
                <a:latin typeface="DejaVu Sans"/>
                <a:ea typeface="DejaVu Sans"/>
                <a:cs typeface="DejaVu Sans"/>
              </a:defRPr>
            </a:defPPr>
          </a:lstStyle>
          <a:p xmlns:a="http://schemas.openxmlformats.org/drawingml/2006/main">
            <a:pPr algn="r" rtl="1">
              <a:defRPr sz="2100" b="1">
                <a:solidFill>
                  <a:srgbClr val="087E83"/>
                </a:solidFill>
                <a:latin typeface="DejaVu Sans"/>
                <a:ea typeface="DejaVu Sans"/>
                <a:cs typeface="DejaVu Sans"/>
              </a:defRPr>
            </a:pPr>
            <a:r>
              <a:rPr sz="2100" b="1" lang="fa-IR">
                <a:solidFill>
                  <a:srgbClr val="087E83"/>
                </a:solidFill>
                <a:latin typeface="DejaVu Sans"/>
                <a:ea typeface="DejaVu Sans"/>
                <a:cs typeface="DejaVu Sans"/>
              </a:rPr>
              <a:t>پارامترها و مقیاس</a:t>
            </a:r>
          </a:p>
        </p:txBody>
      </p:sp>
      <p:sp>
        <p:nvSpPr>
          <p:cNvPr id="8" name="rtl_text_7">
            <a:extLst xmlns:a="http://schemas.openxmlformats.org/drawingml/2006/main">
              <a:ext uri="{FF2B5EF4-FFF2-40B4-BE49-F238E27FC236}">
                <a16:creationId xmlns:a16="http://schemas.microsoft.com/office/drawing/2014/main" id="{60B9F7EB-190A-4BF9-95E2-540323626237}"/>
              </a:ext>
            </a:extLst>
          </p:cNvPr>
          <p:cNvSpPr>
            <a:spLocks xmlns:a="http://schemas.openxmlformats.org/drawingml/2006/main" noGrp="1"/>
          </p:cNvSpPr>
          <p:nvPr/>
        </p:nvSpPr>
        <p:spPr>
          <a:xfrm xmlns:a="http://schemas.openxmlformats.org/drawingml/2006/main">
            <a:off x="609600" y="452437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950" b="0">
                <a:solidFill>
                  <a:srgbClr val="546973"/>
                </a:solidFill>
                <a:latin typeface="DejaVu Sans"/>
                <a:ea typeface="DejaVu Sans"/>
                <a:cs typeface="DejaVu Sans"/>
              </a:defRPr>
            </a:defPPr>
          </a:lstStyle>
          <a:p xmlns:a="http://schemas.openxmlformats.org/drawingml/2006/main">
            <a:pPr algn="r" rtl="1">
              <a:defRPr sz="1950" b="0">
                <a:solidFill>
                  <a:srgbClr val="546973"/>
                </a:solidFill>
                <a:latin typeface="DejaVu Sans"/>
                <a:ea typeface="DejaVu Sans"/>
                <a:cs typeface="DejaVu Sans"/>
              </a:defRPr>
            </a:pPr>
            <a:r>
              <a:rPr sz="1950" b="0" lang="fa-IR">
                <a:solidFill>
                  <a:srgbClr val="546973"/>
                </a:solidFill>
                <a:latin typeface="DejaVu Sans"/>
                <a:ea typeface="DejaVu Sans"/>
                <a:cs typeface="DejaVu Sans"/>
              </a:rPr>
              <a:t>انتخاب کلید برای استقرار، کنترل سرریز و هزینه تأیید امضا</a:t>
            </a:r>
          </a:p>
        </p:txBody>
      </p:sp>
      <p:sp>
        <p:nvSpPr>
          <p:cNvPr id="9" name="rtl_text_8">
            <a:extLst xmlns:a="http://schemas.openxmlformats.org/drawingml/2006/main">
              <a:ext uri="{FF2B5EF4-FFF2-40B4-BE49-F238E27FC236}">
                <a16:creationId xmlns:a16="http://schemas.microsoft.com/office/drawing/2014/main" id="{DCC68E99-F7C3-48EB-93F6-1B2207971075}"/>
              </a:ext>
            </a:extLst>
          </p:cNvPr>
          <p:cNvSpPr>
            <a:spLocks xmlns:a="http://schemas.openxmlformats.org/drawingml/2006/main" noGrp="1"/>
          </p:cNvSpPr>
          <p:nvPr/>
        </p:nvSpPr>
        <p:spPr>
          <a:xfrm xmlns:a="http://schemas.openxmlformats.org/drawingml/2006/main">
            <a:off x="609600" y="571500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175" b="1">
                <a:solidFill>
                  <a:srgbClr val="087E83"/>
                </a:solidFill>
                <a:latin typeface="DejaVu Sans"/>
                <a:ea typeface="DejaVu Sans"/>
                <a:cs typeface="DejaVu Sans"/>
              </a:defRPr>
            </a:defPPr>
          </a:lstStyle>
          <a:p xmlns:a="http://schemas.openxmlformats.org/drawingml/2006/main">
            <a:pPr algn="r" rtl="1">
              <a:defRPr sz="2175" b="1">
                <a:solidFill>
                  <a:srgbClr val="087E83"/>
                </a:solidFill>
                <a:latin typeface="DejaVu Sans"/>
                <a:ea typeface="DejaVu Sans"/>
                <a:cs typeface="DejaVu Sans"/>
              </a:defRPr>
            </a:pPr>
            <a:r>
              <a:rPr sz="2175" b="1" lang="fa-IR">
                <a:solidFill>
                  <a:srgbClr val="087E83"/>
                </a:solidFill>
                <a:latin typeface="DejaVu Sans"/>
                <a:ea typeface="DejaVu Sans"/>
                <a:cs typeface="DejaVu Sans"/>
              </a:rPr>
              <a:t>گام بعد: اعتبارسنجی مستقل و ارزیابی در پارامترهای امن‌تر</a:t>
            </a:r>
          </a:p>
        </p:txBody>
      </p:sp>
    </p:spTree>
    <p:extLst>
      <p:ext uri="{BB962C8B-B14F-4D97-AF65-F5344CB8AC3E}">
        <p14:creationId xmlns:p14="http://schemas.microsoft.com/office/powerpoint/2010/main" val="344836657"/>
      </p:ext>
    </p:extLst>
  </p:cSld>
</p:sld>
</file>

<file path=ppt/slides/slide1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rtl_headline">
            <a:extLst xmlns:a="http://schemas.openxmlformats.org/drawingml/2006/main">
              <a:ext uri="{FF2B5EF4-FFF2-40B4-BE49-F238E27FC236}">
                <a16:creationId xmlns:a16="http://schemas.microsoft.com/office/drawing/2014/main" id="{36AE3FF0-0B01-402C-B9A3-02B4749390D8}"/>
              </a:ext>
            </a:extLst>
          </p:cNvPr>
          <p:cNvSpPr>
            <a:spLocks xmlns:a="http://schemas.openxmlformats.org/drawingml/2006/main" noGrp="1"/>
          </p:cNvSpPr>
          <p:nvPr/>
        </p:nvSpPr>
        <p:spPr>
          <a:xfrm xmlns:a="http://schemas.openxmlformats.org/drawingml/2006/main">
            <a:off x="609600" y="4191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300" b="1">
                <a:solidFill>
                  <a:srgbClr val="172F3A"/>
                </a:solidFill>
                <a:latin typeface="DejaVu Sans"/>
                <a:ea typeface="DejaVu Sans"/>
                <a:cs typeface="DejaVu Sans"/>
              </a:defRPr>
            </a:defPPr>
          </a:lstStyle>
          <a:p xmlns:a="http://schemas.openxmlformats.org/drawingml/2006/main">
            <a:pPr algn="r" rtl="1">
              <a:defRPr sz="3300" b="1">
                <a:solidFill>
                  <a:srgbClr val="172F3A"/>
                </a:solidFill>
                <a:latin typeface="DejaVu Sans"/>
                <a:ea typeface="DejaVu Sans"/>
                <a:cs typeface="DejaVu Sans"/>
              </a:defRPr>
            </a:pPr>
            <a:r>
              <a:rPr sz="3300" b="1" lang="fa-IR">
                <a:solidFill>
                  <a:srgbClr val="172F3A"/>
                </a:solidFill>
                <a:latin typeface="DejaVu Sans"/>
                <a:ea typeface="DejaVu Sans"/>
                <a:cs typeface="DejaVu Sans"/>
              </a:rPr>
              <a:t>نتیجه‌گیری</a:t>
            </a:r>
          </a:p>
        </p:txBody>
      </p:sp>
      <p:sp>
        <p:nvSpPr>
          <p:cNvPr id="2" name="ltr_page">
            <a:extLst xmlns:a="http://schemas.openxmlformats.org/drawingml/2006/main">
              <a:ext uri="{FF2B5EF4-FFF2-40B4-BE49-F238E27FC236}">
                <a16:creationId xmlns:a16="http://schemas.microsoft.com/office/drawing/2014/main" id="{517DA213-49AA-47CF-8835-CD143C2A6AD9}"/>
              </a:ext>
            </a:extLst>
          </p:cNvPr>
          <p:cNvSpPr>
            <a:spLocks xmlns:a="http://schemas.openxmlformats.org/drawingml/2006/main" noGrp="1"/>
          </p:cNvSpPr>
          <p:nvPr/>
        </p:nvSpPr>
        <p:spPr>
          <a:xfrm xmlns:a="http://schemas.openxmlformats.org/drawingml/2006/main">
            <a:off x="609600" y="63436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46973"/>
                </a:solidFill>
                <a:latin typeface="DejaVu Sans"/>
                <a:ea typeface="DejaVu Sans"/>
                <a:cs typeface="DejaVu Sans"/>
              </a:defRPr>
            </a:defPPr>
          </a:lstStyle>
          <a:p xmlns:a="http://schemas.openxmlformats.org/drawingml/2006/main">
            <a:pPr algn="l" rtl="0">
              <a:defRPr sz="1350" b="0">
                <a:solidFill>
                  <a:srgbClr val="546973"/>
                </a:solidFill>
                <a:latin typeface="DejaVu Sans"/>
                <a:ea typeface="DejaVu Sans"/>
                <a:cs typeface="DejaVu Sans"/>
              </a:defRPr>
            </a:pPr>
            <a:r>
              <a:rPr sz="1350" b="0" lang="en-US">
                <a:solidFill>
                  <a:srgbClr val="546973"/>
                </a:solidFill>
                <a:latin typeface="DejaVu Sans"/>
                <a:ea typeface="DejaVu Sans"/>
                <a:cs typeface="DejaVu Sans"/>
              </a:rPr>
              <a:t>18</a:t>
            </a:r>
          </a:p>
        </p:txBody>
      </p:sp>
      <p:sp>
        <p:nvSpPr>
          <p:cNvPr id="3" name="rtl_text_2">
            <a:extLst xmlns:a="http://schemas.openxmlformats.org/drawingml/2006/main">
              <a:ext uri="{FF2B5EF4-FFF2-40B4-BE49-F238E27FC236}">
                <a16:creationId xmlns:a16="http://schemas.microsoft.com/office/drawing/2014/main" id="{B4097D79-F153-4FC4-9E54-D36536809489}"/>
              </a:ext>
            </a:extLst>
          </p:cNvPr>
          <p:cNvSpPr>
            <a:spLocks xmlns:a="http://schemas.openxmlformats.org/drawingml/2006/main" noGrp="1"/>
          </p:cNvSpPr>
          <p:nvPr/>
        </p:nvSpPr>
        <p:spPr>
          <a:xfrm xmlns:a="http://schemas.openxmlformats.org/drawingml/2006/main">
            <a:off x="609600" y="1724025"/>
            <a:ext cx="39052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875" b="1">
                <a:solidFill>
                  <a:srgbClr val="087E83"/>
                </a:solidFill>
                <a:latin typeface="DejaVu Sans"/>
                <a:ea typeface="DejaVu Sans"/>
                <a:cs typeface="DejaVu Sans"/>
              </a:defRPr>
            </a:defPPr>
          </a:lstStyle>
          <a:p xmlns:a="http://schemas.openxmlformats.org/drawingml/2006/main">
            <a:pPr algn="ctr" rtl="1">
              <a:defRPr sz="4875" b="1">
                <a:solidFill>
                  <a:srgbClr val="087E83"/>
                </a:solidFill>
                <a:latin typeface="DejaVu Sans"/>
                <a:ea typeface="DejaVu Sans"/>
                <a:cs typeface="DejaVu Sans"/>
              </a:defRPr>
            </a:pPr>
            <a:r>
              <a:rPr sz="4875" b="1" lang="fa-IR">
                <a:solidFill>
                  <a:srgbClr val="087E83"/>
                </a:solidFill>
                <a:latin typeface="DejaVu Sans"/>
                <a:ea typeface="DejaVu Sans"/>
                <a:cs typeface="DejaVu Sans"/>
              </a:rPr>
              <a:t>۹۳٫۶۳٪</a:t>
            </a:r>
          </a:p>
        </p:txBody>
      </p:sp>
      <p:sp>
        <p:nvSpPr>
          <p:cNvPr id="4" name="rtl_text_3">
            <a:extLst xmlns:a="http://schemas.openxmlformats.org/drawingml/2006/main">
              <a:ext uri="{FF2B5EF4-FFF2-40B4-BE49-F238E27FC236}">
                <a16:creationId xmlns:a16="http://schemas.microsoft.com/office/drawing/2014/main" id="{0AD25EA4-7F5A-40F9-B2C9-11C2AD94382E}"/>
              </a:ext>
            </a:extLst>
          </p:cNvPr>
          <p:cNvSpPr>
            <a:spLocks xmlns:a="http://schemas.openxmlformats.org/drawingml/2006/main" noGrp="1"/>
          </p:cNvSpPr>
          <p:nvPr/>
        </p:nvSpPr>
        <p:spPr>
          <a:xfrm xmlns:a="http://schemas.openxmlformats.org/drawingml/2006/main">
            <a:off x="609600" y="2847975"/>
            <a:ext cx="3905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75" b="0">
                <a:solidFill>
                  <a:srgbClr val="172F3A"/>
                </a:solidFill>
                <a:latin typeface="DejaVu Sans"/>
                <a:ea typeface="DejaVu Sans"/>
                <a:cs typeface="DejaVu Sans"/>
              </a:defRPr>
            </a:defPPr>
          </a:lstStyle>
          <a:p xmlns:a="http://schemas.openxmlformats.org/drawingml/2006/main">
            <a:pPr algn="ctr" rtl="1">
              <a:defRPr sz="2175" b="0">
                <a:solidFill>
                  <a:srgbClr val="172F3A"/>
                </a:solidFill>
                <a:latin typeface="DejaVu Sans"/>
                <a:ea typeface="DejaVu Sans"/>
                <a:cs typeface="DejaVu Sans"/>
              </a:defRPr>
            </a:pPr>
            <a:r>
              <a:rPr sz="2175" b="0" lang="fa-IR">
                <a:solidFill>
                  <a:srgbClr val="172F3A"/>
                </a:solidFill>
                <a:latin typeface="DejaVu Sans"/>
                <a:ea typeface="DejaVu Sans"/>
                <a:cs typeface="DejaVu Sans"/>
              </a:rPr>
              <a:t>دقت XGBoost</a:t>
            </a:r>
          </a:p>
          <a:p xmlns:a="http://schemas.openxmlformats.org/drawingml/2006/main">
            <a:pPr algn="ctr" rtl="1">
              <a:defRPr sz="2175" b="0">
                <a:solidFill>
                  <a:srgbClr val="172F3A"/>
                </a:solidFill>
                <a:latin typeface="DejaVu Sans"/>
                <a:ea typeface="DejaVu Sans"/>
                <a:cs typeface="DejaVu Sans"/>
              </a:defRPr>
            </a:pPr>
            <a:r>
              <a:rPr sz="2175" b="0" lang="fa-IR">
                <a:solidFill>
                  <a:srgbClr val="172F3A"/>
                </a:solidFill>
                <a:latin typeface="DejaVu Sans"/>
                <a:ea typeface="DejaVu Sans"/>
                <a:cs typeface="DejaVu Sans"/>
              </a:rPr>
              <a:t>در ارزیابی مدل متنی</a:t>
            </a:r>
          </a:p>
        </p:txBody>
      </p:sp>
      <p:sp>
        <p:nvSpPr>
          <p:cNvPr id="5" name="ltr_text_4">
            <a:extLst xmlns:a="http://schemas.openxmlformats.org/drawingml/2006/main">
              <a:ext uri="{FF2B5EF4-FFF2-40B4-BE49-F238E27FC236}">
                <a16:creationId xmlns:a16="http://schemas.microsoft.com/office/drawing/2014/main" id="{158CBD24-F814-47C7-8A19-667F7C3DFF49}"/>
              </a:ext>
            </a:extLst>
          </p:cNvPr>
          <p:cNvSpPr>
            <a:spLocks xmlns:a="http://schemas.openxmlformats.org/drawingml/2006/main" noGrp="1"/>
          </p:cNvSpPr>
          <p:nvPr/>
        </p:nvSpPr>
        <p:spPr>
          <a:xfrm xmlns:a="http://schemas.openxmlformats.org/drawingml/2006/main">
            <a:off x="5248275" y="1819275"/>
            <a:ext cx="63341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000" b="1">
                <a:solidFill>
                  <a:srgbClr val="172F3A"/>
                </a:solidFill>
                <a:latin typeface="DejaVu Sans"/>
                <a:ea typeface="DejaVu Sans"/>
                <a:cs typeface="DejaVu Sans"/>
              </a:defRPr>
            </a:defPPr>
          </a:lstStyle>
          <a:p xmlns:a="http://schemas.openxmlformats.org/drawingml/2006/main">
            <a:pPr algn="r" rtl="0">
              <a:defRPr sz="3000" b="1">
                <a:solidFill>
                  <a:srgbClr val="172F3A"/>
                </a:solidFill>
                <a:latin typeface="DejaVu Sans"/>
                <a:ea typeface="DejaVu Sans"/>
                <a:cs typeface="DejaVu Sans"/>
              </a:defRPr>
            </a:pPr>
            <a:r>
              <a:rPr sz="3000" b="1" lang="en-US">
                <a:solidFill>
                  <a:srgbClr val="172F3A"/>
                </a:solidFill>
                <a:latin typeface="DejaVu Sans"/>
                <a:ea typeface="DejaVu Sans"/>
                <a:cs typeface="DejaVu Sans"/>
              </a:rPr>
              <a:t>SBHE-Benaloh</a:t>
            </a:r>
          </a:p>
        </p:txBody>
      </p:sp>
      <p:sp>
        <p:nvSpPr>
          <p:cNvPr id="6" name="rtl_text_5">
            <a:extLst xmlns:a="http://schemas.openxmlformats.org/drawingml/2006/main">
              <a:ext uri="{FF2B5EF4-FFF2-40B4-BE49-F238E27FC236}">
                <a16:creationId xmlns:a16="http://schemas.microsoft.com/office/drawing/2014/main" id="{03497E8A-35C9-44A9-A9CA-40274A3706C0}"/>
              </a:ext>
            </a:extLst>
          </p:cNvPr>
          <p:cNvSpPr>
            <a:spLocks xmlns:a="http://schemas.openxmlformats.org/drawingml/2006/main" noGrp="1"/>
          </p:cNvSpPr>
          <p:nvPr/>
        </p:nvSpPr>
        <p:spPr>
          <a:xfrm xmlns:a="http://schemas.openxmlformats.org/drawingml/2006/main">
            <a:off x="5248275" y="2771775"/>
            <a:ext cx="6334125" cy="1133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325" b="0">
                <a:solidFill>
                  <a:srgbClr val="172F3A"/>
                </a:solidFill>
                <a:latin typeface="DejaVu Sans"/>
                <a:ea typeface="DejaVu Sans"/>
                <a:cs typeface="DejaVu Sans"/>
              </a:defRPr>
            </a:defPPr>
          </a:lstStyle>
          <a:p xmlns:a="http://schemas.openxmlformats.org/drawingml/2006/main">
            <a:pPr algn="r" rtl="1">
              <a:defRPr sz="2325" b="0">
                <a:solidFill>
                  <a:srgbClr val="172F3A"/>
                </a:solidFill>
                <a:latin typeface="DejaVu Sans"/>
                <a:ea typeface="DejaVu Sans"/>
                <a:cs typeface="DejaVu Sans"/>
              </a:defRPr>
            </a:pPr>
            <a:r>
              <a:rPr sz="2325" b="0" lang="fa-IR">
                <a:solidFill>
                  <a:srgbClr val="172F3A"/>
                </a:solidFill>
                <a:latin typeface="DejaVu Sans"/>
                <a:ea typeface="DejaVu Sans"/>
                <a:cs typeface="DejaVu Sans"/>
              </a:rPr>
              <a:t>احراز بسته پیش از تجمیع</a:t>
            </a:r>
          </a:p>
          <a:p xmlns:a="http://schemas.openxmlformats.org/drawingml/2006/main">
            <a:pPr algn="r" rtl="1">
              <a:defRPr sz="2325" b="0">
                <a:solidFill>
                  <a:srgbClr val="172F3A"/>
                </a:solidFill>
                <a:latin typeface="DejaVu Sans"/>
                <a:ea typeface="DejaVu Sans"/>
                <a:cs typeface="DejaVu Sans"/>
              </a:defRPr>
            </a:pPr>
            <a:r>
              <a:rPr sz="2325" b="0" lang="fa-IR">
                <a:solidFill>
                  <a:srgbClr val="172F3A"/>
                </a:solidFill>
                <a:latin typeface="DejaVu Sans"/>
                <a:ea typeface="DejaVu Sans"/>
                <a:cs typeface="DejaVu Sans"/>
              </a:rPr>
              <a:t>و محاسبه میانگین وزنی در فضای رمز</a:t>
            </a:r>
          </a:p>
        </p:txBody>
      </p:sp>
      <p:sp>
        <p:nvSpPr>
          <p:cNvPr id="7" name="rtl_text_6">
            <a:extLst xmlns:a="http://schemas.openxmlformats.org/drawingml/2006/main">
              <a:ext uri="{FF2B5EF4-FFF2-40B4-BE49-F238E27FC236}">
                <a16:creationId xmlns:a16="http://schemas.microsoft.com/office/drawing/2014/main" id="{63DE7F2F-650D-49A5-8AC6-98360947F871}"/>
              </a:ext>
            </a:extLst>
          </p:cNvPr>
          <p:cNvSpPr>
            <a:spLocks xmlns:a="http://schemas.openxmlformats.org/drawingml/2006/main" noGrp="1"/>
          </p:cNvSpPr>
          <p:nvPr/>
        </p:nvSpPr>
        <p:spPr>
          <a:xfrm xmlns:a="http://schemas.openxmlformats.org/drawingml/2006/main">
            <a:off x="609600" y="4486275"/>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175" b="1">
                <a:solidFill>
                  <a:srgbClr val="172F3A"/>
                </a:solidFill>
                <a:latin typeface="DejaVu Sans"/>
                <a:ea typeface="DejaVu Sans"/>
                <a:cs typeface="DejaVu Sans"/>
              </a:defRPr>
            </a:defPPr>
          </a:lstStyle>
          <a:p xmlns:a="http://schemas.openxmlformats.org/drawingml/2006/main">
            <a:pPr algn="r" rtl="1">
              <a:defRPr sz="2175" b="1">
                <a:solidFill>
                  <a:srgbClr val="172F3A"/>
                </a:solidFill>
                <a:latin typeface="DejaVu Sans"/>
                <a:ea typeface="DejaVu Sans"/>
                <a:cs typeface="DejaVu Sans"/>
              </a:defRPr>
            </a:pPr>
            <a:r>
              <a:rPr sz="2175" b="1" lang="fa-IR">
                <a:solidFill>
                  <a:srgbClr val="172F3A"/>
                </a:solidFill>
                <a:latin typeface="DejaVu Sans"/>
                <a:ea typeface="DejaVu Sans"/>
                <a:cs typeface="DejaVu Sans"/>
              </a:rPr>
              <a:t>مبنای توسعه: همکاری منابع محلی با تبادل محافظت‌شده خروجی‌ها</a:t>
            </a:r>
          </a:p>
        </p:txBody>
      </p:sp>
      <p:sp>
        <p:nvSpPr>
          <p:cNvPr id="8" name="rtl_text_7">
            <a:extLst xmlns:a="http://schemas.openxmlformats.org/drawingml/2006/main">
              <a:ext uri="{FF2B5EF4-FFF2-40B4-BE49-F238E27FC236}">
                <a16:creationId xmlns:a16="http://schemas.microsoft.com/office/drawing/2014/main" id="{B72C78BB-F64E-4F77-90C3-1984BE4D15B8}"/>
              </a:ext>
            </a:extLst>
          </p:cNvPr>
          <p:cNvSpPr>
            <a:spLocks xmlns:a="http://schemas.openxmlformats.org/drawingml/2006/main" noGrp="1"/>
          </p:cNvSpPr>
          <p:nvPr/>
        </p:nvSpPr>
        <p:spPr>
          <a:xfrm xmlns:a="http://schemas.openxmlformats.org/drawingml/2006/main">
            <a:off x="609600" y="5581650"/>
            <a:ext cx="109728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625" b="0">
                <a:solidFill>
                  <a:srgbClr val="087E83"/>
                </a:solidFill>
                <a:latin typeface="DejaVu Sans"/>
                <a:ea typeface="DejaVu Sans"/>
                <a:cs typeface="DejaVu Sans"/>
              </a:defRPr>
            </a:defPPr>
          </a:lstStyle>
          <a:p xmlns:a="http://schemas.openxmlformats.org/drawingml/2006/main">
            <a:pPr algn="r" rtl="1">
              <a:defRPr sz="2625" b="0">
                <a:solidFill>
                  <a:srgbClr val="087E83"/>
                </a:solidFill>
                <a:latin typeface="DejaVu Sans"/>
                <a:ea typeface="DejaVu Sans"/>
                <a:cs typeface="DejaVu Sans"/>
              </a:defRPr>
            </a:pPr>
            <a:r>
              <a:rPr sz="2625" b="0" lang="fa-IR">
                <a:solidFill>
                  <a:srgbClr val="087E83"/>
                </a:solidFill>
                <a:latin typeface="DejaVu Sans"/>
                <a:ea typeface="DejaVu Sans"/>
                <a:cs typeface="DejaVu Sans"/>
              </a:rPr>
              <a:t>سپاس از توجه شما</a:t>
            </a:r>
          </a:p>
        </p:txBody>
      </p:sp>
    </p:spTree>
    <p:extLst>
      <p:ext uri="{BB962C8B-B14F-4D97-AF65-F5344CB8AC3E}">
        <p14:creationId xmlns:p14="http://schemas.microsoft.com/office/powerpoint/2010/main" val="752309085"/>
      </p:ext>
    </p:extLst>
  </p:cSld>
</p:sld>
</file>

<file path=ppt/slides/slide19.xml><?xml version="1.0" encoding="utf-8"?>
<p:sld xmlns:p="http://schemas.openxmlformats.org/presentationml/2006/main" show="0">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8" name="rtl_headline">
            <a:extLst xmlns:a="http://schemas.openxmlformats.org/drawingml/2006/main">
              <a:ext uri="{FF2B5EF4-FFF2-40B4-BE49-F238E27FC236}">
                <a16:creationId xmlns:a16="http://schemas.microsoft.com/office/drawing/2014/main" id="{3A09F6CE-EB9E-4B6B-B29F-C51DB50BDA50}"/>
              </a:ext>
            </a:extLst>
          </p:cNvPr>
          <p:cNvSpPr>
            <a:spLocks xmlns:a="http://schemas.openxmlformats.org/drawingml/2006/main" noGrp="1"/>
          </p:cNvSpPr>
          <p:nvPr/>
        </p:nvSpPr>
        <p:spPr>
          <a:xfrm xmlns:a="http://schemas.openxmlformats.org/drawingml/2006/main">
            <a:off x="609600" y="4191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300" b="1">
                <a:solidFill>
                  <a:srgbClr val="172F3A"/>
                </a:solidFill>
                <a:latin typeface="DejaVu Sans"/>
                <a:ea typeface="DejaVu Sans"/>
                <a:cs typeface="DejaVu Sans"/>
              </a:defRPr>
            </a:defPPr>
          </a:lstStyle>
          <a:p xmlns:a="http://schemas.openxmlformats.org/drawingml/2006/main">
            <a:pPr algn="r" rtl="1">
              <a:defRPr sz="3300" b="1">
                <a:solidFill>
                  <a:srgbClr val="172F3A"/>
                </a:solidFill>
                <a:latin typeface="DejaVu Sans"/>
                <a:ea typeface="DejaVu Sans"/>
                <a:cs typeface="DejaVu Sans"/>
              </a:defRPr>
            </a:pPr>
            <a:r>
              <a:rPr sz="3300" b="1" lang="fa-IR">
                <a:solidFill>
                  <a:srgbClr val="172F3A"/>
                </a:solidFill>
                <a:latin typeface="DejaVu Sans"/>
                <a:ea typeface="DejaVu Sans"/>
                <a:cs typeface="DejaVu Sans"/>
              </a:rPr>
              <a:t>اثبات درستی تجمیع</a:t>
            </a:r>
          </a:p>
        </p:txBody>
      </p:sp>
      <p:sp>
        <p:nvSpPr>
          <p:cNvPr id="2" name="ltr_page">
            <a:extLst xmlns:a="http://schemas.openxmlformats.org/drawingml/2006/main">
              <a:ext uri="{FF2B5EF4-FFF2-40B4-BE49-F238E27FC236}">
                <a16:creationId xmlns:a16="http://schemas.microsoft.com/office/drawing/2014/main" id="{1FB35659-213C-477A-83A7-37E89E0FCFCE}"/>
              </a:ext>
            </a:extLst>
          </p:cNvPr>
          <p:cNvSpPr>
            <a:spLocks xmlns:a="http://schemas.openxmlformats.org/drawingml/2006/main" noGrp="1"/>
          </p:cNvSpPr>
          <p:nvPr/>
        </p:nvSpPr>
        <p:spPr>
          <a:xfrm xmlns:a="http://schemas.openxmlformats.org/drawingml/2006/main">
            <a:off x="609600" y="63436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46973"/>
                </a:solidFill>
                <a:latin typeface="DejaVu Sans"/>
                <a:ea typeface="DejaVu Sans"/>
                <a:cs typeface="DejaVu Sans"/>
              </a:defRPr>
            </a:defPPr>
          </a:lstStyle>
          <a:p xmlns:a="http://schemas.openxmlformats.org/drawingml/2006/main">
            <a:pPr algn="l" rtl="0">
              <a:defRPr sz="1350" b="0">
                <a:solidFill>
                  <a:srgbClr val="546973"/>
                </a:solidFill>
                <a:latin typeface="DejaVu Sans"/>
                <a:ea typeface="DejaVu Sans"/>
                <a:cs typeface="DejaVu Sans"/>
              </a:defRPr>
            </a:pPr>
            <a:r>
              <a:rPr sz="1350" b="0" lang="en-US">
                <a:solidFill>
                  <a:srgbClr val="546973"/>
                </a:solidFill>
                <a:latin typeface="DejaVu Sans"/>
                <a:ea typeface="DejaVu Sans"/>
                <a:cs typeface="DejaVu Sans"/>
              </a:rPr>
              <a:t>19</a:t>
            </a:r>
          </a:p>
        </p:txBody>
      </p:sp>
      <p:sp>
        <p:nvSpPr>
          <p:cNvPr id="3" name="rtl_text_2">
            <a:extLst xmlns:a="http://schemas.openxmlformats.org/drawingml/2006/main">
              <a:ext uri="{FF2B5EF4-FFF2-40B4-BE49-F238E27FC236}">
                <a16:creationId xmlns:a16="http://schemas.microsoft.com/office/drawing/2014/main" id="{72FEF612-E9D4-4841-B40C-60488E6674B9}"/>
              </a:ext>
            </a:extLst>
          </p:cNvPr>
          <p:cNvSpPr>
            <a:spLocks xmlns:a="http://schemas.openxmlformats.org/drawingml/2006/main" noGrp="1"/>
          </p:cNvSpPr>
          <p:nvPr/>
        </p:nvSpPr>
        <p:spPr>
          <a:xfrm xmlns:a="http://schemas.openxmlformats.org/drawingml/2006/main">
            <a:off x="8953500" y="6343650"/>
            <a:ext cx="2628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46973"/>
                </a:solidFill>
                <a:latin typeface="DejaVu Sans"/>
                <a:ea typeface="DejaVu Sans"/>
                <a:cs typeface="DejaVu Sans"/>
              </a:defRPr>
            </a:defPPr>
          </a:lstStyle>
          <a:p xmlns:a="http://schemas.openxmlformats.org/drawingml/2006/main">
            <a:pPr algn="r" rtl="1">
              <a:defRPr sz="1350" b="0">
                <a:solidFill>
                  <a:srgbClr val="546973"/>
                </a:solidFill>
                <a:latin typeface="DejaVu Sans"/>
                <a:ea typeface="DejaVu Sans"/>
                <a:cs typeface="DejaVu Sans"/>
              </a:defRPr>
            </a:pPr>
            <a:r>
              <a:rPr sz="1350" b="0" lang="fa-IR">
                <a:solidFill>
                  <a:srgbClr val="546973"/>
                </a:solidFill>
                <a:latin typeface="DejaVu Sans"/>
                <a:ea typeface="DejaVu Sans"/>
                <a:cs typeface="DejaVu Sans"/>
              </a:rPr>
              <a:t>اسلاید پشتیبان</a:t>
            </a:r>
          </a:p>
        </p:txBody>
      </p:sp>
      <p:sp>
        <p:nvSpPr>
          <p:cNvPr id="4" name="ltr_text_3">
            <a:extLst xmlns:a="http://schemas.openxmlformats.org/drawingml/2006/main">
              <a:ext uri="{FF2B5EF4-FFF2-40B4-BE49-F238E27FC236}">
                <a16:creationId xmlns:a16="http://schemas.microsoft.com/office/drawing/2014/main" id="{7F34F7D5-1856-48E9-9B0D-96A7316DCF0C}"/>
              </a:ext>
            </a:extLst>
          </p:cNvPr>
          <p:cNvSpPr>
            <a:spLocks xmlns:a="http://schemas.openxmlformats.org/drawingml/2006/main" noGrp="1"/>
          </p:cNvSpPr>
          <p:nvPr/>
        </p:nvSpPr>
        <p:spPr>
          <a:xfrm xmlns:a="http://schemas.openxmlformats.org/drawingml/2006/main">
            <a:off x="609600" y="1714500"/>
            <a:ext cx="1097280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3150" b="0">
                <a:solidFill>
                  <a:srgbClr val="172F3A"/>
                </a:solidFill>
                <a:latin typeface="DejaVu Sans"/>
                <a:ea typeface="DejaVu Sans"/>
                <a:cs typeface="DejaVu Sans"/>
              </a:defRPr>
            </a:defPPr>
          </a:lstStyle>
          <a:p xmlns:a="http://schemas.openxmlformats.org/drawingml/2006/main">
            <a:pPr algn="ctr" rtl="0">
              <a:defRPr sz="3150" b="0">
                <a:solidFill>
                  <a:srgbClr val="172F3A"/>
                </a:solidFill>
                <a:latin typeface="DejaVu Sans"/>
                <a:ea typeface="DejaVu Sans"/>
                <a:cs typeface="DejaVu Sans"/>
              </a:defRPr>
            </a:pPr>
            <a:r>
              <a:rPr sz="3150" b="0" lang="en-US">
                <a:solidFill>
                  <a:srgbClr val="172F3A"/>
                </a:solidFill>
                <a:latin typeface="DejaVu Sans"/>
                <a:ea typeface="DejaVu Sans"/>
                <a:cs typeface="DejaVu Sans"/>
              </a:rPr>
              <a:t>Cᵢ = yᵐⁱ uᵢʳ (mod n)</a:t>
            </a:r>
          </a:p>
        </p:txBody>
      </p:sp>
      <p:sp>
        <p:nvSpPr>
          <p:cNvPr id="5" name="ltr_text_4">
            <a:extLst xmlns:a="http://schemas.openxmlformats.org/drawingml/2006/main">
              <a:ext uri="{FF2B5EF4-FFF2-40B4-BE49-F238E27FC236}">
                <a16:creationId xmlns:a16="http://schemas.microsoft.com/office/drawing/2014/main" id="{E355BC97-A518-4235-A467-F0EB143589B5}"/>
              </a:ext>
            </a:extLst>
          </p:cNvPr>
          <p:cNvSpPr>
            <a:spLocks xmlns:a="http://schemas.openxmlformats.org/drawingml/2006/main" noGrp="1"/>
          </p:cNvSpPr>
          <p:nvPr/>
        </p:nvSpPr>
        <p:spPr>
          <a:xfrm xmlns:a="http://schemas.openxmlformats.org/drawingml/2006/main">
            <a:off x="609600" y="2857500"/>
            <a:ext cx="109728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550" b="1">
                <a:solidFill>
                  <a:srgbClr val="172F3A"/>
                </a:solidFill>
                <a:latin typeface="DejaVu Sans"/>
                <a:ea typeface="DejaVu Sans"/>
                <a:cs typeface="DejaVu Sans"/>
              </a:defRPr>
            </a:defPPr>
          </a:lstStyle>
          <a:p xmlns:a="http://schemas.openxmlformats.org/drawingml/2006/main">
            <a:pPr algn="ctr" rtl="0">
              <a:defRPr sz="2550" b="1">
                <a:solidFill>
                  <a:srgbClr val="172F3A"/>
                </a:solidFill>
                <a:latin typeface="DejaVu Sans"/>
                <a:ea typeface="DejaVu Sans"/>
                <a:cs typeface="DejaVu Sans"/>
              </a:defRPr>
            </a:pPr>
            <a:r>
              <a:rPr sz="2550" b="1" lang="en-US">
                <a:solidFill>
                  <a:srgbClr val="172F3A"/>
                </a:solidFill>
                <a:latin typeface="DejaVu Sans"/>
                <a:ea typeface="DejaVu Sans"/>
                <a:cs typeface="DejaVu Sans"/>
              </a:rPr>
              <a:t>∏ Cᵢʷⁱ = y^(Σ wᵢmᵢ) · (∏ uᵢʷⁱ)ʳ (mod n)</a:t>
            </a:r>
          </a:p>
        </p:txBody>
      </p:sp>
      <p:sp>
        <p:nvSpPr>
          <p:cNvPr id="6" name="ltr_text_5">
            <a:extLst xmlns:a="http://schemas.openxmlformats.org/drawingml/2006/main">
              <a:ext uri="{FF2B5EF4-FFF2-40B4-BE49-F238E27FC236}">
                <a16:creationId xmlns:a16="http://schemas.microsoft.com/office/drawing/2014/main" id="{5DE9EFE4-59BA-4E3E-868A-63C6AC111F2D}"/>
              </a:ext>
            </a:extLst>
          </p:cNvPr>
          <p:cNvSpPr>
            <a:spLocks xmlns:a="http://schemas.openxmlformats.org/drawingml/2006/main" noGrp="1"/>
          </p:cNvSpPr>
          <p:nvPr/>
        </p:nvSpPr>
        <p:spPr>
          <a:xfrm xmlns:a="http://schemas.openxmlformats.org/drawingml/2006/main">
            <a:off x="609600" y="400050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00" b="0">
                <a:solidFill>
                  <a:srgbClr val="172F3A"/>
                </a:solidFill>
                <a:latin typeface="DejaVu Sans"/>
                <a:ea typeface="DejaVu Sans"/>
                <a:cs typeface="DejaVu Sans"/>
              </a:defRPr>
            </a:defPPr>
          </a:lstStyle>
          <a:p xmlns:a="http://schemas.openxmlformats.org/drawingml/2006/main">
            <a:pPr algn="ctr" rtl="0">
              <a:defRPr sz="2400" b="0">
                <a:solidFill>
                  <a:srgbClr val="172F3A"/>
                </a:solidFill>
                <a:latin typeface="DejaVu Sans"/>
                <a:ea typeface="DejaVu Sans"/>
                <a:cs typeface="DejaVu Sans"/>
              </a:defRPr>
            </a:pPr>
            <a:r>
              <a:rPr sz="2400" b="0" lang="en-US">
                <a:solidFill>
                  <a:srgbClr val="172F3A"/>
                </a:solidFill>
                <a:latin typeface="DejaVu Sans"/>
                <a:ea typeface="DejaVu Sans"/>
                <a:cs typeface="DejaVu Sans"/>
              </a:rPr>
              <a:t>Dec(Cagg) = Σ wᵢmᵢ    when    Σ wᵢmᵢ &lt; r</a:t>
            </a:r>
          </a:p>
        </p:txBody>
      </p:sp>
      <p:sp>
        <p:nvSpPr>
          <p:cNvPr id="7" name="ltr_text_6">
            <a:extLst xmlns:a="http://schemas.openxmlformats.org/drawingml/2006/main">
              <a:ext uri="{FF2B5EF4-FFF2-40B4-BE49-F238E27FC236}">
                <a16:creationId xmlns:a16="http://schemas.microsoft.com/office/drawing/2014/main" id="{3DECDE41-9D66-4AFF-AEF5-9C83DAC5855F}"/>
              </a:ext>
            </a:extLst>
          </p:cNvPr>
          <p:cNvSpPr>
            <a:spLocks xmlns:a="http://schemas.openxmlformats.org/drawingml/2006/main" noGrp="1"/>
          </p:cNvSpPr>
          <p:nvPr/>
        </p:nvSpPr>
        <p:spPr>
          <a:xfrm xmlns:a="http://schemas.openxmlformats.org/drawingml/2006/main">
            <a:off x="609600" y="5076825"/>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3300" b="1">
                <a:solidFill>
                  <a:srgbClr val="087E83"/>
                </a:solidFill>
                <a:latin typeface="DejaVu Sans"/>
                <a:ea typeface="DejaVu Sans"/>
                <a:cs typeface="DejaVu Sans"/>
              </a:defRPr>
            </a:defPPr>
          </a:lstStyle>
          <a:p xmlns:a="http://schemas.openxmlformats.org/drawingml/2006/main">
            <a:pPr algn="ctr" rtl="0">
              <a:defRPr sz="3300" b="1">
                <a:solidFill>
                  <a:srgbClr val="087E83"/>
                </a:solidFill>
                <a:latin typeface="DejaVu Sans"/>
                <a:ea typeface="DejaVu Sans"/>
                <a:cs typeface="DejaVu Sans"/>
              </a:defRPr>
            </a:pPr>
            <a:r>
              <a:rPr sz="3300" b="1" lang="en-US">
                <a:solidFill>
                  <a:srgbClr val="087E83"/>
                </a:solidFill>
                <a:latin typeface="DejaVu Sans"/>
                <a:ea typeface="DejaVu Sans"/>
                <a:cs typeface="DejaVu Sans"/>
              </a:rPr>
              <a:t>x̄ = Σ wᵢxᵢ / Σ wᵢ</a:t>
            </a:r>
          </a:p>
        </p:txBody>
      </p:sp>
    </p:spTree>
    <p:extLst>
      <p:ext uri="{BB962C8B-B14F-4D97-AF65-F5344CB8AC3E}">
        <p14:creationId xmlns:p14="http://schemas.microsoft.com/office/powerpoint/2010/main" val="535689551"/>
      </p:ext>
    </p:extLst>
  </p:cSld>
</p:sld>
</file>

<file path=ppt/slides/slide20.xml><?xml version="1.0" encoding="utf-8"?>
<p:sld xmlns:p="http://schemas.openxmlformats.org/presentationml/2006/main" show="0">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rtl_headline">
            <a:extLst xmlns:a="http://schemas.openxmlformats.org/drawingml/2006/main">
              <a:ext uri="{FF2B5EF4-FFF2-40B4-BE49-F238E27FC236}">
                <a16:creationId xmlns:a16="http://schemas.microsoft.com/office/drawing/2014/main" id="{890EB88C-A477-466B-A37F-8A523A6EDCD3}"/>
              </a:ext>
            </a:extLst>
          </p:cNvPr>
          <p:cNvSpPr>
            <a:spLocks xmlns:a="http://schemas.openxmlformats.org/drawingml/2006/main" noGrp="1"/>
          </p:cNvSpPr>
          <p:nvPr/>
        </p:nvSpPr>
        <p:spPr>
          <a:xfrm xmlns:a="http://schemas.openxmlformats.org/drawingml/2006/main">
            <a:off x="609600" y="4191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300" b="1">
                <a:solidFill>
                  <a:srgbClr val="172F3A"/>
                </a:solidFill>
                <a:latin typeface="DejaVu Sans"/>
                <a:ea typeface="DejaVu Sans"/>
                <a:cs typeface="DejaVu Sans"/>
              </a:defRPr>
            </a:defPPr>
          </a:lstStyle>
          <a:p xmlns:a="http://schemas.openxmlformats.org/drawingml/2006/main">
            <a:pPr algn="r" rtl="1">
              <a:defRPr sz="3300" b="1">
                <a:solidFill>
                  <a:srgbClr val="172F3A"/>
                </a:solidFill>
                <a:latin typeface="DejaVu Sans"/>
                <a:ea typeface="DejaVu Sans"/>
                <a:cs typeface="DejaVu Sans"/>
              </a:defRPr>
            </a:pPr>
            <a:r>
              <a:rPr sz="3300" b="1" lang="fa-IR">
                <a:solidFill>
                  <a:srgbClr val="172F3A"/>
                </a:solidFill>
                <a:latin typeface="DejaVu Sans"/>
                <a:ea typeface="DejaVu Sans"/>
                <a:cs typeface="DejaVu Sans"/>
              </a:rPr>
              <a:t>حدود تضمین امنیتی</a:t>
            </a:r>
          </a:p>
        </p:txBody>
      </p:sp>
      <p:sp>
        <p:nvSpPr>
          <p:cNvPr id="2" name="ltr_page">
            <a:extLst xmlns:a="http://schemas.openxmlformats.org/drawingml/2006/main">
              <a:ext uri="{FF2B5EF4-FFF2-40B4-BE49-F238E27FC236}">
                <a16:creationId xmlns:a16="http://schemas.microsoft.com/office/drawing/2014/main" id="{3C8787C7-E573-4A10-97EA-ACF9D9E2C962}"/>
              </a:ext>
            </a:extLst>
          </p:cNvPr>
          <p:cNvSpPr>
            <a:spLocks xmlns:a="http://schemas.openxmlformats.org/drawingml/2006/main" noGrp="1"/>
          </p:cNvSpPr>
          <p:nvPr/>
        </p:nvSpPr>
        <p:spPr>
          <a:xfrm xmlns:a="http://schemas.openxmlformats.org/drawingml/2006/main">
            <a:off x="609600" y="63436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46973"/>
                </a:solidFill>
                <a:latin typeface="DejaVu Sans"/>
                <a:ea typeface="DejaVu Sans"/>
                <a:cs typeface="DejaVu Sans"/>
              </a:defRPr>
            </a:defPPr>
          </a:lstStyle>
          <a:p xmlns:a="http://schemas.openxmlformats.org/drawingml/2006/main">
            <a:pPr algn="l" rtl="0">
              <a:defRPr sz="1350" b="0">
                <a:solidFill>
                  <a:srgbClr val="546973"/>
                </a:solidFill>
                <a:latin typeface="DejaVu Sans"/>
                <a:ea typeface="DejaVu Sans"/>
                <a:cs typeface="DejaVu Sans"/>
              </a:defRPr>
            </a:pPr>
            <a:r>
              <a:rPr sz="1350" b="0" lang="en-US">
                <a:solidFill>
                  <a:srgbClr val="546973"/>
                </a:solidFill>
                <a:latin typeface="DejaVu Sans"/>
                <a:ea typeface="DejaVu Sans"/>
                <a:cs typeface="DejaVu Sans"/>
              </a:rPr>
              <a:t>20</a:t>
            </a:r>
          </a:p>
        </p:txBody>
      </p:sp>
      <p:sp>
        <p:nvSpPr>
          <p:cNvPr id="3" name="rtl_text_2">
            <a:extLst xmlns:a="http://schemas.openxmlformats.org/drawingml/2006/main">
              <a:ext uri="{FF2B5EF4-FFF2-40B4-BE49-F238E27FC236}">
                <a16:creationId xmlns:a16="http://schemas.microsoft.com/office/drawing/2014/main" id="{1656A139-F3B3-472E-8C29-E8B2652D579C}"/>
              </a:ext>
            </a:extLst>
          </p:cNvPr>
          <p:cNvSpPr>
            <a:spLocks xmlns:a="http://schemas.openxmlformats.org/drawingml/2006/main" noGrp="1"/>
          </p:cNvSpPr>
          <p:nvPr/>
        </p:nvSpPr>
        <p:spPr>
          <a:xfrm xmlns:a="http://schemas.openxmlformats.org/drawingml/2006/main">
            <a:off x="8953500" y="6343650"/>
            <a:ext cx="2628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46973"/>
                </a:solidFill>
                <a:latin typeface="DejaVu Sans"/>
                <a:ea typeface="DejaVu Sans"/>
                <a:cs typeface="DejaVu Sans"/>
              </a:defRPr>
            </a:defPPr>
          </a:lstStyle>
          <a:p xmlns:a="http://schemas.openxmlformats.org/drawingml/2006/main">
            <a:pPr algn="r" rtl="1">
              <a:defRPr sz="1350" b="0">
                <a:solidFill>
                  <a:srgbClr val="546973"/>
                </a:solidFill>
                <a:latin typeface="DejaVu Sans"/>
                <a:ea typeface="DejaVu Sans"/>
                <a:cs typeface="DejaVu Sans"/>
              </a:defRPr>
            </a:pPr>
            <a:r>
              <a:rPr sz="1350" b="0" lang="fa-IR">
                <a:solidFill>
                  <a:srgbClr val="546973"/>
                </a:solidFill>
                <a:latin typeface="DejaVu Sans"/>
                <a:ea typeface="DejaVu Sans"/>
                <a:cs typeface="DejaVu Sans"/>
              </a:rPr>
              <a:t>اسلاید پشتیبان</a:t>
            </a:r>
          </a:p>
        </p:txBody>
      </p:sp>
      <p:graphicFrame>
        <p:nvGraphicFramePr>
          <p:cNvPr id="4" name="">
            <a:extLst xmlns:a="http://schemas.openxmlformats.org/drawingml/2006/main">
              <a:ext uri="{FF2B5EF4-FFF2-40B4-BE49-F238E27FC236}">
                <a16:creationId xmlns:a16="http://schemas.microsoft.com/office/drawing/2014/main" id="{AABA1B70-A338-4002-93E8-606CC44984AD}"/>
              </a:ext>
            </a:extLst>
          </p:cNvPr>
          <p:cNvGraphicFramePr/>
          <p:nvPr/>
        </p:nvGraphicFramePr>
        <p:xfrm>
          <a:off xmlns:a="http://schemas.openxmlformats.org/drawingml/2006/main" x="609600" y="1714500"/>
          <a:ext xmlns:a="http://schemas.openxmlformats.org/drawingml/2006/main" cx="10972800" cy="3810000"/>
        </p:xfrm>
        <a:graphic xmlns:a="http://schemas.openxmlformats.org/drawingml/2006/main">
          <a:graphicData uri="http://schemas.openxmlformats.org/drawingml/2006/table">
            <a:tbl>
              <a:tblPr firstRow="0" bandRow="0"/>
              <a:tblGrid>
                <a:gridCol w="7267575"/>
                <a:gridCol w="3705225"/>
              </a:tblGrid>
              <a:tr h="635000">
                <a:tc>
                  <a:txBody>
                    <a:bodyPr lIns="95250" tIns="76200" rIns="95250" bIns="76200">
                      <a:noAutofit/>
                    </a:bodyPr>
                    <a:lstStyle/>
                    <a:p>
                      <a:pPr algn="ctr" rtl="1"/>
                      <a:r>
                        <a:rPr sz="1800" b="1" lang="fa-IR">
                          <a:solidFill>
                            <a:srgbClr val="FFFFFF"/>
                          </a:solidFill>
                          <a:latin typeface="DejaVu Sans"/>
                          <a:ea typeface="DejaVu Sans"/>
                          <a:cs typeface="DejaVu Sans"/>
                        </a:rPr>
                        <a:t>حد تضمین</a:t>
                      </a:r>
                    </a:p>
                  </a:txBody>
                  <a:tcPr marL="91440" marR="91440" marT="45720" marB="45720" anchor="ctr">
                    <a:lnL w="5715">
                      <a:solidFill>
                        <a:srgbClr val="D2DAD9"/>
                      </a:solidFill>
                      <a:prstDash val="solid"/>
                    </a:lnL>
                    <a:lnR w="5715">
                      <a:solidFill>
                        <a:srgbClr val="D2DAD9"/>
                      </a:solidFill>
                      <a:prstDash val="solid"/>
                    </a:lnR>
                    <a:lnT w="5715">
                      <a:solidFill>
                        <a:srgbClr val="D2DAD9"/>
                      </a:solidFill>
                      <a:prstDash val="solid"/>
                    </a:lnT>
                    <a:lnB w="5715">
                      <a:solidFill>
                        <a:srgbClr val="D2DAD9"/>
                      </a:solidFill>
                      <a:prstDash val="solid"/>
                    </a:lnB>
                    <a:solidFill>
                      <a:srgbClr val="172F3A"/>
                    </a:solidFill>
                  </a:tcPr>
                </a:tc>
                <a:tc>
                  <a:txBody>
                    <a:bodyPr lIns="95250" tIns="76200" rIns="95250" bIns="76200">
                      <a:noAutofit/>
                    </a:bodyPr>
                    <a:lstStyle/>
                    <a:p>
                      <a:pPr algn="ctr" rtl="1"/>
                      <a:r>
                        <a:rPr sz="1800" b="1" lang="fa-IR">
                          <a:solidFill>
                            <a:srgbClr val="FFFFFF"/>
                          </a:solidFill>
                          <a:latin typeface="DejaVu Sans"/>
                          <a:ea typeface="DejaVu Sans"/>
                          <a:cs typeface="DejaVu Sans"/>
                        </a:rPr>
                        <a:t>موضوع</a:t>
                      </a:r>
                    </a:p>
                  </a:txBody>
                  <a:tcPr marL="91440" marR="91440" marT="45720" marB="45720" anchor="ctr">
                    <a:lnR w="5715">
                      <a:solidFill>
                        <a:srgbClr val="D2DAD9"/>
                      </a:solidFill>
                      <a:prstDash val="solid"/>
                    </a:lnR>
                    <a:lnT w="5715">
                      <a:solidFill>
                        <a:srgbClr val="D2DAD9"/>
                      </a:solidFill>
                      <a:prstDash val="solid"/>
                    </a:lnT>
                    <a:lnB w="5715">
                      <a:solidFill>
                        <a:srgbClr val="D2DAD9"/>
                      </a:solidFill>
                      <a:prstDash val="solid"/>
                    </a:lnB>
                    <a:solidFill>
                      <a:srgbClr val="172F3A"/>
                    </a:solidFill>
                  </a:tcPr>
                </a:tc>
              </a:tr>
              <a:tr h="635000">
                <a:tc>
                  <a:txBody>
                    <a:bodyPr lIns="95250" tIns="76200" rIns="95250" bIns="76200">
                      <a:noAutofit/>
                    </a:bodyPr>
                    <a:lstStyle/>
                    <a:p>
                      <a:pPr algn="ctr" rtl="1"/>
                      <a:r>
                        <a:rPr sz="1800" b="0" lang="fa-IR">
                          <a:solidFill>
                            <a:srgbClr val="172F3A"/>
                          </a:solidFill>
                          <a:latin typeface="DejaVu Sans"/>
                          <a:ea typeface="DejaVu Sans"/>
                          <a:cs typeface="DejaVu Sans"/>
                        </a:rPr>
                        <a:t>رمزگذاری و امضای بسته‌ها</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1"/>
                      <a:r>
                        <a:rPr sz="1800" b="0" lang="fa-IR">
                          <a:solidFill>
                            <a:srgbClr val="172F3A"/>
                          </a:solidFill>
                          <a:latin typeface="DejaVu Sans"/>
                          <a:ea typeface="DejaVu Sans"/>
                          <a:cs typeface="DejaVu Sans"/>
                        </a:rPr>
                        <a:t>مهاجم شبکه</a:t>
                      </a:r>
                    </a:p>
                  </a:txBody>
                  <a:tcPr marL="91440" marR="91440" marT="45720" marB="45720" anchor="ctr">
                    <a:lnR w="5715">
                      <a:solidFill>
                        <a:srgbClr val="D2DAD9"/>
                      </a:solidFill>
                      <a:prstDash val="solid"/>
                    </a:lnR>
                    <a:lnB w="5715">
                      <a:solidFill>
                        <a:srgbClr val="D2DAD9"/>
                      </a:solidFill>
                      <a:prstDash val="solid"/>
                    </a:lnB>
                    <a:solidFill>
                      <a:srgbClr val="F7F6F2"/>
                    </a:solidFill>
                  </a:tcPr>
                </a:tc>
              </a:tr>
              <a:tr h="635000">
                <a:tc>
                  <a:txBody>
                    <a:bodyPr lIns="95250" tIns="76200" rIns="95250" bIns="76200">
                      <a:noAutofit/>
                    </a:bodyPr>
                    <a:lstStyle/>
                    <a:p>
                      <a:pPr algn="ctr" rtl="1"/>
                      <a:r>
                        <a:rPr sz="1800" b="0" lang="fa-IR">
                          <a:solidFill>
                            <a:srgbClr val="172F3A"/>
                          </a:solidFill>
                          <a:latin typeface="DejaVu Sans"/>
                          <a:ea typeface="DejaVu Sans"/>
                          <a:cs typeface="DejaVu Sans"/>
                        </a:rPr>
                        <a:t>الزام به رفتار مورد اعتماد</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1"/>
                      <a:r>
                        <a:rPr sz="1800" b="0" lang="fa-IR">
                          <a:solidFill>
                            <a:srgbClr val="172F3A"/>
                          </a:solidFill>
                          <a:latin typeface="DejaVu Sans"/>
                          <a:ea typeface="DejaVu Sans"/>
                          <a:cs typeface="DejaVu Sans"/>
                        </a:rPr>
                        <a:t>سرور صاحب کلید خصوصی</a:t>
                      </a:r>
                    </a:p>
                  </a:txBody>
                  <a:tcPr marL="91440" marR="91440" marT="45720" marB="45720" anchor="ctr">
                    <a:lnR w="5715">
                      <a:solidFill>
                        <a:srgbClr val="D2DAD9"/>
                      </a:solidFill>
                      <a:prstDash val="solid"/>
                    </a:lnR>
                    <a:lnB w="5715">
                      <a:solidFill>
                        <a:srgbClr val="D2DAD9"/>
                      </a:solidFill>
                      <a:prstDash val="solid"/>
                    </a:lnB>
                    <a:solidFill>
                      <a:srgbClr val="F7F6F2"/>
                    </a:solidFill>
                  </a:tcPr>
                </a:tc>
              </a:tr>
              <a:tr h="635000">
                <a:tc>
                  <a:txBody>
                    <a:bodyPr lIns="95250" tIns="76200" rIns="95250" bIns="76200">
                      <a:noAutofit/>
                    </a:bodyPr>
                    <a:lstStyle/>
                    <a:p>
                      <a:pPr algn="ctr" rtl="1"/>
                      <a:r>
                        <a:rPr sz="1800" b="0" lang="fa-IR">
                          <a:solidFill>
                            <a:srgbClr val="172F3A"/>
                          </a:solidFill>
                          <a:latin typeface="DejaVu Sans"/>
                          <a:ea typeface="DejaVu Sans"/>
                          <a:cs typeface="DejaVu Sans"/>
                        </a:rPr>
                        <a:t>امضا، صداقت مقدار را اثبات نمی‌کند</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1"/>
                      <a:r>
                        <a:rPr sz="1800" b="0" lang="fa-IR">
                          <a:solidFill>
                            <a:srgbClr val="172F3A"/>
                          </a:solidFill>
                          <a:latin typeface="DejaVu Sans"/>
                          <a:ea typeface="DejaVu Sans"/>
                          <a:cs typeface="DejaVu Sans"/>
                        </a:rPr>
                        <a:t>کلاینت مجاز بدخواه</a:t>
                      </a:r>
                    </a:p>
                  </a:txBody>
                  <a:tcPr marL="91440" marR="91440" marT="45720" marB="45720" anchor="ctr">
                    <a:lnR w="5715">
                      <a:solidFill>
                        <a:srgbClr val="D2DAD9"/>
                      </a:solidFill>
                      <a:prstDash val="solid"/>
                    </a:lnR>
                    <a:lnB w="5715">
                      <a:solidFill>
                        <a:srgbClr val="D2DAD9"/>
                      </a:solidFill>
                      <a:prstDash val="solid"/>
                    </a:lnB>
                    <a:solidFill>
                      <a:srgbClr val="F7F6F2"/>
                    </a:solidFill>
                  </a:tcPr>
                </a:tc>
              </a:tr>
              <a:tr h="635000">
                <a:tc>
                  <a:txBody>
                    <a:bodyPr lIns="95250" tIns="76200" rIns="95250" bIns="76200">
                      <a:noAutofit/>
                    </a:bodyPr>
                    <a:lstStyle/>
                    <a:p>
                      <a:pPr algn="ctr" rtl="1"/>
                      <a:r>
                        <a:rPr sz="1800" b="0" lang="fa-IR">
                          <a:solidFill>
                            <a:srgbClr val="172F3A"/>
                          </a:solidFill>
                          <a:latin typeface="DejaVu Sans"/>
                          <a:ea typeface="DejaVu Sans"/>
                          <a:cs typeface="DejaVu Sans"/>
                        </a:rPr>
                        <a:t>متن پس از بازسازی کلید آشکار می‌شود</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1"/>
                      <a:r>
                        <a:rPr sz="1800" b="0" lang="fa-IR">
                          <a:solidFill>
                            <a:srgbClr val="172F3A"/>
                          </a:solidFill>
                          <a:latin typeface="DejaVu Sans"/>
                          <a:ea typeface="DejaVu Sans"/>
                          <a:cs typeface="DejaVu Sans"/>
                        </a:rPr>
                        <a:t>کلاینت مجاز دریافت‌کننده متن</a:t>
                      </a:r>
                    </a:p>
                  </a:txBody>
                  <a:tcPr marL="91440" marR="91440" marT="45720" marB="45720" anchor="ctr">
                    <a:lnR w="5715">
                      <a:solidFill>
                        <a:srgbClr val="D2DAD9"/>
                      </a:solidFill>
                      <a:prstDash val="solid"/>
                    </a:lnR>
                    <a:lnB w="5715">
                      <a:solidFill>
                        <a:srgbClr val="D2DAD9"/>
                      </a:solidFill>
                      <a:prstDash val="solid"/>
                    </a:lnB>
                    <a:solidFill>
                      <a:srgbClr val="F7F6F2"/>
                    </a:solidFill>
                  </a:tcPr>
                </a:tc>
              </a:tr>
              <a:tr h="635000">
                <a:tc>
                  <a:txBody>
                    <a:bodyPr lIns="95250" tIns="76200" rIns="95250" bIns="76200">
                      <a:noAutofit/>
                    </a:bodyPr>
                    <a:lstStyle/>
                    <a:p>
                      <a:pPr algn="ctr" rtl="1"/>
                      <a:r>
                        <a:rPr sz="1800" b="0" lang="fa-IR">
                          <a:solidFill>
                            <a:srgbClr val="172F3A"/>
                          </a:solidFill>
                          <a:latin typeface="DejaVu Sans"/>
                          <a:ea typeface="DejaVu Sans"/>
                          <a:cs typeface="DejaVu Sans"/>
                        </a:rPr>
                        <a:t>وابسته به انتخاب و تحلیل مستقل پارامترها</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1"/>
                      <a:r>
                        <a:rPr sz="1800" b="0" lang="fa-IR">
                          <a:solidFill>
                            <a:srgbClr val="172F3A"/>
                          </a:solidFill>
                          <a:latin typeface="DejaVu Sans"/>
                          <a:ea typeface="DejaVu Sans"/>
                          <a:cs typeface="DejaVu Sans"/>
                        </a:rPr>
                        <a:t>استقرار واقعی</a:t>
                      </a:r>
                    </a:p>
                  </a:txBody>
                  <a:tcPr marL="91440" marR="91440" marT="45720" marB="45720" anchor="ctr">
                    <a:lnR w="5715">
                      <a:solidFill>
                        <a:srgbClr val="D2DAD9"/>
                      </a:solidFill>
                      <a:prstDash val="solid"/>
                    </a:lnR>
                    <a:lnB w="5715">
                      <a:solidFill>
                        <a:srgbClr val="D2DAD9"/>
                      </a:solidFill>
                      <a:prstDash val="solid"/>
                    </a:lnB>
                    <a:solidFill>
                      <a:srgbClr val="F7F6F2"/>
                    </a:solidFill>
                  </a:tcPr>
                </a:tc>
              </a:tr>
            </a:tbl>
          </a:graphicData>
        </a:graphic>
      </p:graphicFrame>
    </p:spTree>
    <p:extLst>
      <p:ext uri="{BB962C8B-B14F-4D97-AF65-F5344CB8AC3E}">
        <p14:creationId xmlns:p14="http://schemas.microsoft.com/office/powerpoint/2010/main" val="783169850"/>
      </p:ext>
    </p:extLst>
  </p:cSld>
</p:sld>
</file>

<file path=ppt/slides/slide21.xml><?xml version="1.0" encoding="utf-8"?>
<p:sld xmlns:p="http://schemas.openxmlformats.org/presentationml/2006/main" show="0">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rtl_headline">
            <a:extLst xmlns:a="http://schemas.openxmlformats.org/drawingml/2006/main">
              <a:ext uri="{FF2B5EF4-FFF2-40B4-BE49-F238E27FC236}">
                <a16:creationId xmlns:a16="http://schemas.microsoft.com/office/drawing/2014/main" id="{5DED5701-7E3B-4E79-B59D-D5375CC5EA99}"/>
              </a:ext>
            </a:extLst>
          </p:cNvPr>
          <p:cNvSpPr>
            <a:spLocks xmlns:a="http://schemas.openxmlformats.org/drawingml/2006/main" noGrp="1"/>
          </p:cNvSpPr>
          <p:nvPr/>
        </p:nvSpPr>
        <p:spPr>
          <a:xfrm xmlns:a="http://schemas.openxmlformats.org/drawingml/2006/main">
            <a:off x="609600" y="4191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300" b="1">
                <a:solidFill>
                  <a:srgbClr val="172F3A"/>
                </a:solidFill>
                <a:latin typeface="DejaVu Sans"/>
                <a:ea typeface="DejaVu Sans"/>
                <a:cs typeface="DejaVu Sans"/>
              </a:defRPr>
            </a:defPPr>
          </a:lstStyle>
          <a:p xmlns:a="http://schemas.openxmlformats.org/drawingml/2006/main">
            <a:pPr algn="r" rtl="1">
              <a:defRPr sz="3300" b="1">
                <a:solidFill>
                  <a:srgbClr val="172F3A"/>
                </a:solidFill>
                <a:latin typeface="DejaVu Sans"/>
                <a:ea typeface="DejaVu Sans"/>
                <a:cs typeface="DejaVu Sans"/>
              </a:defRPr>
            </a:pPr>
            <a:r>
              <a:rPr sz="3300" b="1" lang="fa-IR">
                <a:solidFill>
                  <a:srgbClr val="172F3A"/>
                </a:solidFill>
                <a:latin typeface="DejaVu Sans"/>
                <a:ea typeface="DejaVu Sans"/>
                <a:cs typeface="DejaVu Sans"/>
              </a:rPr>
              <a:t>جدول کامل زمان کل پروتکل</a:t>
            </a:r>
          </a:p>
        </p:txBody>
      </p:sp>
      <p:sp>
        <p:nvSpPr>
          <p:cNvPr id="2" name="ltr_page">
            <a:extLst xmlns:a="http://schemas.openxmlformats.org/drawingml/2006/main">
              <a:ext uri="{FF2B5EF4-FFF2-40B4-BE49-F238E27FC236}">
                <a16:creationId xmlns:a16="http://schemas.microsoft.com/office/drawing/2014/main" id="{01AB510A-CCE5-444A-AA6A-201C88C6479C}"/>
              </a:ext>
            </a:extLst>
          </p:cNvPr>
          <p:cNvSpPr>
            <a:spLocks xmlns:a="http://schemas.openxmlformats.org/drawingml/2006/main" noGrp="1"/>
          </p:cNvSpPr>
          <p:nvPr/>
        </p:nvSpPr>
        <p:spPr>
          <a:xfrm xmlns:a="http://schemas.openxmlformats.org/drawingml/2006/main">
            <a:off x="609600" y="63436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46973"/>
                </a:solidFill>
                <a:latin typeface="DejaVu Sans"/>
                <a:ea typeface="DejaVu Sans"/>
                <a:cs typeface="DejaVu Sans"/>
              </a:defRPr>
            </a:defPPr>
          </a:lstStyle>
          <a:p xmlns:a="http://schemas.openxmlformats.org/drawingml/2006/main">
            <a:pPr algn="l" rtl="0">
              <a:defRPr sz="1350" b="0">
                <a:solidFill>
                  <a:srgbClr val="546973"/>
                </a:solidFill>
                <a:latin typeface="DejaVu Sans"/>
                <a:ea typeface="DejaVu Sans"/>
                <a:cs typeface="DejaVu Sans"/>
              </a:defRPr>
            </a:pPr>
            <a:r>
              <a:rPr sz="1350" b="0" lang="en-US">
                <a:solidFill>
                  <a:srgbClr val="546973"/>
                </a:solidFill>
                <a:latin typeface="DejaVu Sans"/>
                <a:ea typeface="DejaVu Sans"/>
                <a:cs typeface="DejaVu Sans"/>
              </a:rPr>
              <a:t>21</a:t>
            </a:r>
          </a:p>
        </p:txBody>
      </p:sp>
      <p:sp>
        <p:nvSpPr>
          <p:cNvPr id="3" name="rtl_text_2">
            <a:extLst xmlns:a="http://schemas.openxmlformats.org/drawingml/2006/main">
              <a:ext uri="{FF2B5EF4-FFF2-40B4-BE49-F238E27FC236}">
                <a16:creationId xmlns:a16="http://schemas.microsoft.com/office/drawing/2014/main" id="{32E633D4-3B81-409A-A0D0-832791082B56}"/>
              </a:ext>
            </a:extLst>
          </p:cNvPr>
          <p:cNvSpPr>
            <a:spLocks xmlns:a="http://schemas.openxmlformats.org/drawingml/2006/main" noGrp="1"/>
          </p:cNvSpPr>
          <p:nvPr/>
        </p:nvSpPr>
        <p:spPr>
          <a:xfrm xmlns:a="http://schemas.openxmlformats.org/drawingml/2006/main">
            <a:off x="8953500" y="6343650"/>
            <a:ext cx="2628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46973"/>
                </a:solidFill>
                <a:latin typeface="DejaVu Sans"/>
                <a:ea typeface="DejaVu Sans"/>
                <a:cs typeface="DejaVu Sans"/>
              </a:defRPr>
            </a:defPPr>
          </a:lstStyle>
          <a:p xmlns:a="http://schemas.openxmlformats.org/drawingml/2006/main">
            <a:pPr algn="r" rtl="1">
              <a:defRPr sz="1350" b="0">
                <a:solidFill>
                  <a:srgbClr val="546973"/>
                </a:solidFill>
                <a:latin typeface="DejaVu Sans"/>
                <a:ea typeface="DejaVu Sans"/>
                <a:cs typeface="DejaVu Sans"/>
              </a:defRPr>
            </a:pPr>
            <a:r>
              <a:rPr sz="1350" b="0" lang="fa-IR">
                <a:solidFill>
                  <a:srgbClr val="546973"/>
                </a:solidFill>
                <a:latin typeface="DejaVu Sans"/>
                <a:ea typeface="DejaVu Sans"/>
                <a:cs typeface="DejaVu Sans"/>
              </a:rPr>
              <a:t>اسلاید پشتیبان</a:t>
            </a:r>
          </a:p>
        </p:txBody>
      </p:sp>
      <p:graphicFrame>
        <p:nvGraphicFramePr>
          <p:cNvPr id="4" name="">
            <a:extLst xmlns:a="http://schemas.openxmlformats.org/drawingml/2006/main">
              <a:ext uri="{FF2B5EF4-FFF2-40B4-BE49-F238E27FC236}">
                <a16:creationId xmlns:a16="http://schemas.microsoft.com/office/drawing/2014/main" id="{728CA321-6B2A-4430-8149-7A6FC2509F5E}"/>
              </a:ext>
            </a:extLst>
          </p:cNvPr>
          <p:cNvGraphicFramePr/>
          <p:nvPr/>
        </p:nvGraphicFramePr>
        <p:xfrm>
          <a:off xmlns:a="http://schemas.openxmlformats.org/drawingml/2006/main" x="609600" y="1581150"/>
          <a:ext xmlns:a="http://schemas.openxmlformats.org/drawingml/2006/main" cx="10972800" cy="4400550"/>
        </p:xfrm>
        <a:graphic xmlns:a="http://schemas.openxmlformats.org/drawingml/2006/main">
          <a:graphicData uri="http://schemas.openxmlformats.org/drawingml/2006/table">
            <a:tbl>
              <a:tblPr firstRow="0" bandRow="0"/>
              <a:tblGrid>
                <a:gridCol w="3352800"/>
                <a:gridCol w="3352800"/>
                <a:gridCol w="2133600"/>
                <a:gridCol w="2133600"/>
              </a:tblGrid>
              <a:tr h="440055">
                <a:tc>
                  <a:txBody>
                    <a:bodyPr lIns="95250" tIns="76200" rIns="95250" bIns="76200">
                      <a:noAutofit/>
                    </a:bodyPr>
                    <a:lstStyle/>
                    <a:p>
                      <a:pPr algn="ctr" rtl="1"/>
                      <a:r>
                        <a:rPr sz="1725" b="1" lang="fa-IR">
                          <a:solidFill>
                            <a:srgbClr val="FFFFFF"/>
                          </a:solidFill>
                          <a:latin typeface="DejaVu Sans"/>
                          <a:ea typeface="DejaVu Sans"/>
                          <a:cs typeface="DejaVu Sans"/>
                        </a:rPr>
                        <a:t>انحراف معیار (ms)</a:t>
                      </a:r>
                    </a:p>
                  </a:txBody>
                  <a:tcPr marL="91440" marR="91440" marT="45720" marB="45720" anchor="ctr">
                    <a:lnL w="5715">
                      <a:solidFill>
                        <a:srgbClr val="D2DAD9"/>
                      </a:solidFill>
                      <a:prstDash val="solid"/>
                    </a:lnL>
                    <a:lnR w="5715">
                      <a:solidFill>
                        <a:srgbClr val="D2DAD9"/>
                      </a:solidFill>
                      <a:prstDash val="solid"/>
                    </a:lnR>
                    <a:lnT w="5715">
                      <a:solidFill>
                        <a:srgbClr val="D2DAD9"/>
                      </a:solidFill>
                      <a:prstDash val="solid"/>
                    </a:lnT>
                    <a:lnB w="5715">
                      <a:solidFill>
                        <a:srgbClr val="D2DAD9"/>
                      </a:solidFill>
                      <a:prstDash val="solid"/>
                    </a:lnB>
                    <a:solidFill>
                      <a:srgbClr val="172F3A"/>
                    </a:solidFill>
                  </a:tcPr>
                </a:tc>
                <a:tc>
                  <a:txBody>
                    <a:bodyPr lIns="95250" tIns="76200" rIns="95250" bIns="76200">
                      <a:noAutofit/>
                    </a:bodyPr>
                    <a:lstStyle/>
                    <a:p>
                      <a:pPr algn="ctr" rtl="1"/>
                      <a:r>
                        <a:rPr sz="1725" b="1" lang="fa-IR">
                          <a:solidFill>
                            <a:srgbClr val="FFFFFF"/>
                          </a:solidFill>
                          <a:latin typeface="DejaVu Sans"/>
                          <a:ea typeface="DejaVu Sans"/>
                          <a:cs typeface="DejaVu Sans"/>
                        </a:rPr>
                        <a:t>میانگین (ms)</a:t>
                      </a:r>
                    </a:p>
                  </a:txBody>
                  <a:tcPr marL="91440" marR="91440" marT="45720" marB="45720" anchor="ctr">
                    <a:lnR w="5715">
                      <a:solidFill>
                        <a:srgbClr val="D2DAD9"/>
                      </a:solidFill>
                      <a:prstDash val="solid"/>
                    </a:lnR>
                    <a:lnT w="5715">
                      <a:solidFill>
                        <a:srgbClr val="D2DAD9"/>
                      </a:solidFill>
                      <a:prstDash val="solid"/>
                    </a:lnT>
                    <a:lnB w="5715">
                      <a:solidFill>
                        <a:srgbClr val="D2DAD9"/>
                      </a:solidFill>
                      <a:prstDash val="solid"/>
                    </a:lnB>
                    <a:solidFill>
                      <a:srgbClr val="172F3A"/>
                    </a:solidFill>
                  </a:tcPr>
                </a:tc>
                <a:tc>
                  <a:txBody>
                    <a:bodyPr lIns="95250" tIns="76200" rIns="95250" bIns="76200">
                      <a:noAutofit/>
                    </a:bodyPr>
                    <a:lstStyle/>
                    <a:p>
                      <a:pPr algn="ctr" rtl="1"/>
                      <a:r>
                        <a:rPr sz="1725" b="1" lang="fa-IR">
                          <a:solidFill>
                            <a:srgbClr val="FFFFFF"/>
                          </a:solidFill>
                          <a:latin typeface="DejaVu Sans"/>
                          <a:ea typeface="DejaVu Sans"/>
                          <a:cs typeface="DejaVu Sans"/>
                        </a:rPr>
                        <a:t>کلاینت</a:t>
                      </a:r>
                    </a:p>
                  </a:txBody>
                  <a:tcPr marL="91440" marR="91440" marT="45720" marB="45720" anchor="ctr">
                    <a:lnR w="5715">
                      <a:solidFill>
                        <a:srgbClr val="D2DAD9"/>
                      </a:solidFill>
                      <a:prstDash val="solid"/>
                    </a:lnR>
                    <a:lnT w="5715">
                      <a:solidFill>
                        <a:srgbClr val="D2DAD9"/>
                      </a:solidFill>
                      <a:prstDash val="solid"/>
                    </a:lnT>
                    <a:lnB w="5715">
                      <a:solidFill>
                        <a:srgbClr val="D2DAD9"/>
                      </a:solidFill>
                      <a:prstDash val="solid"/>
                    </a:lnB>
                    <a:solidFill>
                      <a:srgbClr val="172F3A"/>
                    </a:solidFill>
                  </a:tcPr>
                </a:tc>
                <a:tc>
                  <a:txBody>
                    <a:bodyPr lIns="95250" tIns="76200" rIns="95250" bIns="76200">
                      <a:noAutofit/>
                    </a:bodyPr>
                    <a:lstStyle/>
                    <a:p>
                      <a:pPr algn="ctr" rtl="1"/>
                      <a:r>
                        <a:rPr sz="1725" b="1" lang="fa-IR">
                          <a:solidFill>
                            <a:srgbClr val="FFFFFF"/>
                          </a:solidFill>
                          <a:latin typeface="DejaVu Sans"/>
                          <a:ea typeface="DejaVu Sans"/>
                          <a:cs typeface="DejaVu Sans"/>
                        </a:rPr>
                        <a:t>کلید (bit)</a:t>
                      </a:r>
                    </a:p>
                  </a:txBody>
                  <a:tcPr marL="91440" marR="91440" marT="45720" marB="45720" anchor="ctr">
                    <a:lnR w="5715">
                      <a:solidFill>
                        <a:srgbClr val="D2DAD9"/>
                      </a:solidFill>
                      <a:prstDash val="solid"/>
                    </a:lnR>
                    <a:lnT w="5715">
                      <a:solidFill>
                        <a:srgbClr val="D2DAD9"/>
                      </a:solidFill>
                      <a:prstDash val="solid"/>
                    </a:lnT>
                    <a:lnB w="5715">
                      <a:solidFill>
                        <a:srgbClr val="D2DAD9"/>
                      </a:solidFill>
                      <a:prstDash val="solid"/>
                    </a:lnB>
                    <a:solidFill>
                      <a:srgbClr val="172F3A"/>
                    </a:solidFill>
                  </a:tcPr>
                </a:tc>
              </a:tr>
              <a:tr h="440055">
                <a:tc>
                  <a:txBody>
                    <a:bodyPr lIns="95250" tIns="76200" rIns="95250" bIns="76200">
                      <a:noAutofit/>
                    </a:bodyPr>
                    <a:lstStyle/>
                    <a:p>
                      <a:pPr algn="ctr" rtl="0"/>
                      <a:r>
                        <a:rPr sz="1725" b="0" lang="en-US">
                          <a:solidFill>
                            <a:srgbClr val="172F3A"/>
                          </a:solidFill>
                          <a:latin typeface="DejaVu Sans"/>
                          <a:ea typeface="DejaVu Sans"/>
                          <a:cs typeface="DejaVu Sans"/>
                        </a:rPr>
                        <a:t>31.5026</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725" b="0" lang="en-US">
                          <a:solidFill>
                            <a:srgbClr val="172F3A"/>
                          </a:solidFill>
                          <a:latin typeface="DejaVu Sans"/>
                          <a:ea typeface="DejaVu Sans"/>
                          <a:cs typeface="DejaVu Sans"/>
                        </a:rPr>
                        <a:t>119.0243</a:t>
                      </a:r>
                    </a:p>
                  </a:txBody>
                  <a:tcPr marL="91440" marR="91440" marT="45720" marB="45720" anchor="ctr">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725" b="0" lang="en-US">
                          <a:solidFill>
                            <a:srgbClr val="172F3A"/>
                          </a:solidFill>
                          <a:latin typeface="DejaVu Sans"/>
                          <a:ea typeface="DejaVu Sans"/>
                          <a:cs typeface="DejaVu Sans"/>
                        </a:rPr>
                        <a:t>100</a:t>
                      </a:r>
                    </a:p>
                  </a:txBody>
                  <a:tcPr marL="91440" marR="91440" marT="45720" marB="45720" anchor="ctr">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725" b="0" lang="en-US">
                          <a:solidFill>
                            <a:srgbClr val="172F3A"/>
                          </a:solidFill>
                          <a:latin typeface="DejaVu Sans"/>
                          <a:ea typeface="DejaVu Sans"/>
                          <a:cs typeface="DejaVu Sans"/>
                        </a:rPr>
                        <a:t>256</a:t>
                      </a:r>
                    </a:p>
                  </a:txBody>
                  <a:tcPr marL="91440" marR="91440" marT="45720" marB="45720" anchor="ctr">
                    <a:lnR w="5715">
                      <a:solidFill>
                        <a:srgbClr val="D2DAD9"/>
                      </a:solidFill>
                      <a:prstDash val="solid"/>
                    </a:lnR>
                    <a:lnB w="5715">
                      <a:solidFill>
                        <a:srgbClr val="D2DAD9"/>
                      </a:solidFill>
                      <a:prstDash val="solid"/>
                    </a:lnB>
                    <a:solidFill>
                      <a:srgbClr val="F7F6F2"/>
                    </a:solidFill>
                  </a:tcPr>
                </a:tc>
              </a:tr>
              <a:tr h="440055">
                <a:tc>
                  <a:txBody>
                    <a:bodyPr lIns="95250" tIns="76200" rIns="95250" bIns="76200">
                      <a:noAutofit/>
                    </a:bodyPr>
                    <a:lstStyle/>
                    <a:p>
                      <a:pPr algn="ctr" rtl="0"/>
                      <a:r>
                        <a:rPr sz="1725" b="0" lang="en-US">
                          <a:solidFill>
                            <a:srgbClr val="172F3A"/>
                          </a:solidFill>
                          <a:latin typeface="DejaVu Sans"/>
                          <a:ea typeface="DejaVu Sans"/>
                          <a:cs typeface="DejaVu Sans"/>
                        </a:rPr>
                        <a:t>12.0490</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725" b="0" lang="en-US">
                          <a:solidFill>
                            <a:srgbClr val="172F3A"/>
                          </a:solidFill>
                          <a:latin typeface="DejaVu Sans"/>
                          <a:ea typeface="DejaVu Sans"/>
                          <a:cs typeface="DejaVu Sans"/>
                        </a:rPr>
                        <a:t>188.0846</a:t>
                      </a:r>
                    </a:p>
                  </a:txBody>
                  <a:tcPr marL="91440" marR="91440" marT="45720" marB="45720" anchor="ctr">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725" b="0" lang="en-US">
                          <a:solidFill>
                            <a:srgbClr val="172F3A"/>
                          </a:solidFill>
                          <a:latin typeface="DejaVu Sans"/>
                          <a:ea typeface="DejaVu Sans"/>
                          <a:cs typeface="DejaVu Sans"/>
                        </a:rPr>
                        <a:t>200</a:t>
                      </a:r>
                    </a:p>
                  </a:txBody>
                  <a:tcPr marL="91440" marR="91440" marT="45720" marB="45720" anchor="ctr">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725" b="0" lang="en-US">
                          <a:solidFill>
                            <a:srgbClr val="172F3A"/>
                          </a:solidFill>
                          <a:latin typeface="DejaVu Sans"/>
                          <a:ea typeface="DejaVu Sans"/>
                          <a:cs typeface="DejaVu Sans"/>
                        </a:rPr>
                        <a:t>256</a:t>
                      </a:r>
                    </a:p>
                  </a:txBody>
                  <a:tcPr marL="91440" marR="91440" marT="45720" marB="45720" anchor="ctr">
                    <a:lnR w="5715">
                      <a:solidFill>
                        <a:srgbClr val="D2DAD9"/>
                      </a:solidFill>
                      <a:prstDash val="solid"/>
                    </a:lnR>
                    <a:lnB w="5715">
                      <a:solidFill>
                        <a:srgbClr val="D2DAD9"/>
                      </a:solidFill>
                      <a:prstDash val="solid"/>
                    </a:lnB>
                    <a:solidFill>
                      <a:srgbClr val="F7F6F2"/>
                    </a:solidFill>
                  </a:tcPr>
                </a:tc>
              </a:tr>
              <a:tr h="440055">
                <a:tc>
                  <a:txBody>
                    <a:bodyPr lIns="95250" tIns="76200" rIns="95250" bIns="76200">
                      <a:noAutofit/>
                    </a:bodyPr>
                    <a:lstStyle/>
                    <a:p>
                      <a:pPr algn="ctr" rtl="0"/>
                      <a:r>
                        <a:rPr sz="1725" b="0" lang="en-US">
                          <a:solidFill>
                            <a:srgbClr val="172F3A"/>
                          </a:solidFill>
                          <a:latin typeface="DejaVu Sans"/>
                          <a:ea typeface="DejaVu Sans"/>
                          <a:cs typeface="DejaVu Sans"/>
                        </a:rPr>
                        <a:t>11.6885</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725" b="0" lang="en-US">
                          <a:solidFill>
                            <a:srgbClr val="172F3A"/>
                          </a:solidFill>
                          <a:latin typeface="DejaVu Sans"/>
                          <a:ea typeface="DejaVu Sans"/>
                          <a:cs typeface="DejaVu Sans"/>
                        </a:rPr>
                        <a:t>275.6820</a:t>
                      </a:r>
                    </a:p>
                  </a:txBody>
                  <a:tcPr marL="91440" marR="91440" marT="45720" marB="45720" anchor="ctr">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725" b="0" lang="en-US">
                          <a:solidFill>
                            <a:srgbClr val="172F3A"/>
                          </a:solidFill>
                          <a:latin typeface="DejaVu Sans"/>
                          <a:ea typeface="DejaVu Sans"/>
                          <a:cs typeface="DejaVu Sans"/>
                        </a:rPr>
                        <a:t>300</a:t>
                      </a:r>
                    </a:p>
                  </a:txBody>
                  <a:tcPr marL="91440" marR="91440" marT="45720" marB="45720" anchor="ctr">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725" b="0" lang="en-US">
                          <a:solidFill>
                            <a:srgbClr val="172F3A"/>
                          </a:solidFill>
                          <a:latin typeface="DejaVu Sans"/>
                          <a:ea typeface="DejaVu Sans"/>
                          <a:cs typeface="DejaVu Sans"/>
                        </a:rPr>
                        <a:t>256</a:t>
                      </a:r>
                    </a:p>
                  </a:txBody>
                  <a:tcPr marL="91440" marR="91440" marT="45720" marB="45720" anchor="ctr">
                    <a:lnR w="5715">
                      <a:solidFill>
                        <a:srgbClr val="D2DAD9"/>
                      </a:solidFill>
                      <a:prstDash val="solid"/>
                    </a:lnR>
                    <a:lnB w="5715">
                      <a:solidFill>
                        <a:srgbClr val="D2DAD9"/>
                      </a:solidFill>
                      <a:prstDash val="solid"/>
                    </a:lnB>
                    <a:solidFill>
                      <a:srgbClr val="F7F6F2"/>
                    </a:solidFill>
                  </a:tcPr>
                </a:tc>
              </a:tr>
              <a:tr h="440055">
                <a:tc>
                  <a:txBody>
                    <a:bodyPr lIns="95250" tIns="76200" rIns="95250" bIns="76200">
                      <a:noAutofit/>
                    </a:bodyPr>
                    <a:lstStyle/>
                    <a:p>
                      <a:pPr algn="ctr" rtl="0"/>
                      <a:r>
                        <a:rPr sz="1725" b="0" lang="en-US">
                          <a:solidFill>
                            <a:srgbClr val="172F3A"/>
                          </a:solidFill>
                          <a:latin typeface="DejaVu Sans"/>
                          <a:ea typeface="DejaVu Sans"/>
                          <a:cs typeface="DejaVu Sans"/>
                        </a:rPr>
                        <a:t>30.1520</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725" b="0" lang="en-US">
                          <a:solidFill>
                            <a:srgbClr val="172F3A"/>
                          </a:solidFill>
                          <a:latin typeface="DejaVu Sans"/>
                          <a:ea typeface="DejaVu Sans"/>
                          <a:cs typeface="DejaVu Sans"/>
                        </a:rPr>
                        <a:t>152.4137</a:t>
                      </a:r>
                    </a:p>
                  </a:txBody>
                  <a:tcPr marL="91440" marR="91440" marT="45720" marB="45720" anchor="ctr">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725" b="0" lang="en-US">
                          <a:solidFill>
                            <a:srgbClr val="172F3A"/>
                          </a:solidFill>
                          <a:latin typeface="DejaVu Sans"/>
                          <a:ea typeface="DejaVu Sans"/>
                          <a:cs typeface="DejaVu Sans"/>
                        </a:rPr>
                        <a:t>100</a:t>
                      </a:r>
                    </a:p>
                  </a:txBody>
                  <a:tcPr marL="91440" marR="91440" marT="45720" marB="45720" anchor="ctr">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725" b="0" lang="en-US">
                          <a:solidFill>
                            <a:srgbClr val="172F3A"/>
                          </a:solidFill>
                          <a:latin typeface="DejaVu Sans"/>
                          <a:ea typeface="DejaVu Sans"/>
                          <a:cs typeface="DejaVu Sans"/>
                        </a:rPr>
                        <a:t>512</a:t>
                      </a:r>
                    </a:p>
                  </a:txBody>
                  <a:tcPr marL="91440" marR="91440" marT="45720" marB="45720" anchor="ctr">
                    <a:lnR w="5715">
                      <a:solidFill>
                        <a:srgbClr val="D2DAD9"/>
                      </a:solidFill>
                      <a:prstDash val="solid"/>
                    </a:lnR>
                    <a:lnB w="5715">
                      <a:solidFill>
                        <a:srgbClr val="D2DAD9"/>
                      </a:solidFill>
                      <a:prstDash val="solid"/>
                    </a:lnB>
                    <a:solidFill>
                      <a:srgbClr val="F7F6F2"/>
                    </a:solidFill>
                  </a:tcPr>
                </a:tc>
              </a:tr>
              <a:tr h="440055">
                <a:tc>
                  <a:txBody>
                    <a:bodyPr lIns="95250" tIns="76200" rIns="95250" bIns="76200">
                      <a:noAutofit/>
                    </a:bodyPr>
                    <a:lstStyle/>
                    <a:p>
                      <a:pPr algn="ctr" rtl="0"/>
                      <a:r>
                        <a:rPr sz="1725" b="0" lang="en-US">
                          <a:solidFill>
                            <a:srgbClr val="172F3A"/>
                          </a:solidFill>
                          <a:latin typeface="DejaVu Sans"/>
                          <a:ea typeface="DejaVu Sans"/>
                          <a:cs typeface="DejaVu Sans"/>
                        </a:rPr>
                        <a:t>17.3668</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725" b="0" lang="en-US">
                          <a:solidFill>
                            <a:srgbClr val="172F3A"/>
                          </a:solidFill>
                          <a:latin typeface="DejaVu Sans"/>
                          <a:ea typeface="DejaVu Sans"/>
                          <a:cs typeface="DejaVu Sans"/>
                        </a:rPr>
                        <a:t>242.6216</a:t>
                      </a:r>
                    </a:p>
                  </a:txBody>
                  <a:tcPr marL="91440" marR="91440" marT="45720" marB="45720" anchor="ctr">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725" b="0" lang="en-US">
                          <a:solidFill>
                            <a:srgbClr val="172F3A"/>
                          </a:solidFill>
                          <a:latin typeface="DejaVu Sans"/>
                          <a:ea typeface="DejaVu Sans"/>
                          <a:cs typeface="DejaVu Sans"/>
                        </a:rPr>
                        <a:t>200</a:t>
                      </a:r>
                    </a:p>
                  </a:txBody>
                  <a:tcPr marL="91440" marR="91440" marT="45720" marB="45720" anchor="ctr">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725" b="0" lang="en-US">
                          <a:solidFill>
                            <a:srgbClr val="172F3A"/>
                          </a:solidFill>
                          <a:latin typeface="DejaVu Sans"/>
                          <a:ea typeface="DejaVu Sans"/>
                          <a:cs typeface="DejaVu Sans"/>
                        </a:rPr>
                        <a:t>512</a:t>
                      </a:r>
                    </a:p>
                  </a:txBody>
                  <a:tcPr marL="91440" marR="91440" marT="45720" marB="45720" anchor="ctr">
                    <a:lnR w="5715">
                      <a:solidFill>
                        <a:srgbClr val="D2DAD9"/>
                      </a:solidFill>
                      <a:prstDash val="solid"/>
                    </a:lnR>
                    <a:lnB w="5715">
                      <a:solidFill>
                        <a:srgbClr val="D2DAD9"/>
                      </a:solidFill>
                      <a:prstDash val="solid"/>
                    </a:lnB>
                    <a:solidFill>
                      <a:srgbClr val="F7F6F2"/>
                    </a:solidFill>
                  </a:tcPr>
                </a:tc>
              </a:tr>
              <a:tr h="440055">
                <a:tc>
                  <a:txBody>
                    <a:bodyPr lIns="95250" tIns="76200" rIns="95250" bIns="76200">
                      <a:noAutofit/>
                    </a:bodyPr>
                    <a:lstStyle/>
                    <a:p>
                      <a:pPr algn="ctr" rtl="0"/>
                      <a:r>
                        <a:rPr sz="1725" b="0" lang="en-US">
                          <a:solidFill>
                            <a:srgbClr val="172F3A"/>
                          </a:solidFill>
                          <a:latin typeface="DejaVu Sans"/>
                          <a:ea typeface="DejaVu Sans"/>
                          <a:cs typeface="DejaVu Sans"/>
                        </a:rPr>
                        <a:t>20.4376</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725" b="0" lang="en-US">
                          <a:solidFill>
                            <a:srgbClr val="172F3A"/>
                          </a:solidFill>
                          <a:latin typeface="DejaVu Sans"/>
                          <a:ea typeface="DejaVu Sans"/>
                          <a:cs typeface="DejaVu Sans"/>
                        </a:rPr>
                        <a:t>338.7937</a:t>
                      </a:r>
                    </a:p>
                  </a:txBody>
                  <a:tcPr marL="91440" marR="91440" marT="45720" marB="45720" anchor="ctr">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725" b="0" lang="en-US">
                          <a:solidFill>
                            <a:srgbClr val="172F3A"/>
                          </a:solidFill>
                          <a:latin typeface="DejaVu Sans"/>
                          <a:ea typeface="DejaVu Sans"/>
                          <a:cs typeface="DejaVu Sans"/>
                        </a:rPr>
                        <a:t>300</a:t>
                      </a:r>
                    </a:p>
                  </a:txBody>
                  <a:tcPr marL="91440" marR="91440" marT="45720" marB="45720" anchor="ctr">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725" b="0" lang="en-US">
                          <a:solidFill>
                            <a:srgbClr val="172F3A"/>
                          </a:solidFill>
                          <a:latin typeface="DejaVu Sans"/>
                          <a:ea typeface="DejaVu Sans"/>
                          <a:cs typeface="DejaVu Sans"/>
                        </a:rPr>
                        <a:t>512</a:t>
                      </a:r>
                    </a:p>
                  </a:txBody>
                  <a:tcPr marL="91440" marR="91440" marT="45720" marB="45720" anchor="ctr">
                    <a:lnR w="5715">
                      <a:solidFill>
                        <a:srgbClr val="D2DAD9"/>
                      </a:solidFill>
                      <a:prstDash val="solid"/>
                    </a:lnR>
                    <a:lnB w="5715">
                      <a:solidFill>
                        <a:srgbClr val="D2DAD9"/>
                      </a:solidFill>
                      <a:prstDash val="solid"/>
                    </a:lnB>
                    <a:solidFill>
                      <a:srgbClr val="F7F6F2"/>
                    </a:solidFill>
                  </a:tcPr>
                </a:tc>
              </a:tr>
              <a:tr h="440055">
                <a:tc>
                  <a:txBody>
                    <a:bodyPr lIns="95250" tIns="76200" rIns="95250" bIns="76200">
                      <a:noAutofit/>
                    </a:bodyPr>
                    <a:lstStyle/>
                    <a:p>
                      <a:pPr algn="ctr" rtl="0"/>
                      <a:r>
                        <a:rPr sz="1725" b="0" lang="en-US">
                          <a:solidFill>
                            <a:srgbClr val="172F3A"/>
                          </a:solidFill>
                          <a:latin typeface="DejaVu Sans"/>
                          <a:ea typeface="DejaVu Sans"/>
                          <a:cs typeface="DejaVu Sans"/>
                        </a:rPr>
                        <a:t>101.8251</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725" b="0" lang="en-US">
                          <a:solidFill>
                            <a:srgbClr val="172F3A"/>
                          </a:solidFill>
                          <a:latin typeface="DejaVu Sans"/>
                          <a:ea typeface="DejaVu Sans"/>
                          <a:cs typeface="DejaVu Sans"/>
                        </a:rPr>
                        <a:t>411.2403</a:t>
                      </a:r>
                    </a:p>
                  </a:txBody>
                  <a:tcPr marL="91440" marR="91440" marT="45720" marB="45720" anchor="ctr">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725" b="0" lang="en-US">
                          <a:solidFill>
                            <a:srgbClr val="172F3A"/>
                          </a:solidFill>
                          <a:latin typeface="DejaVu Sans"/>
                          <a:ea typeface="DejaVu Sans"/>
                          <a:cs typeface="DejaVu Sans"/>
                        </a:rPr>
                        <a:t>100</a:t>
                      </a:r>
                    </a:p>
                  </a:txBody>
                  <a:tcPr marL="91440" marR="91440" marT="45720" marB="45720" anchor="ctr">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725" b="0" lang="en-US">
                          <a:solidFill>
                            <a:srgbClr val="172F3A"/>
                          </a:solidFill>
                          <a:latin typeface="DejaVu Sans"/>
                          <a:ea typeface="DejaVu Sans"/>
                          <a:cs typeface="DejaVu Sans"/>
                        </a:rPr>
                        <a:t>1024</a:t>
                      </a:r>
                    </a:p>
                  </a:txBody>
                  <a:tcPr marL="91440" marR="91440" marT="45720" marB="45720" anchor="ctr">
                    <a:lnR w="5715">
                      <a:solidFill>
                        <a:srgbClr val="D2DAD9"/>
                      </a:solidFill>
                      <a:prstDash val="solid"/>
                    </a:lnR>
                    <a:lnB w="5715">
                      <a:solidFill>
                        <a:srgbClr val="D2DAD9"/>
                      </a:solidFill>
                      <a:prstDash val="solid"/>
                    </a:lnB>
                    <a:solidFill>
                      <a:srgbClr val="F7F6F2"/>
                    </a:solidFill>
                  </a:tcPr>
                </a:tc>
              </a:tr>
              <a:tr h="440055">
                <a:tc>
                  <a:txBody>
                    <a:bodyPr lIns="95250" tIns="76200" rIns="95250" bIns="76200">
                      <a:noAutofit/>
                    </a:bodyPr>
                    <a:lstStyle/>
                    <a:p>
                      <a:pPr algn="ctr" rtl="0"/>
                      <a:r>
                        <a:rPr sz="1725" b="0" lang="en-US">
                          <a:solidFill>
                            <a:srgbClr val="172F3A"/>
                          </a:solidFill>
                          <a:latin typeface="DejaVu Sans"/>
                          <a:ea typeface="DejaVu Sans"/>
                          <a:cs typeface="DejaVu Sans"/>
                        </a:rPr>
                        <a:t>85.5255</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725" b="0" lang="en-US">
                          <a:solidFill>
                            <a:srgbClr val="172F3A"/>
                          </a:solidFill>
                          <a:latin typeface="DejaVu Sans"/>
                          <a:ea typeface="DejaVu Sans"/>
                          <a:cs typeface="DejaVu Sans"/>
                        </a:rPr>
                        <a:t>521.9208</a:t>
                      </a:r>
                    </a:p>
                  </a:txBody>
                  <a:tcPr marL="91440" marR="91440" marT="45720" marB="45720" anchor="ctr">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725" b="0" lang="en-US">
                          <a:solidFill>
                            <a:srgbClr val="172F3A"/>
                          </a:solidFill>
                          <a:latin typeface="DejaVu Sans"/>
                          <a:ea typeface="DejaVu Sans"/>
                          <a:cs typeface="DejaVu Sans"/>
                        </a:rPr>
                        <a:t>200</a:t>
                      </a:r>
                    </a:p>
                  </a:txBody>
                  <a:tcPr marL="91440" marR="91440" marT="45720" marB="45720" anchor="ctr">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725" b="0" lang="en-US">
                          <a:solidFill>
                            <a:srgbClr val="172F3A"/>
                          </a:solidFill>
                          <a:latin typeface="DejaVu Sans"/>
                          <a:ea typeface="DejaVu Sans"/>
                          <a:cs typeface="DejaVu Sans"/>
                        </a:rPr>
                        <a:t>1024</a:t>
                      </a:r>
                    </a:p>
                  </a:txBody>
                  <a:tcPr marL="91440" marR="91440" marT="45720" marB="45720" anchor="ctr">
                    <a:lnR w="5715">
                      <a:solidFill>
                        <a:srgbClr val="D2DAD9"/>
                      </a:solidFill>
                      <a:prstDash val="solid"/>
                    </a:lnR>
                    <a:lnB w="5715">
                      <a:solidFill>
                        <a:srgbClr val="D2DAD9"/>
                      </a:solidFill>
                      <a:prstDash val="solid"/>
                    </a:lnB>
                    <a:solidFill>
                      <a:srgbClr val="F7F6F2"/>
                    </a:solidFill>
                  </a:tcPr>
                </a:tc>
              </a:tr>
              <a:tr h="440055">
                <a:tc>
                  <a:txBody>
                    <a:bodyPr lIns="95250" tIns="76200" rIns="95250" bIns="76200">
                      <a:noAutofit/>
                    </a:bodyPr>
                    <a:lstStyle/>
                    <a:p>
                      <a:pPr algn="ctr" rtl="0"/>
                      <a:r>
                        <a:rPr sz="1725" b="0" lang="en-US">
                          <a:solidFill>
                            <a:srgbClr val="172F3A"/>
                          </a:solidFill>
                          <a:latin typeface="DejaVu Sans"/>
                          <a:ea typeface="DejaVu Sans"/>
                          <a:cs typeface="DejaVu Sans"/>
                        </a:rPr>
                        <a:t>135.7782</a:t>
                      </a:r>
                    </a:p>
                  </a:txBody>
                  <a:tcPr marL="91440" marR="91440" marT="45720" marB="45720" anchor="ctr">
                    <a:lnL w="5715">
                      <a:solidFill>
                        <a:srgbClr val="D2DAD9"/>
                      </a:solidFill>
                      <a:prstDash val="solid"/>
                    </a:lnL>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725" b="0" lang="en-US">
                          <a:solidFill>
                            <a:srgbClr val="172F3A"/>
                          </a:solidFill>
                          <a:latin typeface="DejaVu Sans"/>
                          <a:ea typeface="DejaVu Sans"/>
                          <a:cs typeface="DejaVu Sans"/>
                        </a:rPr>
                        <a:t>723.1441</a:t>
                      </a:r>
                    </a:p>
                  </a:txBody>
                  <a:tcPr marL="91440" marR="91440" marT="45720" marB="45720" anchor="ctr">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725" b="0" lang="en-US">
                          <a:solidFill>
                            <a:srgbClr val="172F3A"/>
                          </a:solidFill>
                          <a:latin typeface="DejaVu Sans"/>
                          <a:ea typeface="DejaVu Sans"/>
                          <a:cs typeface="DejaVu Sans"/>
                        </a:rPr>
                        <a:t>300</a:t>
                      </a:r>
                    </a:p>
                  </a:txBody>
                  <a:tcPr marL="91440" marR="91440" marT="45720" marB="45720" anchor="ctr">
                    <a:lnR w="5715">
                      <a:solidFill>
                        <a:srgbClr val="D2DAD9"/>
                      </a:solidFill>
                      <a:prstDash val="solid"/>
                    </a:lnR>
                    <a:lnB w="5715">
                      <a:solidFill>
                        <a:srgbClr val="D2DAD9"/>
                      </a:solidFill>
                      <a:prstDash val="solid"/>
                    </a:lnB>
                    <a:solidFill>
                      <a:srgbClr val="F7F6F2"/>
                    </a:solidFill>
                  </a:tcPr>
                </a:tc>
                <a:tc>
                  <a:txBody>
                    <a:bodyPr lIns="95250" tIns="76200" rIns="95250" bIns="76200">
                      <a:noAutofit/>
                    </a:bodyPr>
                    <a:lstStyle/>
                    <a:p>
                      <a:pPr algn="ctr" rtl="0"/>
                      <a:r>
                        <a:rPr sz="1725" b="0" lang="en-US">
                          <a:solidFill>
                            <a:srgbClr val="172F3A"/>
                          </a:solidFill>
                          <a:latin typeface="DejaVu Sans"/>
                          <a:ea typeface="DejaVu Sans"/>
                          <a:cs typeface="DejaVu Sans"/>
                        </a:rPr>
                        <a:t>1024</a:t>
                      </a:r>
                    </a:p>
                  </a:txBody>
                  <a:tcPr marL="91440" marR="91440" marT="45720" marB="45720" anchor="ctr">
                    <a:lnR w="5715">
                      <a:solidFill>
                        <a:srgbClr val="D2DAD9"/>
                      </a:solidFill>
                      <a:prstDash val="solid"/>
                    </a:lnR>
                    <a:lnB w="5715">
                      <a:solidFill>
                        <a:srgbClr val="D2DAD9"/>
                      </a:solidFill>
                      <a:prstDash val="solid"/>
                    </a:lnB>
                    <a:solidFill>
                      <a:srgbClr val="F7F6F2"/>
                    </a:solidFill>
                  </a:tcPr>
                </a:tc>
              </a:tr>
            </a:tbl>
          </a:graphicData>
        </a:graphic>
      </p:graphicFrame>
    </p:spTree>
    <p:extLst>
      <p:ext uri="{BB962C8B-B14F-4D97-AF65-F5344CB8AC3E}">
        <p14:creationId xmlns:p14="http://schemas.microsoft.com/office/powerpoint/2010/main" val="1457028814"/>
      </p:ext>
    </p:extLst>
  </p:cSld>
</p:sld>
</file>

<file path=ppt/slides/slide22.xml><?xml version="1.0" encoding="utf-8"?>
<p:sld xmlns:p="http://schemas.openxmlformats.org/presentationml/2006/main" show="0">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rtl_headline">
            <a:extLst xmlns:a="http://schemas.openxmlformats.org/drawingml/2006/main">
              <a:ext uri="{FF2B5EF4-FFF2-40B4-BE49-F238E27FC236}">
                <a16:creationId xmlns:a16="http://schemas.microsoft.com/office/drawing/2014/main" id="{000CE061-772D-44F4-9DBB-C679D80F93A2}"/>
              </a:ext>
            </a:extLst>
          </p:cNvPr>
          <p:cNvSpPr>
            <a:spLocks xmlns:a="http://schemas.openxmlformats.org/drawingml/2006/main" noGrp="1"/>
          </p:cNvSpPr>
          <p:nvPr/>
        </p:nvSpPr>
        <p:spPr>
          <a:xfrm xmlns:a="http://schemas.openxmlformats.org/drawingml/2006/main">
            <a:off x="609600" y="4191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300" b="1">
                <a:solidFill>
                  <a:srgbClr val="172F3A"/>
                </a:solidFill>
                <a:latin typeface="DejaVu Sans"/>
                <a:ea typeface="DejaVu Sans"/>
                <a:cs typeface="DejaVu Sans"/>
              </a:defRPr>
            </a:defPPr>
          </a:lstStyle>
          <a:p xmlns:a="http://schemas.openxmlformats.org/drawingml/2006/main">
            <a:pPr algn="r" rtl="1">
              <a:defRPr sz="3300" b="1">
                <a:solidFill>
                  <a:srgbClr val="172F3A"/>
                </a:solidFill>
                <a:latin typeface="DejaVu Sans"/>
                <a:ea typeface="DejaVu Sans"/>
                <a:cs typeface="DejaVu Sans"/>
              </a:defRPr>
            </a:pPr>
            <a:r>
              <a:rPr sz="3300" b="1" lang="fa-IR">
                <a:solidFill>
                  <a:srgbClr val="172F3A"/>
                </a:solidFill>
                <a:latin typeface="DejaVu Sans"/>
                <a:ea typeface="DejaVu Sans"/>
                <a:cs typeface="DejaVu Sans"/>
              </a:rPr>
              <a:t>طرح‌واره کامل SBHE-Benaloh</a:t>
            </a:r>
          </a:p>
        </p:txBody>
      </p:sp>
      <p:sp>
        <p:nvSpPr>
          <p:cNvPr id="2" name="ltr_page">
            <a:extLst xmlns:a="http://schemas.openxmlformats.org/drawingml/2006/main">
              <a:ext uri="{FF2B5EF4-FFF2-40B4-BE49-F238E27FC236}">
                <a16:creationId xmlns:a16="http://schemas.microsoft.com/office/drawing/2014/main" id="{956FF4D5-6313-4AF3-B40F-4B3B3685B812}"/>
              </a:ext>
            </a:extLst>
          </p:cNvPr>
          <p:cNvSpPr>
            <a:spLocks xmlns:a="http://schemas.openxmlformats.org/drawingml/2006/main" noGrp="1"/>
          </p:cNvSpPr>
          <p:nvPr/>
        </p:nvSpPr>
        <p:spPr>
          <a:xfrm xmlns:a="http://schemas.openxmlformats.org/drawingml/2006/main">
            <a:off x="609600" y="63436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46973"/>
                </a:solidFill>
                <a:latin typeface="DejaVu Sans"/>
                <a:ea typeface="DejaVu Sans"/>
                <a:cs typeface="DejaVu Sans"/>
              </a:defRPr>
            </a:defPPr>
          </a:lstStyle>
          <a:p xmlns:a="http://schemas.openxmlformats.org/drawingml/2006/main">
            <a:pPr algn="l" rtl="0">
              <a:defRPr sz="1350" b="0">
                <a:solidFill>
                  <a:srgbClr val="546973"/>
                </a:solidFill>
                <a:latin typeface="DejaVu Sans"/>
                <a:ea typeface="DejaVu Sans"/>
                <a:cs typeface="DejaVu Sans"/>
              </a:defRPr>
            </a:pPr>
            <a:r>
              <a:rPr sz="1350" b="0" lang="en-US">
                <a:solidFill>
                  <a:srgbClr val="546973"/>
                </a:solidFill>
                <a:latin typeface="DejaVu Sans"/>
                <a:ea typeface="DejaVu Sans"/>
                <a:cs typeface="DejaVu Sans"/>
              </a:rPr>
              <a:t>22</a:t>
            </a:r>
          </a:p>
        </p:txBody>
      </p:sp>
      <p:sp>
        <p:nvSpPr>
          <p:cNvPr id="3" name="rtl_text_2">
            <a:extLst xmlns:a="http://schemas.openxmlformats.org/drawingml/2006/main">
              <a:ext uri="{FF2B5EF4-FFF2-40B4-BE49-F238E27FC236}">
                <a16:creationId xmlns:a16="http://schemas.microsoft.com/office/drawing/2014/main" id="{B5B32575-7AA7-4FCD-AEA3-BD20E09E6437}"/>
              </a:ext>
            </a:extLst>
          </p:cNvPr>
          <p:cNvSpPr>
            <a:spLocks xmlns:a="http://schemas.openxmlformats.org/drawingml/2006/main" noGrp="1"/>
          </p:cNvSpPr>
          <p:nvPr/>
        </p:nvSpPr>
        <p:spPr>
          <a:xfrm xmlns:a="http://schemas.openxmlformats.org/drawingml/2006/main">
            <a:off x="8953500" y="6343650"/>
            <a:ext cx="2628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46973"/>
                </a:solidFill>
                <a:latin typeface="DejaVu Sans"/>
                <a:ea typeface="DejaVu Sans"/>
                <a:cs typeface="DejaVu Sans"/>
              </a:defRPr>
            </a:defPPr>
          </a:lstStyle>
          <a:p xmlns:a="http://schemas.openxmlformats.org/drawingml/2006/main">
            <a:pPr algn="r" rtl="1">
              <a:defRPr sz="1350" b="0">
                <a:solidFill>
                  <a:srgbClr val="546973"/>
                </a:solidFill>
                <a:latin typeface="DejaVu Sans"/>
                <a:ea typeface="DejaVu Sans"/>
                <a:cs typeface="DejaVu Sans"/>
              </a:defRPr>
            </a:pPr>
            <a:r>
              <a:rPr sz="1350" b="0" lang="fa-IR">
                <a:solidFill>
                  <a:srgbClr val="546973"/>
                </a:solidFill>
                <a:latin typeface="DejaVu Sans"/>
                <a:ea typeface="DejaVu Sans"/>
                <a:cs typeface="DejaVu Sans"/>
              </a:rPr>
              <a:t>اسلاید پشتیبان</a:t>
            </a:r>
          </a:p>
        </p:txBody>
      </p:sp>
      <p:pic>
        <p:nvPicPr>
          <p:cNvPr id="4" name="">
            <a:extLst xmlns:a="http://schemas.openxmlformats.org/drawingml/2006/main">
              <a:ext uri="{FF2B5EF4-FFF2-40B4-BE49-F238E27FC236}">
                <a16:creationId xmlns:a16="http://schemas.microsoft.com/office/drawing/2014/main" id="{B10BAC05-9673-4CAB-B6A6-6E940C87866E}"/>
              </a:ext>
            </a:extLst>
          </p:cNvPr>
          <p:cNvPicPr>
            <a:picLocks xmlns:a="http://schemas.openxmlformats.org/drawingml/2006/main" noChangeAspect="1"/>
          </p:cNvPicPr>
          <p:nvPr/>
        </p:nvPicPr>
        <p:blipFill>
          <a:blip xmlns:r="http://schemas.openxmlformats.org/officeDocument/2006/relationships" xmlns:a="http://schemas.openxmlformats.org/drawingml/2006/main" r:embed="Ref1c831231a148a7"/>
          <a:stretch xmlns:a="http://schemas.openxmlformats.org/drawingml/2006/main"/>
        </p:blipFill>
        <p:spPr>
          <a:xfrm xmlns:a="http://schemas.openxmlformats.org/drawingml/2006/main">
            <a:off x="2559844" y="1476375"/>
            <a:ext cx="7072313" cy="4714875"/>
          </a:xfrm>
          <a:prstGeom xmlns:a="http://schemas.openxmlformats.org/drawingml/2006/main" prst="rect">
            <a:avLst/>
          </a:prstGeom>
        </p:spPr>
      </p:pic>
    </p:spTree>
    <p:extLst>
      <p:ext uri="{BB962C8B-B14F-4D97-AF65-F5344CB8AC3E}">
        <p14:creationId xmlns:p14="http://schemas.microsoft.com/office/powerpoint/2010/main" val="20550568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2026-10-14T19:54:27.8450000Z</dcterms:created>
  <dcterms:modified xsi:type="dcterms:W3CDTF">2026-10-14T19:54:27.8450000Z</dcterms:modified>
</coreProperties>
</file>